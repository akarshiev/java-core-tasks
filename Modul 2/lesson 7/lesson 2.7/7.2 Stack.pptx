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576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DD9AB7B-7E5F-436D-8D32-7760FA44E835}">
  <a:tblStyle styleId="{BDD9AB7B-7E5F-436D-8D32-7760FA44E83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562" y="86"/>
      </p:cViewPr>
      <p:guideLst>
        <p:guide orient="horz" pos="1620"/>
        <p:guide pos="2880"/>
        <p:guide orient="horz" pos="57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7c29303f96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7c29303f96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3936dd8a54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3936dd8a54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63eb02e65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63eb02e65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7c29303f96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7c29303f96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7c29303f96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7c29303f96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7c29303f96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7c29303f96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7c29303f9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7c29303f9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0" y="0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28875" y="2191650"/>
            <a:ext cx="8731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600" b="1">
                <a:solidFill>
                  <a:schemeClr val="dk1"/>
                </a:solidFill>
              </a:rPr>
              <a:t>Stack Memory</a:t>
            </a:r>
            <a:endParaRPr sz="2600"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38700" y="391850"/>
            <a:ext cx="8466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/>
              <a:t>JVM Memory Structure</a:t>
            </a:r>
            <a:endParaRPr sz="2000" b="1"/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" name="Google Shape;62;p14"/>
          <p:cNvGrpSpPr/>
          <p:nvPr/>
        </p:nvGrpSpPr>
        <p:grpSpPr>
          <a:xfrm>
            <a:off x="1003675" y="1151125"/>
            <a:ext cx="7009500" cy="2835300"/>
            <a:chOff x="1003675" y="1455925"/>
            <a:chExt cx="7009500" cy="2835300"/>
          </a:xfrm>
        </p:grpSpPr>
        <p:sp>
          <p:nvSpPr>
            <p:cNvPr id="63" name="Google Shape;63;p14"/>
            <p:cNvSpPr/>
            <p:nvPr/>
          </p:nvSpPr>
          <p:spPr>
            <a:xfrm>
              <a:off x="1003675" y="1455925"/>
              <a:ext cx="7009500" cy="2835300"/>
            </a:xfrm>
            <a:prstGeom prst="rect">
              <a:avLst/>
            </a:prstGeom>
            <a:solidFill>
              <a:srgbClr val="9FC5E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4" name="Google Shape;64;p14"/>
            <p:cNvGrpSpPr/>
            <p:nvPr/>
          </p:nvGrpSpPr>
          <p:grpSpPr>
            <a:xfrm>
              <a:off x="1132675" y="1596475"/>
              <a:ext cx="6751500" cy="2199600"/>
              <a:chOff x="1604375" y="1588250"/>
              <a:chExt cx="6751500" cy="2199600"/>
            </a:xfrm>
          </p:grpSpPr>
          <p:sp>
            <p:nvSpPr>
              <p:cNvPr id="65" name="Google Shape;65;p14"/>
              <p:cNvSpPr/>
              <p:nvPr/>
            </p:nvSpPr>
            <p:spPr>
              <a:xfrm>
                <a:off x="1604375" y="1588250"/>
                <a:ext cx="1265100" cy="2199600"/>
              </a:xfrm>
              <a:prstGeom prst="rect">
                <a:avLst/>
              </a:prstGeom>
              <a:solidFill>
                <a:srgbClr val="38761D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lt1"/>
                    </a:solidFill>
                  </a:rPr>
                  <a:t>Heap</a:t>
                </a: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66" name="Google Shape;66;p14"/>
              <p:cNvSpPr/>
              <p:nvPr/>
            </p:nvSpPr>
            <p:spPr>
              <a:xfrm>
                <a:off x="2975975" y="1588250"/>
                <a:ext cx="1265100" cy="2199600"/>
              </a:xfrm>
              <a:prstGeom prst="rect">
                <a:avLst/>
              </a:prstGeom>
              <a:solidFill>
                <a:srgbClr val="674EA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lt1"/>
                    </a:solidFill>
                  </a:rPr>
                  <a:t>Method Area</a:t>
                </a: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67" name="Google Shape;67;p14"/>
              <p:cNvSpPr/>
              <p:nvPr/>
            </p:nvSpPr>
            <p:spPr>
              <a:xfrm>
                <a:off x="4347575" y="1588250"/>
                <a:ext cx="1265100" cy="2199600"/>
              </a:xfrm>
              <a:prstGeom prst="rect">
                <a:avLst/>
              </a:prstGeom>
              <a:solidFill>
                <a:srgbClr val="BF90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lt1"/>
                    </a:solidFill>
                  </a:rPr>
                  <a:t>Stack</a:t>
                </a: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68" name="Google Shape;68;p14"/>
              <p:cNvSpPr/>
              <p:nvPr/>
            </p:nvSpPr>
            <p:spPr>
              <a:xfrm>
                <a:off x="5719175" y="1588250"/>
                <a:ext cx="1265100" cy="2199600"/>
              </a:xfrm>
              <a:prstGeom prst="rect">
                <a:avLst/>
              </a:prstGeom>
              <a:solidFill>
                <a:srgbClr val="9900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lt1"/>
                    </a:solidFill>
                  </a:rPr>
                  <a:t>Native method</a:t>
                </a:r>
                <a:endParaRPr>
                  <a:solidFill>
                    <a:schemeClr val="lt1"/>
                  </a:solidFill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lt1"/>
                    </a:solidFill>
                  </a:rPr>
                  <a:t>Area</a:t>
                </a: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69" name="Google Shape;69;p14"/>
              <p:cNvSpPr/>
              <p:nvPr/>
            </p:nvSpPr>
            <p:spPr>
              <a:xfrm>
                <a:off x="7090775" y="1588250"/>
                <a:ext cx="1265100" cy="2199600"/>
              </a:xfrm>
              <a:prstGeom prst="rect">
                <a:avLst/>
              </a:prstGeom>
              <a:solidFill>
                <a:srgbClr val="1155CC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lt1"/>
                    </a:solidFill>
                  </a:rPr>
                  <a:t>PC Registers</a:t>
                </a:r>
                <a:endParaRPr>
                  <a:solidFill>
                    <a:schemeClr val="lt1"/>
                  </a:solidFill>
                </a:endParaRPr>
              </a:p>
            </p:txBody>
          </p:sp>
        </p:grpSp>
      </p:grpSp>
      <p:sp>
        <p:nvSpPr>
          <p:cNvPr id="70" name="Google Shape;70;p14"/>
          <p:cNvSpPr txBox="1"/>
          <p:nvPr/>
        </p:nvSpPr>
        <p:spPr>
          <a:xfrm>
            <a:off x="335250" y="4656875"/>
            <a:ext cx="8473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990000"/>
                </a:solidFill>
              </a:rPr>
              <a:t>Note:</a:t>
            </a:r>
            <a:r>
              <a:rPr lang="en" sz="1200">
                <a:solidFill>
                  <a:srgbClr val="990000"/>
                </a:solidFill>
              </a:rPr>
              <a:t> The heap area is one of the most important memory areas of JVM. All the java objects are stored in heap area.</a:t>
            </a:r>
            <a:endParaRPr sz="1200">
              <a:solidFill>
                <a:srgbClr val="990000"/>
              </a:solidFill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2835775" y="3510025"/>
            <a:ext cx="3345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JVM memory parts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/>
        </p:nvSpPr>
        <p:spPr>
          <a:xfrm>
            <a:off x="302725" y="306125"/>
            <a:ext cx="8565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/>
              <a:t>Stack and Stack Frame</a:t>
            </a:r>
            <a:endParaRPr sz="2200" b="1"/>
          </a:p>
        </p:txBody>
      </p:sp>
      <p:pic>
        <p:nvPicPr>
          <p:cNvPr id="77" name="Google Shape;77;p15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/>
        </p:nvSpPr>
        <p:spPr>
          <a:xfrm>
            <a:off x="756400" y="1118125"/>
            <a:ext cx="47856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Java stack is composed of stack frames (or frames). A stack frame contains the state of one Java method invocation. When a thread invokes a method, the Java virtual machine pushes a new frame onto that thread's Java stack. When the method completes, the virtual machine pops and discards the frame for that method</a:t>
            </a: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79" name="Google Shape;79;p15"/>
          <p:cNvGraphicFramePr/>
          <p:nvPr/>
        </p:nvGraphicFramePr>
        <p:xfrm>
          <a:off x="5874550" y="1265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{BDD9AB7B-7E5F-436D-8D32-7760FA44E835}</a:tableStyleId>
              </a:tblPr>
              <a:tblGrid>
                <a:gridCol w="2245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311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Stack Frame </a:t>
                      </a:r>
                      <a:r>
                        <a:rPr lang="en" b="1" baseline="-25000">
                          <a:solidFill>
                            <a:schemeClr val="dk1"/>
                          </a:solidFill>
                        </a:rPr>
                        <a:t>n</a:t>
                      </a:r>
                      <a:endParaRPr b="1" baseline="-25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1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Stack Frame </a:t>
                      </a:r>
                      <a:r>
                        <a:rPr lang="en" b="1" baseline="-25000">
                          <a:solidFill>
                            <a:schemeClr val="dk1"/>
                          </a:solidFill>
                        </a:rPr>
                        <a:t>n-1</a:t>
                      </a:r>
                      <a:endParaRPr b="1" baseline="-25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1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……….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1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Stack Frame </a:t>
                      </a:r>
                      <a:r>
                        <a:rPr lang="en" b="1" baseline="-25000">
                          <a:solidFill>
                            <a:schemeClr val="dk1"/>
                          </a:solidFill>
                        </a:rPr>
                        <a:t>2</a:t>
                      </a:r>
                      <a:endParaRPr b="1" baseline="-25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1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Stack Frame </a:t>
                      </a:r>
                      <a:r>
                        <a:rPr lang="en" b="1" baseline="-25000"/>
                        <a:t>1</a:t>
                      </a:r>
                      <a:endParaRPr b="1" baseline="-250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0" name="Google Shape;80;p15"/>
          <p:cNvSpPr txBox="1"/>
          <p:nvPr/>
        </p:nvSpPr>
        <p:spPr>
          <a:xfrm>
            <a:off x="5983100" y="949600"/>
            <a:ext cx="1801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990000"/>
                </a:solidFill>
              </a:rPr>
              <a:t>Stack</a:t>
            </a:r>
            <a:endParaRPr b="1">
              <a:solidFill>
                <a:srgbClr val="990000"/>
              </a:solidFill>
            </a:endParaRPr>
          </a:p>
        </p:txBody>
      </p:sp>
      <p:graphicFrame>
        <p:nvGraphicFramePr>
          <p:cNvPr id="81" name="Google Shape;81;p15"/>
          <p:cNvGraphicFramePr/>
          <p:nvPr/>
        </p:nvGraphicFramePr>
        <p:xfrm>
          <a:off x="887325" y="375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{BDD9AB7B-7E5F-436D-8D32-7760FA44E835}</a:tableStyleId>
              </a:tblPr>
              <a:tblGrid>
                <a:gridCol w="111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Local Variable Array</a:t>
                      </a: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Operand Stack</a:t>
                      </a: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 Frame Data</a:t>
                      </a:r>
                      <a:endParaRPr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2" name="Google Shape;82;p15"/>
          <p:cNvSpPr txBox="1"/>
          <p:nvPr/>
        </p:nvSpPr>
        <p:spPr>
          <a:xfrm>
            <a:off x="1639700" y="3311800"/>
            <a:ext cx="1801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990000"/>
                </a:solidFill>
              </a:rPr>
              <a:t>Stack Frame</a:t>
            </a:r>
            <a:endParaRPr b="1">
              <a:solidFill>
                <a:srgbClr val="99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6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/>
        </p:nvSpPr>
        <p:spPr>
          <a:xfrm>
            <a:off x="2900" y="2325450"/>
            <a:ext cx="914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/>
              <a:t>StackOverflow error</a:t>
            </a:r>
            <a:endParaRPr sz="2000" b="1"/>
          </a:p>
        </p:txBody>
      </p:sp>
      <p:sp>
        <p:nvSpPr>
          <p:cNvPr id="89" name="Google Shape;89;p16"/>
          <p:cNvSpPr txBox="1"/>
          <p:nvPr/>
        </p:nvSpPr>
        <p:spPr>
          <a:xfrm>
            <a:off x="655450" y="1168625"/>
            <a:ext cx="7806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 txBox="1"/>
          <p:nvPr/>
        </p:nvSpPr>
        <p:spPr>
          <a:xfrm>
            <a:off x="19050" y="382325"/>
            <a:ext cx="914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/>
              <a:t>Advantages of using Stack Memory in Java</a:t>
            </a:r>
            <a:endParaRPr sz="2000" b="1"/>
          </a:p>
        </p:txBody>
      </p:sp>
      <p:sp>
        <p:nvSpPr>
          <p:cNvPr id="96" name="Google Shape;96;p17"/>
          <p:cNvSpPr txBox="1"/>
          <p:nvPr/>
        </p:nvSpPr>
        <p:spPr>
          <a:xfrm>
            <a:off x="655450" y="1168625"/>
            <a:ext cx="7806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Stack memory is </a:t>
            </a:r>
            <a:r>
              <a:rPr lang="en" b="1"/>
              <a:t>thread-safe</a:t>
            </a:r>
            <a:r>
              <a:rPr lang="en"/>
              <a:t> because </a:t>
            </a:r>
            <a:r>
              <a:rPr lang="en" b="1"/>
              <a:t>each thread has its stack</a:t>
            </a:r>
            <a:r>
              <a:rPr lang="en"/>
              <a:t> area.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Memory </a:t>
            </a:r>
            <a:r>
              <a:rPr lang="en" b="1"/>
              <a:t>allocation</a:t>
            </a:r>
            <a:r>
              <a:rPr lang="en"/>
              <a:t> and </a:t>
            </a:r>
            <a:r>
              <a:rPr lang="en" b="1"/>
              <a:t>deallocation</a:t>
            </a:r>
            <a:r>
              <a:rPr lang="en"/>
              <a:t> are </a:t>
            </a:r>
            <a:r>
              <a:rPr lang="en" b="1"/>
              <a:t>faster</a:t>
            </a:r>
            <a:r>
              <a:rPr lang="en"/>
              <a:t>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Memory is </a:t>
            </a:r>
            <a:r>
              <a:rPr lang="en" b="1"/>
              <a:t>automatically allocated</a:t>
            </a:r>
            <a:r>
              <a:rPr lang="en"/>
              <a:t> and </a:t>
            </a:r>
            <a:r>
              <a:rPr lang="en" b="1"/>
              <a:t>deallocated</a:t>
            </a:r>
            <a:r>
              <a:rPr lang="en"/>
              <a:t> for a method.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8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8"/>
          <p:cNvSpPr txBox="1"/>
          <p:nvPr/>
        </p:nvSpPr>
        <p:spPr>
          <a:xfrm>
            <a:off x="19050" y="382325"/>
            <a:ext cx="914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/>
              <a:t>Disadvantages of using Stack Memory in Java</a:t>
            </a:r>
            <a:endParaRPr sz="2000" b="1"/>
          </a:p>
        </p:txBody>
      </p:sp>
      <p:sp>
        <p:nvSpPr>
          <p:cNvPr id="103" name="Google Shape;103;p18"/>
          <p:cNvSpPr txBox="1"/>
          <p:nvPr/>
        </p:nvSpPr>
        <p:spPr>
          <a:xfrm>
            <a:off x="655450" y="1168625"/>
            <a:ext cx="7806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Stack memory is </a:t>
            </a:r>
            <a:r>
              <a:rPr lang="en" b="1"/>
              <a:t>fixed</a:t>
            </a:r>
            <a:r>
              <a:rPr lang="en"/>
              <a:t> and </a:t>
            </a:r>
            <a:r>
              <a:rPr lang="en" b="1"/>
              <a:t>cannot grow</a:t>
            </a:r>
            <a:r>
              <a:rPr lang="en"/>
              <a:t> or </a:t>
            </a:r>
            <a:r>
              <a:rPr lang="en" b="1"/>
              <a:t>shrink</a:t>
            </a:r>
            <a:r>
              <a:rPr lang="en"/>
              <a:t> once created.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Stack memory works in </a:t>
            </a:r>
            <a:r>
              <a:rPr lang="en" b="1"/>
              <a:t>LIFO</a:t>
            </a:r>
            <a:r>
              <a:rPr lang="en"/>
              <a:t> manner. So, </a:t>
            </a:r>
            <a:r>
              <a:rPr lang="en" b="1"/>
              <a:t>random access</a:t>
            </a:r>
            <a:r>
              <a:rPr lang="en"/>
              <a:t> is not possible.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>
            <a:spLocks noGrp="1"/>
          </p:cNvSpPr>
          <p:nvPr>
            <p:ph type="title"/>
          </p:nvPr>
        </p:nvSpPr>
        <p:spPr>
          <a:xfrm>
            <a:off x="19050" y="2285400"/>
            <a:ext cx="9185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 u="sng" dirty="0">
                <a:solidFill>
                  <a:schemeClr val="hlink"/>
                </a:solidFill>
              </a:rPr>
              <a:t>Interview Questions</a:t>
            </a:r>
            <a:endParaRPr sz="2000" dirty="0"/>
          </a:p>
        </p:txBody>
      </p:sp>
      <p:pic>
        <p:nvPicPr>
          <p:cNvPr id="109" name="Google Shape;109;p19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</Words>
  <Application>Microsoft Office PowerPoint</Application>
  <PresentationFormat>On-screen Show (16:9)</PresentationFormat>
  <Paragraphs>31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Simple Light</vt:lpstr>
      <vt:lpstr>PowerPoint Presentation</vt:lpstr>
      <vt:lpstr>JVM Memory Structure</vt:lpstr>
      <vt:lpstr>PowerPoint Presentation</vt:lpstr>
      <vt:lpstr>PowerPoint Presentation</vt:lpstr>
      <vt:lpstr>PowerPoint Presentation</vt:lpstr>
      <vt:lpstr>PowerPoint Presentation</vt:lpstr>
      <vt:lpstr>Interview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Пользователь</cp:lastModifiedBy>
  <cp:revision>1</cp:revision>
  <dcterms:modified xsi:type="dcterms:W3CDTF">2023-02-23T14:21:42Z</dcterms:modified>
</cp:coreProperties>
</file>