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57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 orient="horz" pos="5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525a437474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525a43747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3936dd8a54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3936dd8a54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3936dd8a54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3936dd8a54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7c629af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7c629af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228875" y="2191650"/>
            <a:ext cx="87318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solidFill>
                  <a:schemeClr val="dk1"/>
                </a:solidFill>
              </a:rPr>
              <a:t>Garbage collection</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000" b="1"/>
              <a:t>Garbage collection</a:t>
            </a:r>
            <a:endParaRPr sz="2000" b="1"/>
          </a:p>
        </p:txBody>
      </p:sp>
      <p:pic>
        <p:nvPicPr>
          <p:cNvPr id="61" name="Google Shape;61;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2" name="Google Shape;62;p14"/>
          <p:cNvSpPr txBox="1"/>
          <p:nvPr/>
        </p:nvSpPr>
        <p:spPr>
          <a:xfrm>
            <a:off x="730100" y="837425"/>
            <a:ext cx="7653900" cy="2134800"/>
          </a:xfrm>
          <a:prstGeom prst="rect">
            <a:avLst/>
          </a:prstGeom>
          <a:noFill/>
          <a:ln>
            <a:noFill/>
          </a:ln>
        </p:spPr>
        <p:txBody>
          <a:bodyPr spcFirstLastPara="1" wrap="square" lIns="91425" tIns="91425" rIns="91425" bIns="91425" anchor="t" anchorCtr="0">
            <a:spAutoFit/>
          </a:bodyPr>
          <a:lstStyle/>
          <a:p>
            <a:pPr marL="0" lvl="0" indent="457200" algn="just" rtl="0">
              <a:lnSpc>
                <a:spcPct val="115000"/>
              </a:lnSpc>
              <a:spcBef>
                <a:spcPts val="0"/>
              </a:spcBef>
              <a:spcAft>
                <a:spcPts val="0"/>
              </a:spcAft>
              <a:buNone/>
            </a:pPr>
            <a:r>
              <a:rPr lang="en"/>
              <a:t>Garbage Collection is the process of freeing space in the heap for the allocation of new objects. One of the best features of Java is automatic garbage collection. Garbage Collector is the program running in the background that looks into all the objects in the memory and find out objects that are not referenced by any part of the program. All these unreferenced objects are deleted and space is reclaimed for allocation to other objects.</a:t>
            </a:r>
            <a:endParaRPr/>
          </a:p>
          <a:p>
            <a:pPr marL="0" lvl="0" indent="457200" algn="just" rtl="0">
              <a:lnSpc>
                <a:spcPct val="115000"/>
              </a:lnSpc>
              <a:spcBef>
                <a:spcPts val="0"/>
              </a:spcBef>
              <a:spcAft>
                <a:spcPts val="0"/>
              </a:spcAft>
              <a:buNone/>
            </a:pPr>
            <a:r>
              <a:rPr lang="en"/>
              <a:t>JVM process Garbage Collection involves two steps</a:t>
            </a:r>
            <a:endParaRPr/>
          </a:p>
          <a:p>
            <a:pPr marL="457200" lvl="0" indent="-317500" algn="just" rtl="0">
              <a:lnSpc>
                <a:spcPct val="115000"/>
              </a:lnSpc>
              <a:spcBef>
                <a:spcPts val="0"/>
              </a:spcBef>
              <a:spcAft>
                <a:spcPts val="0"/>
              </a:spcAft>
              <a:buSzPts val="1400"/>
              <a:buChar char="●"/>
            </a:pPr>
            <a:r>
              <a:rPr lang="en"/>
              <a:t>Marking</a:t>
            </a:r>
            <a:endParaRPr/>
          </a:p>
          <a:p>
            <a:pPr marL="457200" lvl="0" indent="-317500" algn="just" rtl="0">
              <a:lnSpc>
                <a:spcPct val="115000"/>
              </a:lnSpc>
              <a:spcBef>
                <a:spcPts val="0"/>
              </a:spcBef>
              <a:spcAft>
                <a:spcPts val="0"/>
              </a:spcAft>
              <a:buSzPts val="1400"/>
              <a:buChar char="●"/>
            </a:pPr>
            <a:r>
              <a:rPr lang="en"/>
              <a:t>Sweeping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000" b="1"/>
              <a:t>Sweeping types</a:t>
            </a:r>
            <a:endParaRPr sz="2000" b="1"/>
          </a:p>
        </p:txBody>
      </p:sp>
      <p:pic>
        <p:nvPicPr>
          <p:cNvPr id="68" name="Google Shape;68;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9" name="Google Shape;69;p15"/>
          <p:cNvSpPr/>
          <p:nvPr/>
        </p:nvSpPr>
        <p:spPr>
          <a:xfrm>
            <a:off x="3111250" y="963825"/>
            <a:ext cx="2494800" cy="751200"/>
          </a:xfrm>
          <a:prstGeom prst="roundRect">
            <a:avLst>
              <a:gd name="adj" fmla="val 16667"/>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t>Sweeping</a:t>
            </a:r>
            <a:endParaRPr sz="1600" b="1"/>
          </a:p>
        </p:txBody>
      </p:sp>
      <p:grpSp>
        <p:nvGrpSpPr>
          <p:cNvPr id="70" name="Google Shape;70;p15"/>
          <p:cNvGrpSpPr/>
          <p:nvPr/>
        </p:nvGrpSpPr>
        <p:grpSpPr>
          <a:xfrm>
            <a:off x="368050" y="2868825"/>
            <a:ext cx="7981200" cy="751200"/>
            <a:chOff x="368050" y="2183025"/>
            <a:chExt cx="7981200" cy="751200"/>
          </a:xfrm>
        </p:grpSpPr>
        <p:sp>
          <p:nvSpPr>
            <p:cNvPr id="71" name="Google Shape;71;p15"/>
            <p:cNvSpPr/>
            <p:nvPr/>
          </p:nvSpPr>
          <p:spPr>
            <a:xfrm>
              <a:off x="3111250" y="2183025"/>
              <a:ext cx="2494800" cy="751200"/>
            </a:xfrm>
            <a:prstGeom prst="roundRect">
              <a:avLst>
                <a:gd name="adj" fmla="val 16667"/>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FFFFFF"/>
                  </a:solidFill>
                </a:rPr>
                <a:t>Sweeping with compacting</a:t>
              </a:r>
              <a:endParaRPr sz="1600" b="1">
                <a:solidFill>
                  <a:srgbClr val="FFFFFF"/>
                </a:solidFill>
              </a:endParaRPr>
            </a:p>
          </p:txBody>
        </p:sp>
        <p:sp>
          <p:nvSpPr>
            <p:cNvPr id="72" name="Google Shape;72;p15"/>
            <p:cNvSpPr/>
            <p:nvPr/>
          </p:nvSpPr>
          <p:spPr>
            <a:xfrm>
              <a:off x="368050" y="2183025"/>
              <a:ext cx="2494800" cy="751200"/>
            </a:xfrm>
            <a:prstGeom prst="roundRect">
              <a:avLst>
                <a:gd name="adj" fmla="val 16667"/>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FFFFFF"/>
                  </a:solidFill>
                </a:rPr>
                <a:t>Normal sweeping</a:t>
              </a:r>
              <a:endParaRPr sz="1600" b="1">
                <a:solidFill>
                  <a:srgbClr val="FFFFFF"/>
                </a:solidFill>
              </a:endParaRPr>
            </a:p>
          </p:txBody>
        </p:sp>
        <p:sp>
          <p:nvSpPr>
            <p:cNvPr id="73" name="Google Shape;73;p15"/>
            <p:cNvSpPr/>
            <p:nvPr/>
          </p:nvSpPr>
          <p:spPr>
            <a:xfrm>
              <a:off x="5854450" y="2183025"/>
              <a:ext cx="2494800" cy="751200"/>
            </a:xfrm>
            <a:prstGeom prst="roundRect">
              <a:avLst>
                <a:gd name="adj" fmla="val 16667"/>
              </a:avLst>
            </a:prstGeom>
            <a:solidFill>
              <a:srgbClr val="3C78D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FFFFFF"/>
                  </a:solidFill>
                </a:rPr>
                <a:t>Sweeping with coping</a:t>
              </a:r>
              <a:endParaRPr sz="1600" b="1">
                <a:solidFill>
                  <a:srgbClr val="FFFFFF"/>
                </a:solidFill>
              </a:endParaRPr>
            </a:p>
          </p:txBody>
        </p:sp>
      </p:grpSp>
      <p:cxnSp>
        <p:nvCxnSpPr>
          <p:cNvPr id="74" name="Google Shape;74;p15"/>
          <p:cNvCxnSpPr>
            <a:stCxn id="69" idx="2"/>
            <a:endCxn id="72" idx="0"/>
          </p:cNvCxnSpPr>
          <p:nvPr/>
        </p:nvCxnSpPr>
        <p:spPr>
          <a:xfrm rot="5400000">
            <a:off x="2410150" y="920325"/>
            <a:ext cx="1153800" cy="2743200"/>
          </a:xfrm>
          <a:prstGeom prst="bentConnector3">
            <a:avLst>
              <a:gd name="adj1" fmla="val 50000"/>
            </a:avLst>
          </a:prstGeom>
          <a:noFill/>
          <a:ln w="19050" cap="flat" cmpd="sng">
            <a:solidFill>
              <a:srgbClr val="000000"/>
            </a:solidFill>
            <a:prstDash val="solid"/>
            <a:round/>
            <a:headEnd type="diamond" w="med" len="med"/>
            <a:tailEnd type="triangle" w="med" len="med"/>
          </a:ln>
        </p:spPr>
      </p:cxnSp>
      <p:cxnSp>
        <p:nvCxnSpPr>
          <p:cNvPr id="75" name="Google Shape;75;p15"/>
          <p:cNvCxnSpPr>
            <a:stCxn id="69" idx="2"/>
            <a:endCxn id="71" idx="0"/>
          </p:cNvCxnSpPr>
          <p:nvPr/>
        </p:nvCxnSpPr>
        <p:spPr>
          <a:xfrm rot="-5400000" flipH="1">
            <a:off x="3782050" y="2291625"/>
            <a:ext cx="1153800" cy="600"/>
          </a:xfrm>
          <a:prstGeom prst="bentConnector3">
            <a:avLst>
              <a:gd name="adj1" fmla="val 50000"/>
            </a:avLst>
          </a:prstGeom>
          <a:noFill/>
          <a:ln w="19050" cap="flat" cmpd="sng">
            <a:solidFill>
              <a:srgbClr val="000000"/>
            </a:solidFill>
            <a:prstDash val="solid"/>
            <a:round/>
            <a:headEnd type="diamond" w="med" len="med"/>
            <a:tailEnd type="triangle" w="med" len="med"/>
          </a:ln>
        </p:spPr>
      </p:cxnSp>
      <p:cxnSp>
        <p:nvCxnSpPr>
          <p:cNvPr id="76" name="Google Shape;76;p15"/>
          <p:cNvCxnSpPr>
            <a:stCxn id="69" idx="2"/>
            <a:endCxn id="73" idx="0"/>
          </p:cNvCxnSpPr>
          <p:nvPr/>
        </p:nvCxnSpPr>
        <p:spPr>
          <a:xfrm rot="-5400000" flipH="1">
            <a:off x="5153350" y="920325"/>
            <a:ext cx="1153800" cy="2743200"/>
          </a:xfrm>
          <a:prstGeom prst="bentConnector3">
            <a:avLst>
              <a:gd name="adj1" fmla="val 50000"/>
            </a:avLst>
          </a:prstGeom>
          <a:noFill/>
          <a:ln w="19050" cap="flat" cmpd="sng">
            <a:solidFill>
              <a:srgbClr val="000000"/>
            </a:solidFill>
            <a:prstDash val="solid"/>
            <a:round/>
            <a:headEnd type="diamond"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82" name="Google Shape;82;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Words>
  <Application>Microsoft Office PowerPoint</Application>
  <PresentationFormat>On-screen Show (16:9)</PresentationFormat>
  <Paragraphs>12</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Simple Light</vt:lpstr>
      <vt:lpstr>PowerPoint Presentation</vt:lpstr>
      <vt:lpstr>Garbage collection</vt:lpstr>
      <vt:lpstr>Sweeping types</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2023-02-23T14:22:20Z</dcterms:modified>
</cp:coreProperties>
</file>