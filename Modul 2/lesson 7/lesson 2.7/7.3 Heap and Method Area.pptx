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57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 orient="horz" pos="5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525a437474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525a43747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3936dd8a5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3936dd8a5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393028f02d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393028f02d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8a34402006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8a34402006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8a34402006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8a34402006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3936dd8a54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3936dd8a54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4f7667c0c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14f7667c0c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3936dd8a54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3936dd8a54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3936dd8a54_0_1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3936dd8a54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14f7667c0cf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14f7667c0cf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3936dd8a54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13936dd8a5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7c4e222a8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7c4e222a8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228875" y="2191650"/>
            <a:ext cx="87318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solidFill>
                  <a:schemeClr val="dk1"/>
                </a:solidFill>
              </a:rPr>
              <a:t>Heap Memory and Method Area</a:t>
            </a:r>
            <a:endParaRPr sz="2600" b="1">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38700" y="391850"/>
            <a:ext cx="8466600" cy="572700"/>
          </a:xfrm>
          <a:prstGeom prst="rect">
            <a:avLst/>
          </a:prstGeom>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n" sz="2000" b="1"/>
              <a:t>JVM Memory Structure</a:t>
            </a:r>
            <a:endParaRPr sz="2000" b="1"/>
          </a:p>
        </p:txBody>
      </p:sp>
      <p:pic>
        <p:nvPicPr>
          <p:cNvPr id="61" name="Google Shape;61;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62" name="Google Shape;62;p14"/>
          <p:cNvGrpSpPr/>
          <p:nvPr/>
        </p:nvGrpSpPr>
        <p:grpSpPr>
          <a:xfrm>
            <a:off x="1003675" y="1151125"/>
            <a:ext cx="7009500" cy="2835300"/>
            <a:chOff x="1003675" y="1455925"/>
            <a:chExt cx="7009500" cy="2835300"/>
          </a:xfrm>
        </p:grpSpPr>
        <p:sp>
          <p:nvSpPr>
            <p:cNvPr id="63" name="Google Shape;63;p14"/>
            <p:cNvSpPr/>
            <p:nvPr/>
          </p:nvSpPr>
          <p:spPr>
            <a:xfrm>
              <a:off x="1003675" y="1455925"/>
              <a:ext cx="7009500" cy="2835300"/>
            </a:xfrm>
            <a:prstGeom prst="rect">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14"/>
            <p:cNvGrpSpPr/>
            <p:nvPr/>
          </p:nvGrpSpPr>
          <p:grpSpPr>
            <a:xfrm>
              <a:off x="1132675" y="1596475"/>
              <a:ext cx="6751500" cy="2199600"/>
              <a:chOff x="1604375" y="1588250"/>
              <a:chExt cx="6751500" cy="2199600"/>
            </a:xfrm>
          </p:grpSpPr>
          <p:sp>
            <p:nvSpPr>
              <p:cNvPr id="65" name="Google Shape;65;p14"/>
              <p:cNvSpPr/>
              <p:nvPr/>
            </p:nvSpPr>
            <p:spPr>
              <a:xfrm>
                <a:off x="1604375" y="1588250"/>
                <a:ext cx="1265100" cy="2199600"/>
              </a:xfrm>
              <a:prstGeom prst="rect">
                <a:avLst/>
              </a:prstGeom>
              <a:solidFill>
                <a:srgbClr val="38761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Heap</a:t>
                </a:r>
                <a:endParaRPr>
                  <a:solidFill>
                    <a:schemeClr val="lt1"/>
                  </a:solidFill>
                </a:endParaRPr>
              </a:p>
            </p:txBody>
          </p:sp>
          <p:sp>
            <p:nvSpPr>
              <p:cNvPr id="66" name="Google Shape;66;p14"/>
              <p:cNvSpPr/>
              <p:nvPr/>
            </p:nvSpPr>
            <p:spPr>
              <a:xfrm>
                <a:off x="2975975" y="1588250"/>
                <a:ext cx="1265100" cy="2199600"/>
              </a:xfrm>
              <a:prstGeom prst="rect">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Method Area</a:t>
                </a:r>
                <a:endParaRPr>
                  <a:solidFill>
                    <a:schemeClr val="lt1"/>
                  </a:solidFill>
                </a:endParaRPr>
              </a:p>
            </p:txBody>
          </p:sp>
          <p:sp>
            <p:nvSpPr>
              <p:cNvPr id="67" name="Google Shape;67;p14"/>
              <p:cNvSpPr/>
              <p:nvPr/>
            </p:nvSpPr>
            <p:spPr>
              <a:xfrm>
                <a:off x="4347575" y="1588250"/>
                <a:ext cx="1265100" cy="2199600"/>
              </a:xfrm>
              <a:prstGeom prst="rect">
                <a:avLst/>
              </a:prstGeom>
              <a:solidFill>
                <a:srgbClr val="BF9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Stack</a:t>
                </a:r>
                <a:endParaRPr>
                  <a:solidFill>
                    <a:schemeClr val="lt1"/>
                  </a:solidFill>
                </a:endParaRPr>
              </a:p>
            </p:txBody>
          </p:sp>
          <p:sp>
            <p:nvSpPr>
              <p:cNvPr id="68" name="Google Shape;68;p14"/>
              <p:cNvSpPr/>
              <p:nvPr/>
            </p:nvSpPr>
            <p:spPr>
              <a:xfrm>
                <a:off x="5719175" y="1588250"/>
                <a:ext cx="1265100" cy="2199600"/>
              </a:xfrm>
              <a:prstGeom prst="rect">
                <a:avLst/>
              </a:prstGeom>
              <a:solidFill>
                <a:srgbClr val="99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Native method</a:t>
                </a:r>
                <a:endParaRPr>
                  <a:solidFill>
                    <a:schemeClr val="lt1"/>
                  </a:solidFill>
                </a:endParaRPr>
              </a:p>
              <a:p>
                <a:pPr marL="0" lvl="0" indent="0" algn="ctr" rtl="0">
                  <a:spcBef>
                    <a:spcPts val="0"/>
                  </a:spcBef>
                  <a:spcAft>
                    <a:spcPts val="0"/>
                  </a:spcAft>
                  <a:buNone/>
                </a:pPr>
                <a:r>
                  <a:rPr lang="en">
                    <a:solidFill>
                      <a:schemeClr val="lt1"/>
                    </a:solidFill>
                  </a:rPr>
                  <a:t>Area</a:t>
                </a:r>
                <a:endParaRPr>
                  <a:solidFill>
                    <a:schemeClr val="lt1"/>
                  </a:solidFill>
                </a:endParaRPr>
              </a:p>
            </p:txBody>
          </p:sp>
          <p:sp>
            <p:nvSpPr>
              <p:cNvPr id="69" name="Google Shape;69;p14"/>
              <p:cNvSpPr/>
              <p:nvPr/>
            </p:nvSpPr>
            <p:spPr>
              <a:xfrm>
                <a:off x="7090775" y="1588250"/>
                <a:ext cx="1265100" cy="2199600"/>
              </a:xfrm>
              <a:prstGeom prst="rect">
                <a:avLst/>
              </a:prstGeom>
              <a:solidFill>
                <a:srgbClr val="1155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PC Registers</a:t>
                </a:r>
                <a:endParaRPr>
                  <a:solidFill>
                    <a:schemeClr val="lt1"/>
                  </a:solidFill>
                </a:endParaRPr>
              </a:p>
            </p:txBody>
          </p:sp>
        </p:grpSp>
      </p:grpSp>
      <p:sp>
        <p:nvSpPr>
          <p:cNvPr id="70" name="Google Shape;70;p14"/>
          <p:cNvSpPr txBox="1"/>
          <p:nvPr/>
        </p:nvSpPr>
        <p:spPr>
          <a:xfrm>
            <a:off x="335250" y="4656875"/>
            <a:ext cx="84735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990000"/>
                </a:solidFill>
              </a:rPr>
              <a:t>Note:</a:t>
            </a:r>
            <a:r>
              <a:rPr lang="en" sz="1200">
                <a:solidFill>
                  <a:srgbClr val="990000"/>
                </a:solidFill>
              </a:rPr>
              <a:t> The heap area is one of the most important memory areas of JVM. All the java objects are stored in heap area.</a:t>
            </a:r>
            <a:endParaRPr sz="1200">
              <a:solidFill>
                <a:srgbClr val="990000"/>
              </a:solidFill>
            </a:endParaRPr>
          </a:p>
        </p:txBody>
      </p:sp>
      <p:sp>
        <p:nvSpPr>
          <p:cNvPr id="71" name="Google Shape;71;p14"/>
          <p:cNvSpPr txBox="1"/>
          <p:nvPr/>
        </p:nvSpPr>
        <p:spPr>
          <a:xfrm>
            <a:off x="2835775" y="3510025"/>
            <a:ext cx="33453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t>JVM memory parts</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650" b="1"/>
              <a:t>Heap Memory</a:t>
            </a:r>
            <a:endParaRPr sz="2000"/>
          </a:p>
        </p:txBody>
      </p:sp>
      <p:pic>
        <p:nvPicPr>
          <p:cNvPr id="77" name="Google Shape;77;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78" name="Google Shape;78;p15"/>
          <p:cNvSpPr/>
          <p:nvPr/>
        </p:nvSpPr>
        <p:spPr>
          <a:xfrm>
            <a:off x="168716" y="1924800"/>
            <a:ext cx="3553200" cy="1541400"/>
          </a:xfrm>
          <a:prstGeom prst="rect">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Nursery Space</a:t>
            </a:r>
            <a:endParaRPr b="1">
              <a:solidFill>
                <a:schemeClr val="lt1"/>
              </a:solidFill>
            </a:endParaRPr>
          </a:p>
        </p:txBody>
      </p:sp>
      <p:grpSp>
        <p:nvGrpSpPr>
          <p:cNvPr id="79" name="Google Shape;79;p15"/>
          <p:cNvGrpSpPr/>
          <p:nvPr/>
        </p:nvGrpSpPr>
        <p:grpSpPr>
          <a:xfrm>
            <a:off x="225776" y="962715"/>
            <a:ext cx="3431488" cy="587395"/>
            <a:chOff x="321150" y="1772050"/>
            <a:chExt cx="3464400" cy="506550"/>
          </a:xfrm>
        </p:grpSpPr>
        <p:sp>
          <p:nvSpPr>
            <p:cNvPr id="80" name="Google Shape;80;p15"/>
            <p:cNvSpPr/>
            <p:nvPr/>
          </p:nvSpPr>
          <p:spPr>
            <a:xfrm rot="-5400000">
              <a:off x="1971450" y="464500"/>
              <a:ext cx="163800" cy="34644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txBox="1"/>
            <p:nvPr/>
          </p:nvSpPr>
          <p:spPr>
            <a:xfrm>
              <a:off x="1398300" y="1772050"/>
              <a:ext cx="1310100" cy="31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Minor GC</a:t>
              </a:r>
              <a:endParaRPr sz="1200" b="1">
                <a:solidFill>
                  <a:srgbClr val="1155CC"/>
                </a:solidFill>
              </a:endParaRPr>
            </a:p>
          </p:txBody>
        </p:sp>
      </p:grpSp>
      <p:sp>
        <p:nvSpPr>
          <p:cNvPr id="82" name="Google Shape;82;p15"/>
          <p:cNvSpPr/>
          <p:nvPr/>
        </p:nvSpPr>
        <p:spPr>
          <a:xfrm rot="-5400000" flipH="1">
            <a:off x="1865451" y="1942798"/>
            <a:ext cx="152400" cy="34317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txBox="1"/>
          <p:nvPr/>
        </p:nvSpPr>
        <p:spPr>
          <a:xfrm>
            <a:off x="530170" y="3646458"/>
            <a:ext cx="2897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Young Generation(Nursery Space)</a:t>
            </a:r>
            <a:endParaRPr sz="1200" b="1">
              <a:solidFill>
                <a:srgbClr val="1155CC"/>
              </a:solidFill>
            </a:endParaRPr>
          </a:p>
        </p:txBody>
      </p:sp>
      <p:sp>
        <p:nvSpPr>
          <p:cNvPr id="84" name="Google Shape;84;p15"/>
          <p:cNvSpPr/>
          <p:nvPr/>
        </p:nvSpPr>
        <p:spPr>
          <a:xfrm>
            <a:off x="3751569" y="1924800"/>
            <a:ext cx="3623100" cy="1541400"/>
          </a:xfrm>
          <a:prstGeom prst="rect">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Tenured Space</a:t>
            </a:r>
            <a:endParaRPr b="1">
              <a:solidFill>
                <a:schemeClr val="lt1"/>
              </a:solidFill>
            </a:endParaRPr>
          </a:p>
        </p:txBody>
      </p:sp>
      <p:grpSp>
        <p:nvGrpSpPr>
          <p:cNvPr id="85" name="Google Shape;85;p15"/>
          <p:cNvGrpSpPr/>
          <p:nvPr/>
        </p:nvGrpSpPr>
        <p:grpSpPr>
          <a:xfrm>
            <a:off x="3848924" y="962715"/>
            <a:ext cx="3522948" cy="587395"/>
            <a:chOff x="321150" y="1772050"/>
            <a:chExt cx="3464400" cy="506550"/>
          </a:xfrm>
        </p:grpSpPr>
        <p:sp>
          <p:nvSpPr>
            <p:cNvPr id="86" name="Google Shape;86;p15"/>
            <p:cNvSpPr/>
            <p:nvPr/>
          </p:nvSpPr>
          <p:spPr>
            <a:xfrm rot="-5400000">
              <a:off x="1971450" y="464500"/>
              <a:ext cx="163800" cy="34644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txBox="1"/>
            <p:nvPr/>
          </p:nvSpPr>
          <p:spPr>
            <a:xfrm>
              <a:off x="1398300" y="1772050"/>
              <a:ext cx="1310100" cy="31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Major GC</a:t>
              </a:r>
              <a:endParaRPr sz="1200" b="1">
                <a:solidFill>
                  <a:srgbClr val="1155CC"/>
                </a:solidFill>
              </a:endParaRPr>
            </a:p>
          </p:txBody>
        </p:sp>
      </p:grpSp>
      <p:sp>
        <p:nvSpPr>
          <p:cNvPr id="88" name="Google Shape;88;p15"/>
          <p:cNvSpPr/>
          <p:nvPr/>
        </p:nvSpPr>
        <p:spPr>
          <a:xfrm rot="-5400000" flipH="1">
            <a:off x="5519130" y="1875438"/>
            <a:ext cx="152400" cy="35532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txBox="1"/>
          <p:nvPr/>
        </p:nvSpPr>
        <p:spPr>
          <a:xfrm>
            <a:off x="4113016" y="3646458"/>
            <a:ext cx="2897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Old Generation(Tenured Space)</a:t>
            </a:r>
            <a:endParaRPr sz="1200" b="1">
              <a:solidFill>
                <a:srgbClr val="1155CC"/>
              </a:solidFill>
            </a:endParaRPr>
          </a:p>
        </p:txBody>
      </p:sp>
      <p:sp>
        <p:nvSpPr>
          <p:cNvPr id="90" name="Google Shape;90;p15"/>
          <p:cNvSpPr/>
          <p:nvPr/>
        </p:nvSpPr>
        <p:spPr>
          <a:xfrm>
            <a:off x="7374774" y="1924792"/>
            <a:ext cx="1616700" cy="15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Permanent Generation</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4"/>
        <p:cNvGrpSpPr/>
        <p:nvPr/>
      </p:nvGrpSpPr>
      <p:grpSpPr>
        <a:xfrm>
          <a:off x="0" y="0"/>
          <a:ext cx="0" cy="0"/>
          <a:chOff x="0" y="0"/>
          <a:chExt cx="0" cy="0"/>
        </a:xfrm>
      </p:grpSpPr>
      <p:sp>
        <p:nvSpPr>
          <p:cNvPr id="95" name="Google Shape;95;p16"/>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650" b="1"/>
              <a:t>Heap Memory</a:t>
            </a:r>
            <a:endParaRPr sz="2000"/>
          </a:p>
        </p:txBody>
      </p:sp>
      <p:pic>
        <p:nvPicPr>
          <p:cNvPr id="96" name="Google Shape;96;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97" name="Google Shape;97;p16"/>
          <p:cNvGrpSpPr/>
          <p:nvPr/>
        </p:nvGrpSpPr>
        <p:grpSpPr>
          <a:xfrm>
            <a:off x="168748" y="1924800"/>
            <a:ext cx="3522958" cy="1541460"/>
            <a:chOff x="587672" y="751922"/>
            <a:chExt cx="2003274" cy="1329303"/>
          </a:xfrm>
        </p:grpSpPr>
        <p:sp>
          <p:nvSpPr>
            <p:cNvPr id="98" name="Google Shape;98;p16"/>
            <p:cNvSpPr/>
            <p:nvPr/>
          </p:nvSpPr>
          <p:spPr>
            <a:xfrm>
              <a:off x="587672" y="751925"/>
              <a:ext cx="1426200" cy="1329300"/>
            </a:xfrm>
            <a:prstGeom prst="rect">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Eden Space</a:t>
              </a:r>
              <a:endParaRPr b="1">
                <a:solidFill>
                  <a:schemeClr val="lt1"/>
                </a:solidFill>
              </a:endParaRPr>
            </a:p>
          </p:txBody>
        </p:sp>
        <p:sp>
          <p:nvSpPr>
            <p:cNvPr id="99" name="Google Shape;99;p16"/>
            <p:cNvSpPr/>
            <p:nvPr/>
          </p:nvSpPr>
          <p:spPr>
            <a:xfrm>
              <a:off x="1769847" y="751922"/>
              <a:ext cx="821100" cy="1329300"/>
            </a:xfrm>
            <a:prstGeom prst="rect">
              <a:avLst/>
            </a:prstGeom>
            <a:solidFill>
              <a:srgbClr val="3C7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Survivors space </a:t>
              </a:r>
              <a:endParaRPr b="1">
                <a:solidFill>
                  <a:schemeClr val="lt1"/>
                </a:solidFill>
              </a:endParaRPr>
            </a:p>
          </p:txBody>
        </p:sp>
      </p:grpSp>
      <p:grpSp>
        <p:nvGrpSpPr>
          <p:cNvPr id="100" name="Google Shape;100;p16"/>
          <p:cNvGrpSpPr/>
          <p:nvPr/>
        </p:nvGrpSpPr>
        <p:grpSpPr>
          <a:xfrm>
            <a:off x="225776" y="962715"/>
            <a:ext cx="3431488" cy="587395"/>
            <a:chOff x="321150" y="1772050"/>
            <a:chExt cx="3464400" cy="506550"/>
          </a:xfrm>
        </p:grpSpPr>
        <p:sp>
          <p:nvSpPr>
            <p:cNvPr id="101" name="Google Shape;101;p16"/>
            <p:cNvSpPr/>
            <p:nvPr/>
          </p:nvSpPr>
          <p:spPr>
            <a:xfrm rot="-5400000">
              <a:off x="1971450" y="464500"/>
              <a:ext cx="163800" cy="34644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txBox="1"/>
            <p:nvPr/>
          </p:nvSpPr>
          <p:spPr>
            <a:xfrm>
              <a:off x="1398300" y="1772050"/>
              <a:ext cx="1310100" cy="31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Minor GC</a:t>
              </a:r>
              <a:endParaRPr sz="1200" b="1">
                <a:solidFill>
                  <a:srgbClr val="1155CC"/>
                </a:solidFill>
              </a:endParaRPr>
            </a:p>
          </p:txBody>
        </p:sp>
      </p:grpSp>
      <p:sp>
        <p:nvSpPr>
          <p:cNvPr id="103" name="Google Shape;103;p16"/>
          <p:cNvSpPr/>
          <p:nvPr/>
        </p:nvSpPr>
        <p:spPr>
          <a:xfrm rot="-5400000" flipH="1">
            <a:off x="1865451" y="1942798"/>
            <a:ext cx="152400" cy="34317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6"/>
          <p:cNvSpPr txBox="1"/>
          <p:nvPr/>
        </p:nvSpPr>
        <p:spPr>
          <a:xfrm>
            <a:off x="530170" y="3646458"/>
            <a:ext cx="2897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Young Generation(Nursery Space)</a:t>
            </a:r>
            <a:endParaRPr sz="1200" b="1">
              <a:solidFill>
                <a:srgbClr val="1155CC"/>
              </a:solidFill>
            </a:endParaRPr>
          </a:p>
        </p:txBody>
      </p:sp>
      <p:sp>
        <p:nvSpPr>
          <p:cNvPr id="105" name="Google Shape;105;p16"/>
          <p:cNvSpPr/>
          <p:nvPr/>
        </p:nvSpPr>
        <p:spPr>
          <a:xfrm>
            <a:off x="3751569" y="1924800"/>
            <a:ext cx="3623100" cy="1541400"/>
          </a:xfrm>
          <a:prstGeom prst="rect">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Tenured Space</a:t>
            </a:r>
            <a:endParaRPr b="1">
              <a:solidFill>
                <a:schemeClr val="lt1"/>
              </a:solidFill>
            </a:endParaRPr>
          </a:p>
        </p:txBody>
      </p:sp>
      <p:grpSp>
        <p:nvGrpSpPr>
          <p:cNvPr id="106" name="Google Shape;106;p16"/>
          <p:cNvGrpSpPr/>
          <p:nvPr/>
        </p:nvGrpSpPr>
        <p:grpSpPr>
          <a:xfrm>
            <a:off x="3848924" y="962715"/>
            <a:ext cx="3522948" cy="587395"/>
            <a:chOff x="321150" y="1772050"/>
            <a:chExt cx="3464400" cy="506550"/>
          </a:xfrm>
        </p:grpSpPr>
        <p:sp>
          <p:nvSpPr>
            <p:cNvPr id="107" name="Google Shape;107;p16"/>
            <p:cNvSpPr/>
            <p:nvPr/>
          </p:nvSpPr>
          <p:spPr>
            <a:xfrm rot="-5400000">
              <a:off x="1971450" y="464500"/>
              <a:ext cx="163800" cy="34644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6"/>
            <p:cNvSpPr txBox="1"/>
            <p:nvPr/>
          </p:nvSpPr>
          <p:spPr>
            <a:xfrm>
              <a:off x="1398300" y="1772050"/>
              <a:ext cx="1310100" cy="31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Major GC</a:t>
              </a:r>
              <a:endParaRPr sz="1200" b="1">
                <a:solidFill>
                  <a:srgbClr val="1155CC"/>
                </a:solidFill>
              </a:endParaRPr>
            </a:p>
          </p:txBody>
        </p:sp>
      </p:grpSp>
      <p:sp>
        <p:nvSpPr>
          <p:cNvPr id="109" name="Google Shape;109;p16"/>
          <p:cNvSpPr/>
          <p:nvPr/>
        </p:nvSpPr>
        <p:spPr>
          <a:xfrm rot="-5400000" flipH="1">
            <a:off x="5519130" y="1875438"/>
            <a:ext cx="152400" cy="35532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6"/>
          <p:cNvSpPr txBox="1"/>
          <p:nvPr/>
        </p:nvSpPr>
        <p:spPr>
          <a:xfrm>
            <a:off x="4113016" y="3646458"/>
            <a:ext cx="2897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Old Generation(Tenured Space)</a:t>
            </a:r>
            <a:endParaRPr sz="1200" b="1">
              <a:solidFill>
                <a:srgbClr val="1155CC"/>
              </a:solidFill>
            </a:endParaRPr>
          </a:p>
        </p:txBody>
      </p:sp>
      <p:sp>
        <p:nvSpPr>
          <p:cNvPr id="111" name="Google Shape;111;p16"/>
          <p:cNvSpPr/>
          <p:nvPr/>
        </p:nvSpPr>
        <p:spPr>
          <a:xfrm>
            <a:off x="7374774" y="1924792"/>
            <a:ext cx="1616700" cy="15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Permanent Generation</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650" b="1"/>
              <a:t>Heap Memory</a:t>
            </a:r>
            <a:endParaRPr sz="2000"/>
          </a:p>
        </p:txBody>
      </p:sp>
      <p:pic>
        <p:nvPicPr>
          <p:cNvPr id="117" name="Google Shape;117;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grpSp>
        <p:nvGrpSpPr>
          <p:cNvPr id="118" name="Google Shape;118;p17"/>
          <p:cNvGrpSpPr/>
          <p:nvPr/>
        </p:nvGrpSpPr>
        <p:grpSpPr>
          <a:xfrm>
            <a:off x="225776" y="962715"/>
            <a:ext cx="3431488" cy="587395"/>
            <a:chOff x="321150" y="1772050"/>
            <a:chExt cx="3464400" cy="506550"/>
          </a:xfrm>
        </p:grpSpPr>
        <p:sp>
          <p:nvSpPr>
            <p:cNvPr id="119" name="Google Shape;119;p17"/>
            <p:cNvSpPr/>
            <p:nvPr/>
          </p:nvSpPr>
          <p:spPr>
            <a:xfrm rot="-5400000">
              <a:off x="1971450" y="464500"/>
              <a:ext cx="163800" cy="34644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txBox="1"/>
            <p:nvPr/>
          </p:nvSpPr>
          <p:spPr>
            <a:xfrm>
              <a:off x="1398300" y="1772050"/>
              <a:ext cx="1310100" cy="31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Minor GC</a:t>
              </a:r>
              <a:endParaRPr sz="1200" b="1">
                <a:solidFill>
                  <a:srgbClr val="1155CC"/>
                </a:solidFill>
              </a:endParaRPr>
            </a:p>
          </p:txBody>
        </p:sp>
      </p:grpSp>
      <p:sp>
        <p:nvSpPr>
          <p:cNvPr id="121" name="Google Shape;121;p17"/>
          <p:cNvSpPr/>
          <p:nvPr/>
        </p:nvSpPr>
        <p:spPr>
          <a:xfrm rot="-5400000" flipH="1">
            <a:off x="1865451" y="1942798"/>
            <a:ext cx="152400" cy="34317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7"/>
          <p:cNvSpPr txBox="1"/>
          <p:nvPr/>
        </p:nvSpPr>
        <p:spPr>
          <a:xfrm>
            <a:off x="530170" y="3646458"/>
            <a:ext cx="2897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Young Generation(Nursery Space)</a:t>
            </a:r>
            <a:endParaRPr sz="1200" b="1">
              <a:solidFill>
                <a:srgbClr val="1155CC"/>
              </a:solidFill>
            </a:endParaRPr>
          </a:p>
        </p:txBody>
      </p:sp>
      <p:sp>
        <p:nvSpPr>
          <p:cNvPr id="123" name="Google Shape;123;p17"/>
          <p:cNvSpPr/>
          <p:nvPr/>
        </p:nvSpPr>
        <p:spPr>
          <a:xfrm>
            <a:off x="3751569" y="1924800"/>
            <a:ext cx="3623100" cy="1541400"/>
          </a:xfrm>
          <a:prstGeom prst="rect">
            <a:avLst/>
          </a:prstGeom>
          <a:solidFill>
            <a:srgbClr val="38761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Tenured Space</a:t>
            </a:r>
            <a:endParaRPr b="1">
              <a:solidFill>
                <a:schemeClr val="lt1"/>
              </a:solidFill>
            </a:endParaRPr>
          </a:p>
        </p:txBody>
      </p:sp>
      <p:grpSp>
        <p:nvGrpSpPr>
          <p:cNvPr id="124" name="Google Shape;124;p17"/>
          <p:cNvGrpSpPr/>
          <p:nvPr/>
        </p:nvGrpSpPr>
        <p:grpSpPr>
          <a:xfrm>
            <a:off x="3848924" y="962715"/>
            <a:ext cx="3522948" cy="587395"/>
            <a:chOff x="321150" y="1772050"/>
            <a:chExt cx="3464400" cy="506550"/>
          </a:xfrm>
        </p:grpSpPr>
        <p:sp>
          <p:nvSpPr>
            <p:cNvPr id="125" name="Google Shape;125;p17"/>
            <p:cNvSpPr/>
            <p:nvPr/>
          </p:nvSpPr>
          <p:spPr>
            <a:xfrm rot="-5400000">
              <a:off x="1971450" y="464500"/>
              <a:ext cx="163800" cy="34644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7"/>
            <p:cNvSpPr txBox="1"/>
            <p:nvPr/>
          </p:nvSpPr>
          <p:spPr>
            <a:xfrm>
              <a:off x="1398300" y="1772050"/>
              <a:ext cx="1310100" cy="318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Major GC</a:t>
              </a:r>
              <a:endParaRPr sz="1200" b="1">
                <a:solidFill>
                  <a:srgbClr val="1155CC"/>
                </a:solidFill>
              </a:endParaRPr>
            </a:p>
          </p:txBody>
        </p:sp>
      </p:grpSp>
      <p:sp>
        <p:nvSpPr>
          <p:cNvPr id="127" name="Google Shape;127;p17"/>
          <p:cNvSpPr/>
          <p:nvPr/>
        </p:nvSpPr>
        <p:spPr>
          <a:xfrm rot="-5400000" flipH="1">
            <a:off x="5519130" y="1875438"/>
            <a:ext cx="152400" cy="3553200"/>
          </a:xfrm>
          <a:prstGeom prst="rightBracket">
            <a:avLst>
              <a:gd name="adj" fmla="val 8333"/>
            </a:avLst>
          </a:prstGeom>
          <a:noFill/>
          <a:ln w="1905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7"/>
          <p:cNvSpPr txBox="1"/>
          <p:nvPr/>
        </p:nvSpPr>
        <p:spPr>
          <a:xfrm>
            <a:off x="4113016" y="3646458"/>
            <a:ext cx="28971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1155CC"/>
                </a:solidFill>
              </a:rPr>
              <a:t>Old Generation(Tenured Space)</a:t>
            </a:r>
            <a:endParaRPr sz="1200" b="1">
              <a:solidFill>
                <a:srgbClr val="1155CC"/>
              </a:solidFill>
            </a:endParaRPr>
          </a:p>
        </p:txBody>
      </p:sp>
      <p:sp>
        <p:nvSpPr>
          <p:cNvPr id="129" name="Google Shape;129;p17"/>
          <p:cNvSpPr/>
          <p:nvPr/>
        </p:nvSpPr>
        <p:spPr>
          <a:xfrm>
            <a:off x="2382222" y="1455441"/>
            <a:ext cx="1227900" cy="855900"/>
          </a:xfrm>
          <a:prstGeom prst="arc">
            <a:avLst>
              <a:gd name="adj1" fmla="val 10931990"/>
              <a:gd name="adj2" fmla="val 0"/>
            </a:avLst>
          </a:prstGeom>
          <a:noFill/>
          <a:ln w="19050" cap="flat" cmpd="sng">
            <a:solidFill>
              <a:srgbClr val="1155CC"/>
            </a:solidFill>
            <a:prstDash val="solid"/>
            <a:round/>
            <a:headEnd type="triangle" w="sm" len="sm"/>
            <a:tailEnd type="triangl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7"/>
          <p:cNvSpPr/>
          <p:nvPr/>
        </p:nvSpPr>
        <p:spPr>
          <a:xfrm>
            <a:off x="7374774" y="1924792"/>
            <a:ext cx="1616700" cy="1541400"/>
          </a:xfrm>
          <a:prstGeom prst="rect">
            <a:avLst/>
          </a:prstGeom>
          <a:solidFill>
            <a:srgbClr val="CFE2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t>Permanent Generation</a:t>
            </a:r>
            <a:endParaRPr b="1"/>
          </a:p>
        </p:txBody>
      </p:sp>
      <p:grpSp>
        <p:nvGrpSpPr>
          <p:cNvPr id="131" name="Google Shape;131;p17"/>
          <p:cNvGrpSpPr/>
          <p:nvPr/>
        </p:nvGrpSpPr>
        <p:grpSpPr>
          <a:xfrm>
            <a:off x="168737" y="1924788"/>
            <a:ext cx="3623114" cy="1541456"/>
            <a:chOff x="587672" y="751925"/>
            <a:chExt cx="2504399" cy="1329300"/>
          </a:xfrm>
        </p:grpSpPr>
        <p:sp>
          <p:nvSpPr>
            <p:cNvPr id="132" name="Google Shape;132;p17"/>
            <p:cNvSpPr/>
            <p:nvPr/>
          </p:nvSpPr>
          <p:spPr>
            <a:xfrm>
              <a:off x="587672" y="751925"/>
              <a:ext cx="1426200" cy="1329300"/>
            </a:xfrm>
            <a:prstGeom prst="rect">
              <a:avLst/>
            </a:prstGeom>
            <a:solidFill>
              <a:srgbClr val="93C47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Eden</a:t>
              </a:r>
              <a:endParaRPr b="1">
                <a:solidFill>
                  <a:schemeClr val="lt1"/>
                </a:solidFill>
              </a:endParaRPr>
            </a:p>
          </p:txBody>
        </p:sp>
        <p:sp>
          <p:nvSpPr>
            <p:cNvPr id="133" name="Google Shape;133;p17"/>
            <p:cNvSpPr/>
            <p:nvPr/>
          </p:nvSpPr>
          <p:spPr>
            <a:xfrm>
              <a:off x="2013792" y="751925"/>
              <a:ext cx="577200" cy="1329300"/>
            </a:xfrm>
            <a:prstGeom prst="rect">
              <a:avLst/>
            </a:prstGeom>
            <a:solidFill>
              <a:srgbClr val="3C7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S0</a:t>
              </a:r>
              <a:endParaRPr b="1">
                <a:solidFill>
                  <a:schemeClr val="lt1"/>
                </a:solidFill>
              </a:endParaRPr>
            </a:p>
          </p:txBody>
        </p:sp>
        <p:sp>
          <p:nvSpPr>
            <p:cNvPr id="134" name="Google Shape;134;p17"/>
            <p:cNvSpPr/>
            <p:nvPr/>
          </p:nvSpPr>
          <p:spPr>
            <a:xfrm>
              <a:off x="2591071" y="751925"/>
              <a:ext cx="501000" cy="1329300"/>
            </a:xfrm>
            <a:prstGeom prst="rect">
              <a:avLst/>
            </a:prstGeom>
            <a:solidFill>
              <a:srgbClr val="3D85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S1</a:t>
              </a:r>
              <a:endParaRPr b="1">
                <a:solidFill>
                  <a:schemeClr val="lt1"/>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38"/>
        <p:cNvGrpSpPr/>
        <p:nvPr/>
      </p:nvGrpSpPr>
      <p:grpSpPr>
        <a:xfrm>
          <a:off x="0" y="0"/>
          <a:ext cx="0" cy="0"/>
          <a:chOff x="0" y="0"/>
          <a:chExt cx="0" cy="0"/>
        </a:xfrm>
      </p:grpSpPr>
      <p:sp>
        <p:nvSpPr>
          <p:cNvPr id="139" name="Google Shape;139;p18"/>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650" b="1"/>
              <a:t>Nursery Space</a:t>
            </a:r>
            <a:endParaRPr sz="2000"/>
          </a:p>
        </p:txBody>
      </p:sp>
      <p:pic>
        <p:nvPicPr>
          <p:cNvPr id="140" name="Google Shape;140;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41" name="Google Shape;141;p18"/>
          <p:cNvSpPr txBox="1"/>
          <p:nvPr/>
        </p:nvSpPr>
        <p:spPr>
          <a:xfrm>
            <a:off x="534750" y="837425"/>
            <a:ext cx="7922100" cy="1887000"/>
          </a:xfrm>
          <a:prstGeom prst="rect">
            <a:avLst/>
          </a:prstGeom>
          <a:noFill/>
          <a:ln>
            <a:noFill/>
          </a:ln>
        </p:spPr>
        <p:txBody>
          <a:bodyPr spcFirstLastPara="1" wrap="square" lIns="91425" tIns="91425" rIns="91425" bIns="91425" anchor="t" anchorCtr="0">
            <a:spAutoFit/>
          </a:bodyPr>
          <a:lstStyle/>
          <a:p>
            <a:pPr marL="0" lvl="0" indent="457200" algn="just" rtl="0">
              <a:lnSpc>
                <a:spcPct val="115000"/>
              </a:lnSpc>
              <a:spcBef>
                <a:spcPts val="0"/>
              </a:spcBef>
              <a:spcAft>
                <a:spcPts val="0"/>
              </a:spcAft>
              <a:buNone/>
            </a:pPr>
            <a:r>
              <a:rPr lang="en"/>
              <a:t>The JVM heap is physically divided into two parts (or generations) nursery (or young space/young generation) and old space (or old generation). The nursery is a part of the heap reserved for the allocation of new objects. When the nursery becomes full, garbage is collected by running a special young collection, where all the objects that have lived long enough in the nursery are promoted (moved) to the old space, thus freeing up the nursery for more object allocation. This garbage collection is called Minor GC. The nursery is divided into three parts – Eden Memory and two Survivor Memory spaces.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45"/>
        <p:cNvGrpSpPr/>
        <p:nvPr/>
      </p:nvGrpSpPr>
      <p:grpSpPr>
        <a:xfrm>
          <a:off x="0" y="0"/>
          <a:ext cx="0" cy="0"/>
          <a:chOff x="0" y="0"/>
          <a:chExt cx="0" cy="0"/>
        </a:xfrm>
      </p:grpSpPr>
      <p:sp>
        <p:nvSpPr>
          <p:cNvPr id="146" name="Google Shape;146;p19"/>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650" b="1"/>
              <a:t>Important points about the nursery space</a:t>
            </a:r>
            <a:endParaRPr sz="2000"/>
          </a:p>
        </p:txBody>
      </p:sp>
      <p:pic>
        <p:nvPicPr>
          <p:cNvPr id="147" name="Google Shape;147;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48" name="Google Shape;148;p19"/>
          <p:cNvSpPr txBox="1"/>
          <p:nvPr/>
        </p:nvSpPr>
        <p:spPr>
          <a:xfrm>
            <a:off x="534750" y="837425"/>
            <a:ext cx="7922100" cy="2382600"/>
          </a:xfrm>
          <a:prstGeom prst="rect">
            <a:avLst/>
          </a:prstGeom>
          <a:noFill/>
          <a:ln>
            <a:noFill/>
          </a:ln>
        </p:spPr>
        <p:txBody>
          <a:bodyPr spcFirstLastPara="1" wrap="square" lIns="91425" tIns="91425" rIns="91425" bIns="91425" anchor="t" anchorCtr="0">
            <a:spAutoFit/>
          </a:bodyPr>
          <a:lstStyle/>
          <a:p>
            <a:pPr marL="457200" lvl="0" indent="-317500" algn="just" rtl="0">
              <a:lnSpc>
                <a:spcPct val="115000"/>
              </a:lnSpc>
              <a:spcBef>
                <a:spcPts val="0"/>
              </a:spcBef>
              <a:spcAft>
                <a:spcPts val="0"/>
              </a:spcAft>
              <a:buSzPts val="1400"/>
              <a:buChar char="●"/>
            </a:pPr>
            <a:r>
              <a:rPr lang="en"/>
              <a:t>Most of the newly created objects are located in the Eden Memory space</a:t>
            </a:r>
            <a:endParaRPr/>
          </a:p>
          <a:p>
            <a:pPr marL="457200" lvl="0" indent="-317500" algn="just" rtl="0">
              <a:lnSpc>
                <a:spcPct val="115000"/>
              </a:lnSpc>
              <a:spcBef>
                <a:spcPts val="0"/>
              </a:spcBef>
              <a:spcAft>
                <a:spcPts val="0"/>
              </a:spcAft>
              <a:buSzPts val="1400"/>
              <a:buChar char="●"/>
            </a:pPr>
            <a:r>
              <a:rPr lang="en"/>
              <a:t>When Eden space is filled with objects, Minor GC is performed and all the survivor objects are moved to one of the survivor spaces</a:t>
            </a:r>
            <a:endParaRPr/>
          </a:p>
          <a:p>
            <a:pPr marL="457200" lvl="0" indent="-317500" algn="just" rtl="0">
              <a:lnSpc>
                <a:spcPct val="115000"/>
              </a:lnSpc>
              <a:spcBef>
                <a:spcPts val="0"/>
              </a:spcBef>
              <a:spcAft>
                <a:spcPts val="0"/>
              </a:spcAft>
              <a:buSzPts val="1400"/>
              <a:buChar char="●"/>
            </a:pPr>
            <a:r>
              <a:rPr lang="en"/>
              <a:t>Minor GC also checks the survivor objects and moves them to the other survivor space. So at a time, one of the survivor space is always empty</a:t>
            </a:r>
            <a:endParaRPr/>
          </a:p>
          <a:p>
            <a:pPr marL="457200" lvl="0" indent="-317500" algn="just" rtl="0">
              <a:lnSpc>
                <a:spcPct val="115000"/>
              </a:lnSpc>
              <a:spcBef>
                <a:spcPts val="0"/>
              </a:spcBef>
              <a:spcAft>
                <a:spcPts val="0"/>
              </a:spcAft>
              <a:buSzPts val="1400"/>
              <a:buChar char="●"/>
            </a:pPr>
            <a:r>
              <a:rPr lang="en"/>
              <a:t>Objects that have survived many cycles of GC, are moved to the old generation memory space. Usually, it is done by setting a threshold for the age of the nursery objects before they become eligible to promote to the old generation</a:t>
            </a:r>
            <a:endParaRPr/>
          </a:p>
          <a:p>
            <a:pPr marL="0" lvl="0" indent="0" algn="just" rtl="0">
              <a:lnSpc>
                <a:spcPct val="115000"/>
              </a:lnSpc>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2"/>
        <p:cNvGrpSpPr/>
        <p:nvPr/>
      </p:nvGrpSpPr>
      <p:grpSpPr>
        <a:xfrm>
          <a:off x="0" y="0"/>
          <a:ext cx="0" cy="0"/>
          <a:chOff x="0" y="0"/>
          <a:chExt cx="0" cy="0"/>
        </a:xfrm>
      </p:grpSpPr>
      <p:sp>
        <p:nvSpPr>
          <p:cNvPr id="153" name="Google Shape;153;p20"/>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Clr>
                <a:schemeClr val="dk1"/>
              </a:buClr>
              <a:buSzPts val="1100"/>
              <a:buFont typeface="Arial"/>
              <a:buNone/>
            </a:pPr>
            <a:r>
              <a:rPr lang="en" sz="2000" b="1"/>
              <a:t>Tenured Space</a:t>
            </a:r>
            <a:endParaRPr sz="2000"/>
          </a:p>
        </p:txBody>
      </p:sp>
      <p:pic>
        <p:nvPicPr>
          <p:cNvPr id="154" name="Google Shape;154;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55" name="Google Shape;155;p20"/>
          <p:cNvSpPr txBox="1"/>
          <p:nvPr/>
        </p:nvSpPr>
        <p:spPr>
          <a:xfrm>
            <a:off x="534750" y="837425"/>
            <a:ext cx="7922100" cy="2124000"/>
          </a:xfrm>
          <a:prstGeom prst="rect">
            <a:avLst/>
          </a:prstGeom>
          <a:noFill/>
          <a:ln>
            <a:noFill/>
          </a:ln>
        </p:spPr>
        <p:txBody>
          <a:bodyPr spcFirstLastPara="1" wrap="square" lIns="91425" tIns="91425" rIns="91425" bIns="91425" anchor="t" anchorCtr="0">
            <a:spAutoFit/>
          </a:bodyPr>
          <a:lstStyle/>
          <a:p>
            <a:pPr marL="0" lvl="0" indent="457200" algn="just" rtl="0">
              <a:spcBef>
                <a:spcPts val="0"/>
              </a:spcBef>
              <a:spcAft>
                <a:spcPts val="0"/>
              </a:spcAft>
              <a:buNone/>
            </a:pPr>
            <a:r>
              <a:rPr lang="en"/>
              <a:t>When the old generation becomes full, garbage is collected there and the process is called as old collection. Old generation memory contains the objects that are long-lived and survived after many rounds of Minor GC. Usually, garbage collection is performed in Old generation memory when it’s full. Old generation garbage collection is called as Major GC and usually takes longer. The reasoning behind a nursery is that most objects are temporary and short-lived. A young collection is designed to be swift at finding newly allocated objects that are still alive and moving them away from the nursery. Typically, a young collection frees a given amount of memory much faster than an old collection or a garbage collection of a single-generational heap (a heap without a nursery).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9"/>
        <p:cNvGrpSpPr/>
        <p:nvPr/>
      </p:nvGrpSpPr>
      <p:grpSpPr>
        <a:xfrm>
          <a:off x="0" y="0"/>
          <a:ext cx="0" cy="0"/>
          <a:chOff x="0" y="0"/>
          <a:chExt cx="0" cy="0"/>
        </a:xfrm>
      </p:grpSpPr>
      <p:sp>
        <p:nvSpPr>
          <p:cNvPr id="160" name="Google Shape;160;p21"/>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000" b="1"/>
              <a:t>Permanent Generation</a:t>
            </a:r>
            <a:endParaRPr sz="2000"/>
          </a:p>
        </p:txBody>
      </p:sp>
      <p:pic>
        <p:nvPicPr>
          <p:cNvPr id="161" name="Google Shape;161;p21"/>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62" name="Google Shape;162;p21"/>
          <p:cNvSpPr txBox="1"/>
          <p:nvPr/>
        </p:nvSpPr>
        <p:spPr>
          <a:xfrm>
            <a:off x="534750" y="837425"/>
            <a:ext cx="7922100" cy="1143600"/>
          </a:xfrm>
          <a:prstGeom prst="rect">
            <a:avLst/>
          </a:prstGeom>
          <a:noFill/>
          <a:ln>
            <a:noFill/>
          </a:ln>
        </p:spPr>
        <p:txBody>
          <a:bodyPr spcFirstLastPara="1" wrap="square" lIns="91425" tIns="91425" rIns="91425" bIns="91425" anchor="t" anchorCtr="0">
            <a:spAutoFit/>
          </a:bodyPr>
          <a:lstStyle/>
          <a:p>
            <a:pPr marL="0" lvl="0" indent="457200" algn="just" rtl="0">
              <a:lnSpc>
                <a:spcPct val="115000"/>
              </a:lnSpc>
              <a:spcBef>
                <a:spcPts val="0"/>
              </a:spcBef>
              <a:spcAft>
                <a:spcPts val="0"/>
              </a:spcAft>
              <a:buNone/>
            </a:pPr>
            <a:r>
              <a:rPr lang="en" b="1"/>
              <a:t>Permanent Generation</a:t>
            </a:r>
            <a:r>
              <a:rPr lang="en"/>
              <a:t> or </a:t>
            </a:r>
            <a:r>
              <a:rPr lang="en" b="1"/>
              <a:t>“Perm Gen”</a:t>
            </a:r>
            <a:r>
              <a:rPr lang="en"/>
              <a:t> contains the application metadata required by the JVM to describe the classes and methods used in the application. Perm Gen is populated by JVM at runtime based on the classes used by the application. Perm Gen also contains Java SE library classes and methods. Perm Gen objects are garbage collected in a full garbage collection.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66"/>
        <p:cNvGrpSpPr/>
        <p:nvPr/>
      </p:nvGrpSpPr>
      <p:grpSpPr>
        <a:xfrm>
          <a:off x="0" y="0"/>
          <a:ext cx="0" cy="0"/>
          <a:chOff x="0" y="0"/>
          <a:chExt cx="0" cy="0"/>
        </a:xfrm>
      </p:grpSpPr>
      <p:sp>
        <p:nvSpPr>
          <p:cNvPr id="167" name="Google Shape;167;p22"/>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000" b="1"/>
              <a:t>Metaspace</a:t>
            </a:r>
            <a:endParaRPr sz="2000"/>
          </a:p>
        </p:txBody>
      </p:sp>
      <p:pic>
        <p:nvPicPr>
          <p:cNvPr id="168" name="Google Shape;168;p22"/>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69" name="Google Shape;169;p22"/>
          <p:cNvSpPr txBox="1"/>
          <p:nvPr/>
        </p:nvSpPr>
        <p:spPr>
          <a:xfrm>
            <a:off x="534750" y="837425"/>
            <a:ext cx="7922100" cy="2382600"/>
          </a:xfrm>
          <a:prstGeom prst="rect">
            <a:avLst/>
          </a:prstGeom>
          <a:noFill/>
          <a:ln>
            <a:noFill/>
          </a:ln>
        </p:spPr>
        <p:txBody>
          <a:bodyPr spcFirstLastPara="1" wrap="square" lIns="91425" tIns="91425" rIns="91425" bIns="91425" anchor="t" anchorCtr="0">
            <a:spAutoFit/>
          </a:bodyPr>
          <a:lstStyle/>
          <a:p>
            <a:pPr marL="0" lvl="0" indent="457200" algn="just" rtl="0">
              <a:lnSpc>
                <a:spcPct val="115000"/>
              </a:lnSpc>
              <a:spcBef>
                <a:spcPts val="0"/>
              </a:spcBef>
              <a:spcAft>
                <a:spcPts val="0"/>
              </a:spcAft>
              <a:buClr>
                <a:schemeClr val="dk1"/>
              </a:buClr>
              <a:buSzPts val="1100"/>
              <a:buFont typeface="Arial"/>
              <a:buNone/>
            </a:pPr>
            <a:r>
              <a:rPr lang="en"/>
              <a:t>With Java 8, there is no Perm Gen, which means there is no more “java.lang.OutOfMemoryError: PermGen” space problems. Unlike Perm Gen which resides in the Java heap, Metaspace is not part of the heap. Most allocations of the class metadata are now allocated out of native memory. Metaspace by default auto increases its size (up to what the underlying OS provides), while Perm Gen always has fixed maximum size. The theme behind the Metaspace is that the lifetime of classes and their metadata matches the lifetime of the classloaders. That is, as long as the classloader is alive, the metadata remains alive in the Metaspace and can’t be freed.</a:t>
            </a:r>
            <a:endParaRPr/>
          </a:p>
          <a:p>
            <a:pPr marL="0" lvl="0" indent="0" algn="just" rtl="0">
              <a:lnSpc>
                <a:spcPct val="115000"/>
              </a:lnSpc>
              <a:spcBef>
                <a:spcPts val="0"/>
              </a:spcBef>
              <a:spcAft>
                <a:spcPts val="0"/>
              </a:spcAft>
              <a:buNone/>
            </a:pPr>
            <a:endParaRPr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73"/>
        <p:cNvGrpSpPr/>
        <p:nvPr/>
      </p:nvGrpSpPr>
      <p:grpSpPr>
        <a:xfrm>
          <a:off x="0" y="0"/>
          <a:ext cx="0" cy="0"/>
          <a:chOff x="0" y="0"/>
          <a:chExt cx="0" cy="0"/>
        </a:xfrm>
      </p:grpSpPr>
      <p:sp>
        <p:nvSpPr>
          <p:cNvPr id="174" name="Google Shape;174;p23"/>
          <p:cNvSpPr txBox="1">
            <a:spLocks noGrp="1"/>
          </p:cNvSpPr>
          <p:nvPr>
            <p:ph type="title"/>
          </p:nvPr>
        </p:nvSpPr>
        <p:spPr>
          <a:xfrm>
            <a:off x="235500" y="264725"/>
            <a:ext cx="8520600" cy="5727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sz="2000" b="1"/>
              <a:t>Method Area</a:t>
            </a:r>
            <a:endParaRPr sz="2000" b="1"/>
          </a:p>
        </p:txBody>
      </p:sp>
      <p:pic>
        <p:nvPicPr>
          <p:cNvPr id="175" name="Google Shape;175;p23"/>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76" name="Google Shape;176;p23"/>
          <p:cNvSpPr txBox="1"/>
          <p:nvPr/>
        </p:nvSpPr>
        <p:spPr>
          <a:xfrm>
            <a:off x="534750" y="837425"/>
            <a:ext cx="7922100" cy="895800"/>
          </a:xfrm>
          <a:prstGeom prst="rect">
            <a:avLst/>
          </a:prstGeom>
          <a:noFill/>
          <a:ln>
            <a:noFill/>
          </a:ln>
        </p:spPr>
        <p:txBody>
          <a:bodyPr spcFirstLastPara="1" wrap="square" lIns="91425" tIns="91425" rIns="91425" bIns="91425" anchor="t" anchorCtr="0">
            <a:spAutoFit/>
          </a:bodyPr>
          <a:lstStyle/>
          <a:p>
            <a:pPr marL="0" lvl="0" indent="457200" algn="just" rtl="0">
              <a:lnSpc>
                <a:spcPct val="115000"/>
              </a:lnSpc>
              <a:spcBef>
                <a:spcPts val="0"/>
              </a:spcBef>
              <a:spcAft>
                <a:spcPts val="0"/>
              </a:spcAft>
              <a:buNone/>
            </a:pPr>
            <a:r>
              <a:rPr lang="en"/>
              <a:t>Method Area is part of </a:t>
            </a:r>
            <a:r>
              <a:rPr lang="en" b="1"/>
              <a:t>meta space</a:t>
            </a:r>
            <a:r>
              <a:rPr lang="en"/>
              <a:t> and used to store class structure (runtime constants and static variables) and code for methods and constructors.</a:t>
            </a:r>
            <a:endParaRPr/>
          </a:p>
          <a:p>
            <a:pPr marL="0" lvl="0" indent="457200" algn="just" rtl="0">
              <a:lnSpc>
                <a:spcPct val="115000"/>
              </a:lnSpc>
              <a:spcBef>
                <a:spcPts val="0"/>
              </a:spcBef>
              <a:spcAft>
                <a:spcPts val="0"/>
              </a:spcAft>
              <a:buNone/>
            </a:pPr>
            <a:r>
              <a:rPr lang="en"/>
              <a:t>When Method Area garbage collected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80"/>
        <p:cNvGrpSpPr/>
        <p:nvPr/>
      </p:nvGrpSpPr>
      <p:grpSpPr>
        <a:xfrm>
          <a:off x="0" y="0"/>
          <a:ext cx="0" cy="0"/>
          <a:chOff x="0" y="0"/>
          <a:chExt cx="0" cy="0"/>
        </a:xfrm>
      </p:grpSpPr>
      <p:sp>
        <p:nvSpPr>
          <p:cNvPr id="181" name="Google Shape;181;p24"/>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182" name="Google Shape;182;p2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732</Words>
  <Application>Microsoft Office PowerPoint</Application>
  <PresentationFormat>On-screen Show (16:9)</PresentationFormat>
  <Paragraphs>54</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Simple Light</vt:lpstr>
      <vt:lpstr>PowerPoint Presentation</vt:lpstr>
      <vt:lpstr>JVM Memory Structure</vt:lpstr>
      <vt:lpstr>Heap Memory</vt:lpstr>
      <vt:lpstr>Heap Memory</vt:lpstr>
      <vt:lpstr>Heap Memory</vt:lpstr>
      <vt:lpstr>Nursery Space</vt:lpstr>
      <vt:lpstr>Important points about the nursery space</vt:lpstr>
      <vt:lpstr>Tenured Space</vt:lpstr>
      <vt:lpstr>Permanent Generation</vt:lpstr>
      <vt:lpstr>Metaspace</vt:lpstr>
      <vt:lpstr>Method Area</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2023-02-23T14:21:56Z</dcterms:modified>
</cp:coreProperties>
</file>