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6"/>
  </p:notesMasterIdLst>
  <p:sldIdLst>
    <p:sldId id="256" r:id="rId2"/>
    <p:sldId id="257" r:id="rId3"/>
    <p:sldId id="258" r:id="rId4"/>
    <p:sldId id="25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529efe762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529efe762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529efe7625_0_1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529efe7625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7e7cfc313b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7e7cfc313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6cb5dfc75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6cb5dfc75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228875" y="1886850"/>
            <a:ext cx="87318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Overriding</a:t>
            </a:r>
            <a:endParaRPr sz="2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Overriding</a:t>
            </a:r>
            <a:endParaRPr sz="2000" b="1"/>
          </a:p>
        </p:txBody>
      </p:sp>
      <p:sp>
        <p:nvSpPr>
          <p:cNvPr id="62" name="Google Shape;62;p14"/>
          <p:cNvSpPr txBox="1"/>
          <p:nvPr/>
        </p:nvSpPr>
        <p:spPr>
          <a:xfrm>
            <a:off x="692850" y="940600"/>
            <a:ext cx="7758300" cy="3524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A polymorphism that is exhibited at runtime is called dynamic polymorphism in java. In dynamic polymorphism, the behavior of a method is decided at runtime, therefore, the JVM (Java Virtual Machine) binds the method call with method definition/body at runtime and invokes the relevant method during runtime when the method is called.</a:t>
            </a:r>
            <a:endParaRPr/>
          </a:p>
          <a:p>
            <a:pPr marL="0" lvl="0" indent="0" algn="l" rtl="0">
              <a:spcBef>
                <a:spcPts val="0"/>
              </a:spcBef>
              <a:spcAft>
                <a:spcPts val="0"/>
              </a:spcAft>
              <a:buNone/>
            </a:pPr>
            <a:endParaRPr/>
          </a:p>
          <a:p>
            <a:pPr marL="0" lvl="0" indent="457200" algn="l" rtl="0">
              <a:spcBef>
                <a:spcPts val="0"/>
              </a:spcBef>
              <a:spcAft>
                <a:spcPts val="0"/>
              </a:spcAft>
              <a:buNone/>
            </a:pPr>
            <a:r>
              <a:rPr lang="en"/>
              <a:t>This happens because objects are created at runtime and the method is called using an object of the class. The Java compiler has no awareness of the method to be called on an instance during compilation. Therefore, JVM invokes the relevant method during runtime.</a:t>
            </a:r>
            <a:endParaRPr/>
          </a:p>
          <a:p>
            <a:pPr marL="0" lvl="0" indent="0" algn="l" rtl="0">
              <a:spcBef>
                <a:spcPts val="0"/>
              </a:spcBef>
              <a:spcAft>
                <a:spcPts val="0"/>
              </a:spcAft>
              <a:buNone/>
            </a:pPr>
            <a:endParaRPr/>
          </a:p>
          <a:p>
            <a:pPr marL="457200" lvl="0" indent="-311150" algn="l" rtl="0">
              <a:spcBef>
                <a:spcPts val="0"/>
              </a:spcBef>
              <a:spcAft>
                <a:spcPts val="0"/>
              </a:spcAft>
              <a:buSzPts val="1300"/>
              <a:buChar char="●"/>
            </a:pPr>
            <a:r>
              <a:rPr lang="en" sz="1300"/>
              <a:t>Method Overriding</a:t>
            </a:r>
            <a:endParaRPr sz="1300"/>
          </a:p>
          <a:p>
            <a:pPr marL="457200" lvl="0" indent="-311150" algn="l" rtl="0">
              <a:spcBef>
                <a:spcPts val="0"/>
              </a:spcBef>
              <a:spcAft>
                <a:spcPts val="0"/>
              </a:spcAft>
              <a:buSzPts val="1300"/>
              <a:buChar char="●"/>
            </a:pPr>
            <a:r>
              <a:rPr lang="en" sz="1300"/>
              <a:t>Covariant Return Type</a:t>
            </a:r>
            <a:endParaRPr sz="1300"/>
          </a:p>
          <a:p>
            <a:pPr marL="457200" lvl="0" indent="-311150" algn="l" rtl="0">
              <a:spcBef>
                <a:spcPts val="0"/>
              </a:spcBef>
              <a:spcAft>
                <a:spcPts val="0"/>
              </a:spcAft>
              <a:buSzPts val="1300"/>
              <a:buChar char="●"/>
            </a:pPr>
            <a:r>
              <a:rPr lang="en" sz="1300"/>
              <a:t>Difference between overloading and overriding</a:t>
            </a:r>
            <a:endParaRPr sz="1300"/>
          </a:p>
          <a:p>
            <a:pPr marL="457200" lvl="0" indent="-311150" algn="l" rtl="0">
              <a:spcBef>
                <a:spcPts val="0"/>
              </a:spcBef>
              <a:spcAft>
                <a:spcPts val="0"/>
              </a:spcAft>
              <a:buSzPts val="1300"/>
              <a:buChar char="●"/>
            </a:pPr>
            <a:r>
              <a:rPr lang="en" sz="1300"/>
              <a:t>Method Hiding in Java</a:t>
            </a:r>
            <a:endParaRPr sz="1300"/>
          </a:p>
          <a:p>
            <a:pPr marL="457200" lvl="0" indent="-311150" algn="l" rtl="0">
              <a:spcBef>
                <a:spcPts val="0"/>
              </a:spcBef>
              <a:spcAft>
                <a:spcPts val="0"/>
              </a:spcAft>
              <a:buSzPts val="1300"/>
              <a:buChar char="●"/>
            </a:pPr>
            <a:r>
              <a:rPr lang="en" sz="1300"/>
              <a:t>Class Casting</a:t>
            </a:r>
            <a:endParaRPr sz="1300"/>
          </a:p>
          <a:p>
            <a:pPr marL="457200" lvl="0" indent="-311150" algn="l" rtl="0">
              <a:spcBef>
                <a:spcPts val="0"/>
              </a:spcBef>
              <a:spcAft>
                <a:spcPts val="0"/>
              </a:spcAft>
              <a:buSzPts val="1300"/>
              <a:buChar char="●"/>
            </a:pPr>
            <a:r>
              <a:rPr lang="en" sz="1300"/>
              <a:t>Upcasting</a:t>
            </a:r>
            <a:endParaRPr sz="1300"/>
          </a:p>
          <a:p>
            <a:pPr marL="457200" lvl="0" indent="-311150" algn="l" rtl="0">
              <a:spcBef>
                <a:spcPts val="0"/>
              </a:spcBef>
              <a:spcAft>
                <a:spcPts val="0"/>
              </a:spcAft>
              <a:buClr>
                <a:schemeClr val="dk1"/>
              </a:buClr>
              <a:buSzPts val="1300"/>
              <a:buChar char="●"/>
            </a:pPr>
            <a:r>
              <a:rPr lang="en" sz="1300">
                <a:solidFill>
                  <a:schemeClr val="dk1"/>
                </a:solidFill>
              </a:rPr>
              <a:t>Generalization, Specification </a:t>
            </a:r>
            <a:r>
              <a:rPr lang="en" sz="1300"/>
              <a:t> and Downcasting</a:t>
            </a:r>
            <a:endParaRPr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8" name="Google Shape;68;p15"/>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Static and Dynamic Binding</a:t>
            </a:r>
            <a:endParaRPr sz="2000" b="1"/>
          </a:p>
        </p:txBody>
      </p:sp>
      <p:sp>
        <p:nvSpPr>
          <p:cNvPr id="69" name="Google Shape;69;p15"/>
          <p:cNvSpPr txBox="1"/>
          <p:nvPr/>
        </p:nvSpPr>
        <p:spPr>
          <a:xfrm>
            <a:off x="851575" y="795225"/>
            <a:ext cx="7377600" cy="33477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The connecting (linking) between a method call and method body/definition is called binding in java.</a:t>
            </a:r>
            <a:endParaRPr/>
          </a:p>
          <a:p>
            <a:pPr marL="0" lvl="0" indent="0" algn="l" rtl="0">
              <a:spcBef>
                <a:spcPts val="0"/>
              </a:spcBef>
              <a:spcAft>
                <a:spcPts val="0"/>
              </a:spcAft>
              <a:buClr>
                <a:schemeClr val="dk1"/>
              </a:buClr>
              <a:buSzPts val="1100"/>
              <a:buFont typeface="Arial"/>
              <a:buNone/>
            </a:pPr>
            <a:endParaRPr/>
          </a:p>
          <a:p>
            <a:pPr marL="457200" lvl="0" indent="-317500" algn="l" rtl="0">
              <a:spcBef>
                <a:spcPts val="0"/>
              </a:spcBef>
              <a:spcAft>
                <a:spcPts val="0"/>
              </a:spcAft>
              <a:buSzPts val="1400"/>
              <a:buChar char="●"/>
            </a:pPr>
            <a:r>
              <a:rPr lang="en" b="1"/>
              <a:t>Static/Early Binding</a:t>
            </a:r>
            <a:endParaRPr/>
          </a:p>
          <a:p>
            <a:pPr marL="457200" lvl="0" indent="-317500" algn="l" rtl="0">
              <a:spcBef>
                <a:spcPts val="0"/>
              </a:spcBef>
              <a:spcAft>
                <a:spcPts val="0"/>
              </a:spcAft>
              <a:buSzPts val="1400"/>
              <a:buChar char="●"/>
            </a:pPr>
            <a:r>
              <a:rPr lang="en" b="1"/>
              <a:t>Dynamic/Late Binding</a:t>
            </a:r>
            <a:endParaRPr b="1">
              <a:solidFill>
                <a:schemeClr val="dk1"/>
              </a:solidFill>
              <a:highlight>
                <a:schemeClr val="lt2"/>
              </a:highlight>
            </a:endParaRPr>
          </a:p>
          <a:p>
            <a:pPr marL="0" lvl="0" indent="457200" algn="l" rtl="0">
              <a:lnSpc>
                <a:spcPct val="120000"/>
              </a:lnSpc>
              <a:spcBef>
                <a:spcPts val="1500"/>
              </a:spcBef>
              <a:spcAft>
                <a:spcPts val="0"/>
              </a:spcAft>
              <a:buClr>
                <a:schemeClr val="dk1"/>
              </a:buClr>
              <a:buSzPts val="1100"/>
              <a:buFont typeface="Arial"/>
              <a:buNone/>
            </a:pPr>
            <a:r>
              <a:rPr lang="en">
                <a:solidFill>
                  <a:schemeClr val="dk1"/>
                </a:solidFill>
                <a:highlight>
                  <a:schemeClr val="lt2"/>
                </a:highlight>
              </a:rPr>
              <a:t>The binding that happens during compilation is called </a:t>
            </a:r>
            <a:r>
              <a:rPr lang="en" b="1">
                <a:solidFill>
                  <a:schemeClr val="dk1"/>
                </a:solidFill>
                <a:highlight>
                  <a:schemeClr val="lt2"/>
                </a:highlight>
              </a:rPr>
              <a:t>static binding</a:t>
            </a:r>
            <a:r>
              <a:rPr lang="en">
                <a:solidFill>
                  <a:schemeClr val="dk1"/>
                </a:solidFill>
                <a:highlight>
                  <a:schemeClr val="lt2"/>
                </a:highlight>
              </a:rPr>
              <a:t> in java. This binding is resolved at the compile time by the compiler.</a:t>
            </a:r>
            <a:endParaRPr b="1">
              <a:solidFill>
                <a:schemeClr val="dk1"/>
              </a:solidFill>
              <a:highlight>
                <a:schemeClr val="lt2"/>
              </a:highlight>
            </a:endParaRPr>
          </a:p>
          <a:p>
            <a:pPr marL="0" lvl="0" indent="457200" algn="l" rtl="0">
              <a:lnSpc>
                <a:spcPct val="120000"/>
              </a:lnSpc>
              <a:spcBef>
                <a:spcPts val="1500"/>
              </a:spcBef>
              <a:spcAft>
                <a:spcPts val="0"/>
              </a:spcAft>
              <a:buClr>
                <a:schemeClr val="dk1"/>
              </a:buClr>
              <a:buSzPts val="1100"/>
              <a:buFont typeface="Arial"/>
              <a:buNone/>
            </a:pPr>
            <a:r>
              <a:rPr lang="en">
                <a:solidFill>
                  <a:schemeClr val="dk1"/>
                </a:solidFill>
                <a:highlight>
                  <a:schemeClr val="lt2"/>
                </a:highlight>
              </a:rPr>
              <a:t>The binding which occurs during runtime is called </a:t>
            </a:r>
            <a:r>
              <a:rPr lang="en" b="1">
                <a:solidFill>
                  <a:schemeClr val="dk1"/>
                </a:solidFill>
                <a:highlight>
                  <a:schemeClr val="lt2"/>
                </a:highlight>
              </a:rPr>
              <a:t>dynamic binding</a:t>
            </a:r>
            <a:r>
              <a:rPr lang="en">
                <a:solidFill>
                  <a:schemeClr val="dk1"/>
                </a:solidFill>
                <a:highlight>
                  <a:schemeClr val="lt2"/>
                </a:highlight>
              </a:rPr>
              <a:t> in java. This binding is resolved based on the type of object at runtime. In dynamic binding, the actual object is used for binding at runtime.</a:t>
            </a:r>
            <a:endParaRPr>
              <a:solidFill>
                <a:schemeClr val="dk1"/>
              </a:solidFill>
              <a:highlight>
                <a:schemeClr val="lt2"/>
              </a:highlight>
            </a:endParaRPr>
          </a:p>
          <a:p>
            <a:pPr marL="0" lvl="0" indent="0" algn="l" rtl="0">
              <a:spcBef>
                <a:spcPts val="15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75" name="Google Shape;75;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232</Words>
  <Application>Microsoft Office PowerPoint</Application>
  <PresentationFormat>On-screen Show (16:9)</PresentationFormat>
  <Paragraphs>21</Paragraphs>
  <Slides>4</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Arial</vt:lpstr>
      <vt:lpstr>Simple Light</vt:lpstr>
      <vt:lpstr>PowerPoint Presentation</vt:lpstr>
      <vt:lpstr>PowerPoint Presentation</vt:lpstr>
      <vt:lpstr>PowerPoint Presentation</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2023-02-23T14:18:20Z</dcterms:modified>
</cp:coreProperties>
</file>