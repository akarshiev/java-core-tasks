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6858000" cy="9144000"/>
  <p:embeddedFontLst>
    <p:embeddedFont>
      <p:font typeface="Source Code Pro" panose="020B0509030403020204" pitchFamily="49" charset="0"/>
      <p:regular r:id="rId9"/>
      <p:bold r:id="rId10"/>
      <p:italic r:id="rId11"/>
      <p:boldItalic r:id="rId1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562"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516ca48c91_0_1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516ca48c91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1516ca48c91_0_1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1516ca48c91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1516ca48c91_0_2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1516ca48c91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1516ca48c91_0_2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1516ca48c91_0_2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6c5e053c0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16c5e053c0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t="33150" b="31095"/>
          <a:stretch/>
        </p:blipFill>
        <p:spPr>
          <a:xfrm>
            <a:off x="0" y="0"/>
            <a:ext cx="1304100" cy="466275"/>
          </a:xfrm>
          <a:prstGeom prst="rect">
            <a:avLst/>
          </a:prstGeom>
          <a:noFill/>
          <a:ln>
            <a:noFill/>
          </a:ln>
        </p:spPr>
      </p:pic>
      <p:sp>
        <p:nvSpPr>
          <p:cNvPr id="55" name="Google Shape;55;p13"/>
          <p:cNvSpPr txBox="1"/>
          <p:nvPr/>
        </p:nvSpPr>
        <p:spPr>
          <a:xfrm>
            <a:off x="816575" y="1886850"/>
            <a:ext cx="7733700" cy="585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2600" b="1"/>
              <a:t>Encapsulation</a:t>
            </a:r>
            <a:endParaRPr sz="2600" b="1">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9"/>
        <p:cNvGrpSpPr/>
        <p:nvPr/>
      </p:nvGrpSpPr>
      <p:grpSpPr>
        <a:xfrm>
          <a:off x="0" y="0"/>
          <a:ext cx="0" cy="0"/>
          <a:chOff x="0" y="0"/>
          <a:chExt cx="0" cy="0"/>
        </a:xfrm>
      </p:grpSpPr>
      <p:pic>
        <p:nvPicPr>
          <p:cNvPr id="60" name="Google Shape;60;p14"/>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1" name="Google Shape;61;p14"/>
          <p:cNvSpPr txBox="1"/>
          <p:nvPr/>
        </p:nvSpPr>
        <p:spPr>
          <a:xfrm>
            <a:off x="0" y="355350"/>
            <a:ext cx="91440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What is Encapsulation</a:t>
            </a:r>
            <a:endParaRPr sz="2000"/>
          </a:p>
        </p:txBody>
      </p:sp>
      <p:sp>
        <p:nvSpPr>
          <p:cNvPr id="62" name="Google Shape;62;p14"/>
          <p:cNvSpPr txBox="1"/>
          <p:nvPr/>
        </p:nvSpPr>
        <p:spPr>
          <a:xfrm>
            <a:off x="730100" y="798725"/>
            <a:ext cx="7702800" cy="10467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Clr>
                <a:schemeClr val="dk1"/>
              </a:buClr>
              <a:buSzPts val="1100"/>
              <a:buFont typeface="Arial"/>
              <a:buNone/>
            </a:pPr>
            <a:r>
              <a:rPr lang="en"/>
              <a:t>The process of binding data and corresponding methods (behavior) together into a single unit is called encapsulation in Java.</a:t>
            </a:r>
            <a:endParaRPr/>
          </a:p>
          <a:p>
            <a:pPr marL="0" lvl="0" indent="457200" algn="l" rtl="0">
              <a:spcBef>
                <a:spcPts val="0"/>
              </a:spcBef>
              <a:spcAft>
                <a:spcPts val="0"/>
              </a:spcAft>
              <a:buNone/>
            </a:pPr>
            <a:r>
              <a:rPr lang="en"/>
              <a:t>In other words, encapsulation is a programming technique that binds the class members (variables and methods) together and prevents them from being accessed by other classes.</a:t>
            </a:r>
            <a:endParaRPr/>
          </a:p>
        </p:txBody>
      </p:sp>
      <p:sp>
        <p:nvSpPr>
          <p:cNvPr id="63" name="Google Shape;63;p14"/>
          <p:cNvSpPr/>
          <p:nvPr/>
        </p:nvSpPr>
        <p:spPr>
          <a:xfrm>
            <a:off x="1335150" y="1921150"/>
            <a:ext cx="6473700" cy="3012300"/>
          </a:xfrm>
          <a:prstGeom prst="rect">
            <a:avLst/>
          </a:prstGeom>
          <a:solidFill>
            <a:srgbClr val="CFE2F3"/>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4" name="Google Shape;64;p14"/>
          <p:cNvCxnSpPr/>
          <p:nvPr/>
        </p:nvCxnSpPr>
        <p:spPr>
          <a:xfrm>
            <a:off x="4572000" y="2073550"/>
            <a:ext cx="13800" cy="2443500"/>
          </a:xfrm>
          <a:prstGeom prst="straightConnector1">
            <a:avLst/>
          </a:prstGeom>
          <a:noFill/>
          <a:ln w="9525" cap="flat" cmpd="sng">
            <a:solidFill>
              <a:srgbClr val="000000"/>
            </a:solidFill>
            <a:prstDash val="solid"/>
            <a:round/>
            <a:headEnd type="none" w="med" len="med"/>
            <a:tailEnd type="none" w="med" len="med"/>
          </a:ln>
        </p:spPr>
      </p:cxnSp>
      <p:sp>
        <p:nvSpPr>
          <p:cNvPr id="65" name="Google Shape;65;p14"/>
          <p:cNvSpPr/>
          <p:nvPr/>
        </p:nvSpPr>
        <p:spPr>
          <a:xfrm>
            <a:off x="5136925" y="3009090"/>
            <a:ext cx="1965654" cy="558792"/>
          </a:xfrm>
          <a:prstGeom prst="flowChartTerminator">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a:highlight>
                  <a:srgbClr val="CFE2F3"/>
                </a:highlight>
              </a:rPr>
              <a:t>   datas</a:t>
            </a:r>
            <a:endParaRPr>
              <a:highlight>
                <a:srgbClr val="CFE2F3"/>
              </a:highlight>
            </a:endParaRPr>
          </a:p>
        </p:txBody>
      </p:sp>
      <p:cxnSp>
        <p:nvCxnSpPr>
          <p:cNvPr id="66" name="Google Shape;66;p14"/>
          <p:cNvCxnSpPr>
            <a:stCxn id="65" idx="0"/>
          </p:cNvCxnSpPr>
          <p:nvPr/>
        </p:nvCxnSpPr>
        <p:spPr>
          <a:xfrm>
            <a:off x="6119752" y="3009090"/>
            <a:ext cx="0" cy="558900"/>
          </a:xfrm>
          <a:prstGeom prst="straightConnector1">
            <a:avLst/>
          </a:prstGeom>
          <a:noFill/>
          <a:ln w="9525" cap="flat" cmpd="sng">
            <a:solidFill>
              <a:srgbClr val="000000"/>
            </a:solidFill>
            <a:prstDash val="solid"/>
            <a:round/>
            <a:headEnd type="none" w="med" len="med"/>
            <a:tailEnd type="none" w="med" len="med"/>
          </a:ln>
        </p:spPr>
      </p:cxnSp>
      <p:sp>
        <p:nvSpPr>
          <p:cNvPr id="67" name="Google Shape;67;p14"/>
          <p:cNvSpPr txBox="1"/>
          <p:nvPr/>
        </p:nvSpPr>
        <p:spPr>
          <a:xfrm>
            <a:off x="5136950" y="2607613"/>
            <a:ext cx="1965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class</a:t>
            </a:r>
            <a:endParaRPr/>
          </a:p>
        </p:txBody>
      </p:sp>
      <p:sp>
        <p:nvSpPr>
          <p:cNvPr id="68" name="Google Shape;68;p14"/>
          <p:cNvSpPr txBox="1"/>
          <p:nvPr/>
        </p:nvSpPr>
        <p:spPr>
          <a:xfrm>
            <a:off x="2057050" y="2607634"/>
            <a:ext cx="1520100" cy="1262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Source Code Pro"/>
                <a:ea typeface="Source Code Pro"/>
                <a:cs typeface="Source Code Pro"/>
                <a:sym typeface="Source Code Pro"/>
              </a:rPr>
              <a:t>class {</a:t>
            </a:r>
            <a:endParaRPr>
              <a:latin typeface="Source Code Pro"/>
              <a:ea typeface="Source Code Pro"/>
              <a:cs typeface="Source Code Pro"/>
              <a:sym typeface="Source Code Pro"/>
            </a:endParaRPr>
          </a:p>
          <a:p>
            <a:pPr marL="0" lvl="0" indent="0" algn="l" rtl="0">
              <a:spcBef>
                <a:spcPts val="0"/>
              </a:spcBef>
              <a:spcAft>
                <a:spcPts val="0"/>
              </a:spcAft>
              <a:buNone/>
            </a:pPr>
            <a:r>
              <a:rPr lang="en">
                <a:latin typeface="Source Code Pro"/>
                <a:ea typeface="Source Code Pro"/>
                <a:cs typeface="Source Code Pro"/>
                <a:sym typeface="Source Code Pro"/>
              </a:rPr>
              <a:t>	Fields</a:t>
            </a:r>
            <a:endParaRPr>
              <a:latin typeface="Source Code Pro"/>
              <a:ea typeface="Source Code Pro"/>
              <a:cs typeface="Source Code Pro"/>
              <a:sym typeface="Source Code Pro"/>
            </a:endParaRPr>
          </a:p>
          <a:p>
            <a:pPr marL="0" lvl="0" indent="0" algn="l" rtl="0">
              <a:spcBef>
                <a:spcPts val="0"/>
              </a:spcBef>
              <a:spcAft>
                <a:spcPts val="0"/>
              </a:spcAft>
              <a:buNone/>
            </a:pPr>
            <a:r>
              <a:rPr lang="en">
                <a:latin typeface="Source Code Pro"/>
                <a:ea typeface="Source Code Pro"/>
                <a:cs typeface="Source Code Pro"/>
                <a:sym typeface="Source Code Pro"/>
              </a:rPr>
              <a:t>	    +</a:t>
            </a:r>
            <a:endParaRPr>
              <a:latin typeface="Source Code Pro"/>
              <a:ea typeface="Source Code Pro"/>
              <a:cs typeface="Source Code Pro"/>
              <a:sym typeface="Source Code Pro"/>
            </a:endParaRPr>
          </a:p>
          <a:p>
            <a:pPr marL="0" lvl="0" indent="0" algn="l" rtl="0">
              <a:spcBef>
                <a:spcPts val="0"/>
              </a:spcBef>
              <a:spcAft>
                <a:spcPts val="0"/>
              </a:spcAft>
              <a:buNone/>
            </a:pPr>
            <a:r>
              <a:rPr lang="en">
                <a:latin typeface="Source Code Pro"/>
                <a:ea typeface="Source Code Pro"/>
                <a:cs typeface="Source Code Pro"/>
                <a:sym typeface="Source Code Pro"/>
              </a:rPr>
              <a:t>	Methods</a:t>
            </a:r>
            <a:endParaRPr>
              <a:latin typeface="Source Code Pro"/>
              <a:ea typeface="Source Code Pro"/>
              <a:cs typeface="Source Code Pro"/>
              <a:sym typeface="Source Code Pro"/>
            </a:endParaRPr>
          </a:p>
          <a:p>
            <a:pPr marL="0" lvl="0" indent="0" algn="l" rtl="0">
              <a:spcBef>
                <a:spcPts val="0"/>
              </a:spcBef>
              <a:spcAft>
                <a:spcPts val="0"/>
              </a:spcAft>
              <a:buNone/>
            </a:pP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p:txBody>
      </p:sp>
      <p:sp>
        <p:nvSpPr>
          <p:cNvPr id="69" name="Google Shape;69;p14"/>
          <p:cNvSpPr txBox="1"/>
          <p:nvPr/>
        </p:nvSpPr>
        <p:spPr>
          <a:xfrm>
            <a:off x="6151275" y="3108275"/>
            <a:ext cx="878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methods</a:t>
            </a:r>
            <a:endParaRPr/>
          </a:p>
        </p:txBody>
      </p:sp>
      <p:sp>
        <p:nvSpPr>
          <p:cNvPr id="70" name="Google Shape;70;p14"/>
          <p:cNvSpPr txBox="1"/>
          <p:nvPr/>
        </p:nvSpPr>
        <p:spPr>
          <a:xfrm>
            <a:off x="5320525" y="3608929"/>
            <a:ext cx="1677300" cy="4002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capsule</a:t>
            </a:r>
            <a:endParaRPr/>
          </a:p>
        </p:txBody>
      </p:sp>
      <p:sp>
        <p:nvSpPr>
          <p:cNvPr id="71" name="Google Shape;71;p14"/>
          <p:cNvSpPr txBox="1"/>
          <p:nvPr/>
        </p:nvSpPr>
        <p:spPr>
          <a:xfrm>
            <a:off x="3187825" y="4364652"/>
            <a:ext cx="27957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a:t>Encapsulation</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75"/>
        <p:cNvGrpSpPr/>
        <p:nvPr/>
      </p:nvGrpSpPr>
      <p:grpSpPr>
        <a:xfrm>
          <a:off x="0" y="0"/>
          <a:ext cx="0" cy="0"/>
          <a:chOff x="0" y="0"/>
          <a:chExt cx="0" cy="0"/>
        </a:xfrm>
      </p:grpSpPr>
      <p:pic>
        <p:nvPicPr>
          <p:cNvPr id="76" name="Google Shape;76;p15"/>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77" name="Google Shape;77;p15"/>
          <p:cNvSpPr txBox="1"/>
          <p:nvPr/>
        </p:nvSpPr>
        <p:spPr>
          <a:xfrm>
            <a:off x="302725" y="3823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What is Data hiding</a:t>
            </a:r>
            <a:endParaRPr sz="2000"/>
          </a:p>
        </p:txBody>
      </p:sp>
      <p:sp>
        <p:nvSpPr>
          <p:cNvPr id="78" name="Google Shape;78;p15"/>
          <p:cNvSpPr txBox="1"/>
          <p:nvPr/>
        </p:nvSpPr>
        <p:spPr>
          <a:xfrm>
            <a:off x="642300" y="1024925"/>
            <a:ext cx="7859400" cy="8313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solidFill>
                  <a:schemeClr val="dk1"/>
                </a:solidFill>
              </a:rPr>
              <a:t>Data hiding in Java is an important principle of object-oriented programming system (OOPs). It prevents to access data members (variables) directly from outside the class so that we can achieve security on data. This oops feature is called data hiding in Java.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82"/>
        <p:cNvGrpSpPr/>
        <p:nvPr/>
      </p:nvGrpSpPr>
      <p:grpSpPr>
        <a:xfrm>
          <a:off x="0" y="0"/>
          <a:ext cx="0" cy="0"/>
          <a:chOff x="0" y="0"/>
          <a:chExt cx="0" cy="0"/>
        </a:xfrm>
      </p:grpSpPr>
      <p:pic>
        <p:nvPicPr>
          <p:cNvPr id="83" name="Google Shape;83;p16"/>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84" name="Google Shape;84;p16"/>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What is Getter and Setter</a:t>
            </a:r>
            <a:endParaRPr sz="2000"/>
          </a:p>
        </p:txBody>
      </p:sp>
      <p:sp>
        <p:nvSpPr>
          <p:cNvPr id="85" name="Google Shape;85;p16"/>
          <p:cNvSpPr txBox="1"/>
          <p:nvPr/>
        </p:nvSpPr>
        <p:spPr>
          <a:xfrm>
            <a:off x="642300" y="798725"/>
            <a:ext cx="7859400" cy="12621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solidFill>
                  <a:schemeClr val="dk1"/>
                </a:solidFill>
              </a:rPr>
              <a:t>A method which is used to retrieve/get the value of a variable or return the value of the private member variable is called getter method in Java.</a:t>
            </a:r>
            <a:endParaRPr>
              <a:solidFill>
                <a:schemeClr val="dk1"/>
              </a:solidFill>
            </a:endParaRPr>
          </a:p>
          <a:p>
            <a:pPr marL="0" lvl="0" indent="457200" algn="l" rtl="0">
              <a:spcBef>
                <a:spcPts val="0"/>
              </a:spcBef>
              <a:spcAft>
                <a:spcPts val="0"/>
              </a:spcAft>
              <a:buNone/>
            </a:pPr>
            <a:endParaRPr>
              <a:solidFill>
                <a:schemeClr val="dk1"/>
              </a:solidFill>
            </a:endParaRPr>
          </a:p>
          <a:p>
            <a:pPr marL="0" lvl="0" indent="457200" algn="l" rtl="0">
              <a:spcBef>
                <a:spcPts val="0"/>
              </a:spcBef>
              <a:spcAft>
                <a:spcPts val="0"/>
              </a:spcAft>
              <a:buNone/>
            </a:pPr>
            <a:r>
              <a:rPr lang="en">
                <a:solidFill>
                  <a:schemeClr val="dk1"/>
                </a:solidFill>
              </a:rPr>
              <a:t>A method which is used for updating or setting the value of a variable is called setter method in Java. This method is also known as mutator method.</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89"/>
        <p:cNvGrpSpPr/>
        <p:nvPr/>
      </p:nvGrpSpPr>
      <p:grpSpPr>
        <a:xfrm>
          <a:off x="0" y="0"/>
          <a:ext cx="0" cy="0"/>
          <a:chOff x="0" y="0"/>
          <a:chExt cx="0" cy="0"/>
        </a:xfrm>
      </p:grpSpPr>
      <p:sp>
        <p:nvSpPr>
          <p:cNvPr id="90" name="Google Shape;90;p17"/>
          <p:cNvSpPr txBox="1"/>
          <p:nvPr/>
        </p:nvSpPr>
        <p:spPr>
          <a:xfrm>
            <a:off x="584647" y="1132315"/>
            <a:ext cx="8037300" cy="8313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a:t>You have setter and getter, but the variable is declared in a less restricted scope.</a:t>
            </a:r>
            <a:endParaRPr/>
          </a:p>
          <a:p>
            <a:pPr marL="457200" lvl="0" indent="-317500" algn="l" rtl="0">
              <a:spcBef>
                <a:spcPts val="0"/>
              </a:spcBef>
              <a:spcAft>
                <a:spcPts val="0"/>
              </a:spcAft>
              <a:buSzPts val="1400"/>
              <a:buChar char="●"/>
            </a:pPr>
            <a:r>
              <a:rPr lang="en"/>
              <a:t>Assign object reference directly in the setter.</a:t>
            </a:r>
            <a:endParaRPr/>
          </a:p>
          <a:p>
            <a:pPr marL="457200" lvl="0" indent="-317500" algn="l" rtl="0">
              <a:spcBef>
                <a:spcPts val="0"/>
              </a:spcBef>
              <a:spcAft>
                <a:spcPts val="0"/>
              </a:spcAft>
              <a:buSzPts val="1400"/>
              <a:buChar char="●"/>
            </a:pPr>
            <a:r>
              <a:rPr lang="en"/>
              <a:t>Return the object reference directly in getter.</a:t>
            </a:r>
            <a:endParaRPr/>
          </a:p>
        </p:txBody>
      </p:sp>
      <p:pic>
        <p:nvPicPr>
          <p:cNvPr id="91" name="Google Shape;91;p17"/>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92" name="Google Shape;92;p17"/>
          <p:cNvSpPr txBox="1"/>
          <p:nvPr/>
        </p:nvSpPr>
        <p:spPr>
          <a:xfrm>
            <a:off x="302725" y="505944"/>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Common mistakes while implementing Getter and Setter methods</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6"/>
        <p:cNvGrpSpPr/>
        <p:nvPr/>
      </p:nvGrpSpPr>
      <p:grpSpPr>
        <a:xfrm>
          <a:off x="0" y="0"/>
          <a:ext cx="0" cy="0"/>
          <a:chOff x="0" y="0"/>
          <a:chExt cx="0" cy="0"/>
        </a:xfrm>
      </p:grpSpPr>
      <p:sp>
        <p:nvSpPr>
          <p:cNvPr id="97" name="Google Shape;97;p18"/>
          <p:cNvSpPr txBox="1">
            <a:spLocks noGrp="1"/>
          </p:cNvSpPr>
          <p:nvPr>
            <p:ph type="title"/>
          </p:nvPr>
        </p:nvSpPr>
        <p:spPr>
          <a:xfrm>
            <a:off x="19050" y="2285400"/>
            <a:ext cx="91851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200"/>
              </a:spcBef>
              <a:spcAft>
                <a:spcPts val="1200"/>
              </a:spcAft>
              <a:buNone/>
            </a:pPr>
            <a:r>
              <a:rPr lang="en" sz="2000" b="1" u="sng" dirty="0">
                <a:solidFill>
                  <a:schemeClr val="hlink"/>
                </a:solidFill>
              </a:rPr>
              <a:t>Interview Questions</a:t>
            </a:r>
            <a:endParaRPr sz="2000" dirty="0"/>
          </a:p>
        </p:txBody>
      </p:sp>
      <p:pic>
        <p:nvPicPr>
          <p:cNvPr id="98" name="Google Shape;98;p18"/>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232</Words>
  <Application>Microsoft Office PowerPoint</Application>
  <PresentationFormat>On-screen Show (16:9)</PresentationFormat>
  <Paragraphs>25</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Source Code Pro</vt:lpstr>
      <vt:lpstr>Simple Light</vt:lpstr>
      <vt:lpstr>PowerPoint Presentation</vt:lpstr>
      <vt:lpstr>PowerPoint Presentation</vt:lpstr>
      <vt:lpstr>PowerPoint Presentation</vt:lpstr>
      <vt:lpstr>PowerPoint Presentation</vt:lpstr>
      <vt:lpstr>PowerPoint Presentation</vt:lpstr>
      <vt:lpstr>Interview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Пользователь</cp:lastModifiedBy>
  <cp:revision>1</cp:revision>
  <dcterms:modified xsi:type="dcterms:W3CDTF">2023-02-23T14:14:43Z</dcterms:modified>
</cp:coreProperties>
</file>