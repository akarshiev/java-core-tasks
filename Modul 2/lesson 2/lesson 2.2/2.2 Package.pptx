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24aeee1b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24aeee1b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524aeee1b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524aeee1b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524aeee1b6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524aeee1b6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6c4dfbf9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6c4dfbf9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docs.oracle.com/en/java/javase/17/docs/api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0" y="0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816575" y="1886850"/>
            <a:ext cx="773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/>
              <a:t>Packages and Access Modifiers</a:t>
            </a:r>
            <a:endParaRPr sz="2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Packages</a:t>
            </a:r>
            <a:endParaRPr sz="2000"/>
          </a:p>
        </p:txBody>
      </p:sp>
      <p:sp>
        <p:nvSpPr>
          <p:cNvPr id="62" name="Google Shape;62;p14"/>
          <p:cNvSpPr txBox="1"/>
          <p:nvPr/>
        </p:nvSpPr>
        <p:spPr>
          <a:xfrm>
            <a:off x="721900" y="1024925"/>
            <a:ext cx="76782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package is nothing but a physical folder structure (directories) that contains a group of related classes, interfaces, and sub-packages according to their functionality.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provides a convenient way to organize your work. The Java language has various built-in packages.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Creating a Package.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Naming a Package.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Using Package Members.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Naming a Package</a:t>
            </a:r>
            <a:endParaRPr sz="2000"/>
          </a:p>
        </p:txBody>
      </p:sp>
      <p:sp>
        <p:nvSpPr>
          <p:cNvPr id="69" name="Google Shape;69;p15"/>
          <p:cNvSpPr txBox="1"/>
          <p:nvPr/>
        </p:nvSpPr>
        <p:spPr>
          <a:xfrm>
            <a:off x="289250" y="977600"/>
            <a:ext cx="8677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developing your project, you must follow some naming conventions regarding packages declaration. 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2268275" y="1693025"/>
            <a:ext cx="452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38761D"/>
                </a:solidFill>
              </a:rPr>
              <a:t>package</a:t>
            </a:r>
            <a:r>
              <a:rPr lang="en" sz="1600" b="1"/>
              <a:t> </a:t>
            </a:r>
            <a:r>
              <a:rPr lang="en" sz="1600" b="1">
                <a:solidFill>
                  <a:srgbClr val="1155CC"/>
                </a:solidFill>
              </a:rPr>
              <a:t>com</a:t>
            </a:r>
            <a:r>
              <a:rPr lang="en" sz="1600" b="1"/>
              <a:t>.</a:t>
            </a:r>
            <a:r>
              <a:rPr lang="en" sz="1600" b="1">
                <a:solidFill>
                  <a:srgbClr val="980000"/>
                </a:solidFill>
              </a:rPr>
              <a:t>ibm</a:t>
            </a:r>
            <a:r>
              <a:rPr lang="en" sz="1600" b="1"/>
              <a:t>.</a:t>
            </a:r>
            <a:r>
              <a:rPr lang="en" sz="1600" b="1">
                <a:solidFill>
                  <a:srgbClr val="9900FF"/>
                </a:solidFill>
              </a:rPr>
              <a:t>pdp</a:t>
            </a:r>
            <a:r>
              <a:rPr lang="en" sz="1600" b="1"/>
              <a:t>.</a:t>
            </a:r>
            <a:r>
              <a:rPr lang="en" sz="1600" b="1">
                <a:solidFill>
                  <a:srgbClr val="FF9900"/>
                </a:solidFill>
              </a:rPr>
              <a:t>online</a:t>
            </a:r>
            <a:r>
              <a:rPr lang="en" sz="1600" b="1"/>
              <a:t>.</a:t>
            </a:r>
            <a:r>
              <a:rPr lang="en" sz="1600" b="1">
                <a:solidFill>
                  <a:srgbClr val="741B47"/>
                </a:solidFill>
              </a:rPr>
              <a:t>auth</a:t>
            </a:r>
            <a:r>
              <a:rPr lang="en" sz="1600" b="1">
                <a:solidFill>
                  <a:srgbClr val="00FFFF"/>
                </a:solidFill>
              </a:rPr>
              <a:t>;</a:t>
            </a:r>
            <a:endParaRPr sz="1600" b="1">
              <a:solidFill>
                <a:srgbClr val="00FFFF"/>
              </a:solidFill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2168025" y="2241450"/>
            <a:ext cx="4951550" cy="2054075"/>
            <a:chOff x="2168025" y="2241450"/>
            <a:chExt cx="4951550" cy="2054075"/>
          </a:xfrm>
        </p:grpSpPr>
        <p:grpSp>
          <p:nvGrpSpPr>
            <p:cNvPr id="72" name="Google Shape;72;p15"/>
            <p:cNvGrpSpPr/>
            <p:nvPr/>
          </p:nvGrpSpPr>
          <p:grpSpPr>
            <a:xfrm>
              <a:off x="2168025" y="2241450"/>
              <a:ext cx="4951550" cy="1418588"/>
              <a:chOff x="2168025" y="2241450"/>
              <a:chExt cx="4951550" cy="1418588"/>
            </a:xfrm>
          </p:grpSpPr>
          <p:sp>
            <p:nvSpPr>
              <p:cNvPr id="73" name="Google Shape;73;p15"/>
              <p:cNvSpPr/>
              <p:nvPr/>
            </p:nvSpPr>
            <p:spPr>
              <a:xfrm>
                <a:off x="2168100" y="2243613"/>
                <a:ext cx="1924500" cy="315900"/>
              </a:xfrm>
              <a:prstGeom prst="roundRect">
                <a:avLst>
                  <a:gd name="adj" fmla="val 16667"/>
                </a:avLst>
              </a:pr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lt1"/>
                    </a:solidFill>
                  </a:rPr>
                  <a:t>keyword</a:t>
                </a:r>
                <a:endParaRPr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2168100" y="2763995"/>
                <a:ext cx="1924500" cy="315900"/>
              </a:xfrm>
              <a:prstGeom prst="roundRect">
                <a:avLst>
                  <a:gd name="adj" fmla="val 16667"/>
                </a:avLst>
              </a:prstGeom>
              <a:solidFill>
                <a:srgbClr val="0B5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chemeClr val="lt1"/>
                    </a:solidFill>
                  </a:rPr>
                  <a:t>company</a:t>
                </a:r>
                <a:endParaRPr sz="1100" b="1">
                  <a:solidFill>
                    <a:schemeClr val="lt1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chemeClr val="lt1"/>
                    </a:solidFill>
                  </a:rPr>
                  <a:t>specification</a:t>
                </a:r>
                <a:endParaRPr sz="1100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2168025" y="3284378"/>
                <a:ext cx="1924500" cy="315900"/>
              </a:xfrm>
              <a:prstGeom prst="roundRect">
                <a:avLst>
                  <a:gd name="adj" fmla="val 16667"/>
                </a:avLst>
              </a:prstGeom>
              <a:solidFill>
                <a:srgbClr val="98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lt1"/>
                    </a:solidFill>
                  </a:rPr>
                  <a:t>company name</a:t>
                </a:r>
                <a:endParaRPr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5195075" y="2241450"/>
                <a:ext cx="1924500" cy="355800"/>
              </a:xfrm>
              <a:prstGeom prst="roundRect">
                <a:avLst>
                  <a:gd name="adj" fmla="val 16667"/>
                </a:avLst>
              </a:prstGeom>
              <a:solidFill>
                <a:srgbClr val="990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lt1"/>
                    </a:solidFill>
                  </a:rPr>
                  <a:t>client name</a:t>
                </a:r>
                <a:endParaRPr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5195075" y="2744050"/>
                <a:ext cx="1924500" cy="355800"/>
              </a:xfrm>
              <a:prstGeom prst="roundRect">
                <a:avLst>
                  <a:gd name="adj" fmla="val 16667"/>
                </a:avLst>
              </a:prstGeom>
              <a:solidFill>
                <a:srgbClr val="FF99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lt1"/>
                    </a:solidFill>
                  </a:rPr>
                  <a:t>project name</a:t>
                </a:r>
                <a:endParaRPr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5195075" y="3304238"/>
                <a:ext cx="1924500" cy="355800"/>
              </a:xfrm>
              <a:prstGeom prst="roundRect">
                <a:avLst>
                  <a:gd name="adj" fmla="val 16667"/>
                </a:avLst>
              </a:prstGeom>
              <a:solidFill>
                <a:srgbClr val="741B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lt1"/>
                    </a:solidFill>
                  </a:rPr>
                  <a:t>module name</a:t>
                </a:r>
                <a:endParaRPr b="1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79" name="Google Shape;79;p15"/>
            <p:cNvSpPr/>
            <p:nvPr/>
          </p:nvSpPr>
          <p:spPr>
            <a:xfrm>
              <a:off x="3681550" y="3864425"/>
              <a:ext cx="1924500" cy="431100"/>
            </a:xfrm>
            <a:prstGeom prst="roundRect">
              <a:avLst>
                <a:gd name="adj" fmla="val 16667"/>
              </a:avLst>
            </a:pr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</a:rPr>
                <a:t>statement terminator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sp>
        <p:nvSpPr>
          <p:cNvPr id="80" name="Google Shape;80;p15"/>
          <p:cNvSpPr txBox="1"/>
          <p:nvPr/>
        </p:nvSpPr>
        <p:spPr>
          <a:xfrm>
            <a:off x="1563450" y="4466450"/>
            <a:ext cx="601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</a:rPr>
              <a:t>While  declaring the package name, every character should be lowercase.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Using Package Members</a:t>
            </a:r>
            <a:endParaRPr sz="2000"/>
          </a:p>
        </p:txBody>
      </p:sp>
      <p:sp>
        <p:nvSpPr>
          <p:cNvPr id="87" name="Google Shape;87;p16"/>
          <p:cNvSpPr txBox="1"/>
          <p:nvPr/>
        </p:nvSpPr>
        <p:spPr>
          <a:xfrm>
            <a:off x="677800" y="1045425"/>
            <a:ext cx="78078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types that comprise a package are known as the package members. To use a public package member from outside its package, you must do one of the following.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Refer to the member by its fully qualified name.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Import the package member.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Import the member's entire package.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Static Import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Unnamed package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Run multi package project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Oracle java packages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8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On-screen Show (16:9)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2023-02-23T14:14:58Z</dcterms:modified>
</cp:coreProperties>
</file>