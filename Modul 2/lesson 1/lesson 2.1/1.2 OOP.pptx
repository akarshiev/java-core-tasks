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4" d="100"/>
          <a:sy n="114" d="100"/>
        </p:scale>
        <p:origin x="562" y="8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1512876e585_0_2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512876e585_0_2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1512876e585_0_2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1512876e585_0_2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fff7286aad_0_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fff7286aad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1512876e585_0_3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512876e585_0_3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1512876e585_0_1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1512876e585_0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fff7286aad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fff7286aad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53"/>
        <p:cNvGrpSpPr/>
        <p:nvPr/>
      </p:nvGrpSpPr>
      <p:grpSpPr>
        <a:xfrm>
          <a:off x="0" y="0"/>
          <a:ext cx="0" cy="0"/>
          <a:chOff x="0" y="0"/>
          <a:chExt cx="0" cy="0"/>
        </a:xfrm>
      </p:grpSpPr>
      <p:pic>
        <p:nvPicPr>
          <p:cNvPr id="54" name="Google Shape;54;p13"/>
          <p:cNvPicPr preferRelativeResize="0"/>
          <p:nvPr/>
        </p:nvPicPr>
        <p:blipFill rotWithShape="1">
          <a:blip r:embed="rId3">
            <a:alphaModFix/>
          </a:blip>
          <a:srcRect t="33150" b="31095"/>
          <a:stretch/>
        </p:blipFill>
        <p:spPr>
          <a:xfrm>
            <a:off x="0" y="0"/>
            <a:ext cx="1304100" cy="466275"/>
          </a:xfrm>
          <a:prstGeom prst="rect">
            <a:avLst/>
          </a:prstGeom>
          <a:noFill/>
          <a:ln>
            <a:noFill/>
          </a:ln>
        </p:spPr>
      </p:pic>
      <p:sp>
        <p:nvSpPr>
          <p:cNvPr id="55" name="Google Shape;55;p13"/>
          <p:cNvSpPr txBox="1"/>
          <p:nvPr/>
        </p:nvSpPr>
        <p:spPr>
          <a:xfrm>
            <a:off x="740375" y="1886850"/>
            <a:ext cx="7733700" cy="5850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1200"/>
              </a:spcBef>
              <a:spcAft>
                <a:spcPts val="1200"/>
              </a:spcAft>
              <a:buNone/>
            </a:pPr>
            <a:r>
              <a:rPr lang="en" sz="2600" b="1"/>
              <a:t>OOP</a:t>
            </a:r>
            <a:endParaRPr sz="2600" b="1">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59"/>
        <p:cNvGrpSpPr/>
        <p:nvPr/>
      </p:nvGrpSpPr>
      <p:grpSpPr>
        <a:xfrm>
          <a:off x="0" y="0"/>
          <a:ext cx="0" cy="0"/>
          <a:chOff x="0" y="0"/>
          <a:chExt cx="0" cy="0"/>
        </a:xfrm>
      </p:grpSpPr>
      <p:pic>
        <p:nvPicPr>
          <p:cNvPr id="60" name="Google Shape;60;p14"/>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61" name="Google Shape;61;p14"/>
          <p:cNvSpPr txBox="1"/>
          <p:nvPr/>
        </p:nvSpPr>
        <p:spPr>
          <a:xfrm>
            <a:off x="302725" y="306125"/>
            <a:ext cx="85659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t>What is OOP ?</a:t>
            </a:r>
            <a:endParaRPr sz="2000"/>
          </a:p>
        </p:txBody>
      </p:sp>
      <p:sp>
        <p:nvSpPr>
          <p:cNvPr id="62" name="Google Shape;62;p14"/>
          <p:cNvSpPr txBox="1"/>
          <p:nvPr/>
        </p:nvSpPr>
        <p:spPr>
          <a:xfrm>
            <a:off x="612325" y="965725"/>
            <a:ext cx="7859400" cy="1477500"/>
          </a:xfrm>
          <a:prstGeom prst="rect">
            <a:avLst/>
          </a:prstGeom>
          <a:noFill/>
          <a:ln>
            <a:noFill/>
          </a:ln>
        </p:spPr>
        <p:txBody>
          <a:bodyPr spcFirstLastPara="1" wrap="square" lIns="91425" tIns="91425" rIns="91425" bIns="91425" anchor="t" anchorCtr="0">
            <a:spAutoFit/>
          </a:bodyPr>
          <a:lstStyle/>
          <a:p>
            <a:pPr marL="0" lvl="0" indent="457200" algn="l" rtl="0">
              <a:spcBef>
                <a:spcPts val="0"/>
              </a:spcBef>
              <a:spcAft>
                <a:spcPts val="0"/>
              </a:spcAft>
              <a:buClr>
                <a:schemeClr val="dk1"/>
              </a:buClr>
              <a:buSzPts val="1100"/>
              <a:buFont typeface="Arial"/>
              <a:buNone/>
            </a:pPr>
            <a:r>
              <a:rPr lang="en"/>
              <a:t>Object oriented programming is a </a:t>
            </a:r>
            <a:r>
              <a:rPr lang="en" b="1"/>
              <a:t>new approach to overcome the drawbacks of a procedural oriented approach</a:t>
            </a:r>
            <a:r>
              <a:rPr lang="en"/>
              <a:t>. It divides programs into the number of entities called objects that contain data (variables) and functions/tasks (known as methods in java).</a:t>
            </a:r>
            <a:endParaRPr/>
          </a:p>
          <a:p>
            <a:pPr marL="0" lvl="0" indent="457200" algn="l" rtl="0">
              <a:spcBef>
                <a:spcPts val="0"/>
              </a:spcBef>
              <a:spcAft>
                <a:spcPts val="0"/>
              </a:spcAft>
              <a:buClr>
                <a:schemeClr val="dk1"/>
              </a:buClr>
              <a:buSzPts val="1100"/>
              <a:buFont typeface="Arial"/>
              <a:buNone/>
            </a:pPr>
            <a:endParaRPr/>
          </a:p>
          <a:p>
            <a:pPr marL="0" lvl="0" indent="457200" algn="l" rtl="0">
              <a:spcBef>
                <a:spcPts val="0"/>
              </a:spcBef>
              <a:spcAft>
                <a:spcPts val="0"/>
              </a:spcAft>
              <a:buNone/>
            </a:pPr>
            <a:r>
              <a:rPr lang="en"/>
              <a:t>In an application, objects communicate with each other, share data among them, and solve problems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66"/>
        <p:cNvGrpSpPr/>
        <p:nvPr/>
      </p:nvGrpSpPr>
      <p:grpSpPr>
        <a:xfrm>
          <a:off x="0" y="0"/>
          <a:ext cx="0" cy="0"/>
          <a:chOff x="0" y="0"/>
          <a:chExt cx="0" cy="0"/>
        </a:xfrm>
      </p:grpSpPr>
      <p:pic>
        <p:nvPicPr>
          <p:cNvPr id="67" name="Google Shape;67;p15"/>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68" name="Google Shape;68;p15"/>
          <p:cNvSpPr txBox="1"/>
          <p:nvPr/>
        </p:nvSpPr>
        <p:spPr>
          <a:xfrm>
            <a:off x="302725" y="306125"/>
            <a:ext cx="85659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t>Conceptions of OOP</a:t>
            </a:r>
            <a:endParaRPr sz="2000" b="1"/>
          </a:p>
        </p:txBody>
      </p:sp>
      <p:sp>
        <p:nvSpPr>
          <p:cNvPr id="69" name="Google Shape;69;p15"/>
          <p:cNvSpPr/>
          <p:nvPr/>
        </p:nvSpPr>
        <p:spPr>
          <a:xfrm>
            <a:off x="682900" y="939100"/>
            <a:ext cx="1130100" cy="1982400"/>
          </a:xfrm>
          <a:prstGeom prst="rect">
            <a:avLst/>
          </a:prstGeom>
          <a:solidFill>
            <a:srgbClr val="FF99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chemeClr val="lt1"/>
                </a:solidFill>
              </a:rPr>
              <a:t>class</a:t>
            </a:r>
            <a:endParaRPr sz="1000" b="1">
              <a:solidFill>
                <a:schemeClr val="lt1"/>
              </a:solidFill>
            </a:endParaRPr>
          </a:p>
        </p:txBody>
      </p:sp>
      <p:sp>
        <p:nvSpPr>
          <p:cNvPr id="70" name="Google Shape;70;p15"/>
          <p:cNvSpPr/>
          <p:nvPr/>
        </p:nvSpPr>
        <p:spPr>
          <a:xfrm>
            <a:off x="2052526" y="2158300"/>
            <a:ext cx="1130100" cy="1982400"/>
          </a:xfrm>
          <a:prstGeom prst="rect">
            <a:avLst/>
          </a:prstGeom>
          <a:solidFill>
            <a:srgbClr val="674EA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chemeClr val="lt1"/>
                </a:solidFill>
              </a:rPr>
              <a:t>Encapsulation</a:t>
            </a:r>
            <a:endParaRPr sz="1000" b="1">
              <a:solidFill>
                <a:schemeClr val="lt1"/>
              </a:solidFill>
            </a:endParaRPr>
          </a:p>
        </p:txBody>
      </p:sp>
      <p:sp>
        <p:nvSpPr>
          <p:cNvPr id="71" name="Google Shape;71;p15"/>
          <p:cNvSpPr/>
          <p:nvPr/>
        </p:nvSpPr>
        <p:spPr>
          <a:xfrm>
            <a:off x="3441900" y="2767900"/>
            <a:ext cx="1130100" cy="1982400"/>
          </a:xfrm>
          <a:prstGeom prst="rect">
            <a:avLst/>
          </a:prstGeom>
          <a:solidFill>
            <a:srgbClr val="38761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chemeClr val="lt1"/>
                </a:solidFill>
              </a:rPr>
              <a:t>Inheritance</a:t>
            </a:r>
            <a:endParaRPr sz="1000" b="1">
              <a:solidFill>
                <a:schemeClr val="lt1"/>
              </a:solidFill>
            </a:endParaRPr>
          </a:p>
        </p:txBody>
      </p:sp>
      <p:sp>
        <p:nvSpPr>
          <p:cNvPr id="72" name="Google Shape;72;p15"/>
          <p:cNvSpPr/>
          <p:nvPr/>
        </p:nvSpPr>
        <p:spPr>
          <a:xfrm>
            <a:off x="4705987" y="2767900"/>
            <a:ext cx="1130100" cy="1982400"/>
          </a:xfrm>
          <a:prstGeom prst="rect">
            <a:avLst/>
          </a:prstGeom>
          <a:solidFill>
            <a:srgbClr val="CC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chemeClr val="lt1"/>
                </a:solidFill>
              </a:rPr>
              <a:t>Polymorphism</a:t>
            </a:r>
            <a:endParaRPr sz="1000" b="1">
              <a:solidFill>
                <a:schemeClr val="lt1"/>
              </a:solidFill>
            </a:endParaRPr>
          </a:p>
        </p:txBody>
      </p:sp>
      <p:sp>
        <p:nvSpPr>
          <p:cNvPr id="73" name="Google Shape;73;p15"/>
          <p:cNvSpPr/>
          <p:nvPr/>
        </p:nvSpPr>
        <p:spPr>
          <a:xfrm>
            <a:off x="6067700" y="2158300"/>
            <a:ext cx="1130100" cy="1982400"/>
          </a:xfrm>
          <a:prstGeom prst="rect">
            <a:avLst/>
          </a:prstGeom>
          <a:solidFill>
            <a:srgbClr val="1155CC"/>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000" b="1">
                <a:solidFill>
                  <a:schemeClr val="lt1"/>
                </a:solidFill>
              </a:rPr>
              <a:t>Abstraction</a:t>
            </a:r>
            <a:endParaRPr sz="1000" b="1">
              <a:solidFill>
                <a:schemeClr val="lt1"/>
              </a:solidFill>
            </a:endParaRPr>
          </a:p>
        </p:txBody>
      </p:sp>
      <p:sp>
        <p:nvSpPr>
          <p:cNvPr id="74" name="Google Shape;74;p15"/>
          <p:cNvSpPr/>
          <p:nvPr/>
        </p:nvSpPr>
        <p:spPr>
          <a:xfrm>
            <a:off x="7401800" y="939100"/>
            <a:ext cx="1084200" cy="1982400"/>
          </a:xfrm>
          <a:prstGeom prst="rect">
            <a:avLst/>
          </a:prstGeom>
          <a:solidFill>
            <a:srgbClr val="9900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chemeClr val="lt1"/>
                </a:solidFill>
              </a:rPr>
              <a:t>Object</a:t>
            </a:r>
            <a:endParaRPr sz="1000" b="1">
              <a:solidFill>
                <a:schemeClr val="lt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9"/>
                                        </p:tgtEl>
                                        <p:attrNameLst>
                                          <p:attrName>style.visibility</p:attrName>
                                        </p:attrNameLst>
                                      </p:cBhvr>
                                      <p:to>
                                        <p:strVal val="visible"/>
                                      </p:to>
                                    </p:set>
                                    <p:animEffect transition="in" filter="fade">
                                      <p:cBhvr>
                                        <p:cTn id="7" dur="1000"/>
                                        <p:tgtEl>
                                          <p:spTgt spid="6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0"/>
                                        </p:tgtEl>
                                        <p:attrNameLst>
                                          <p:attrName>style.visibility</p:attrName>
                                        </p:attrNameLst>
                                      </p:cBhvr>
                                      <p:to>
                                        <p:strVal val="visible"/>
                                      </p:to>
                                    </p:set>
                                    <p:animEffect transition="in" filter="fade">
                                      <p:cBhvr>
                                        <p:cTn id="12" dur="1000"/>
                                        <p:tgtEl>
                                          <p:spTgt spid="7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1"/>
                                        </p:tgtEl>
                                        <p:attrNameLst>
                                          <p:attrName>style.visibility</p:attrName>
                                        </p:attrNameLst>
                                      </p:cBhvr>
                                      <p:to>
                                        <p:strVal val="visible"/>
                                      </p:to>
                                    </p:set>
                                    <p:animEffect transition="in" filter="fade">
                                      <p:cBhvr>
                                        <p:cTn id="17" dur="1000"/>
                                        <p:tgtEl>
                                          <p:spTgt spid="7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2"/>
                                        </p:tgtEl>
                                        <p:attrNameLst>
                                          <p:attrName>style.visibility</p:attrName>
                                        </p:attrNameLst>
                                      </p:cBhvr>
                                      <p:to>
                                        <p:strVal val="visible"/>
                                      </p:to>
                                    </p:set>
                                    <p:animEffect transition="in" filter="fade">
                                      <p:cBhvr>
                                        <p:cTn id="22" dur="1000"/>
                                        <p:tgtEl>
                                          <p:spTgt spid="7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3"/>
                                        </p:tgtEl>
                                        <p:attrNameLst>
                                          <p:attrName>style.visibility</p:attrName>
                                        </p:attrNameLst>
                                      </p:cBhvr>
                                      <p:to>
                                        <p:strVal val="visible"/>
                                      </p:to>
                                    </p:set>
                                    <p:animEffect transition="in" filter="fade">
                                      <p:cBhvr>
                                        <p:cTn id="27" dur="1000"/>
                                        <p:tgtEl>
                                          <p:spTgt spid="7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4"/>
                                        </p:tgtEl>
                                        <p:attrNameLst>
                                          <p:attrName>style.visibility</p:attrName>
                                        </p:attrNameLst>
                                      </p:cBhvr>
                                      <p:to>
                                        <p:strVal val="visible"/>
                                      </p:to>
                                    </p:set>
                                    <p:animEffect transition="in" filter="fade">
                                      <p:cBhvr>
                                        <p:cTn id="32" dur="10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78"/>
        <p:cNvGrpSpPr/>
        <p:nvPr/>
      </p:nvGrpSpPr>
      <p:grpSpPr>
        <a:xfrm>
          <a:off x="0" y="0"/>
          <a:ext cx="0" cy="0"/>
          <a:chOff x="0" y="0"/>
          <a:chExt cx="0" cy="0"/>
        </a:xfrm>
      </p:grpSpPr>
      <p:pic>
        <p:nvPicPr>
          <p:cNvPr id="79" name="Google Shape;79;p16"/>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80" name="Google Shape;80;p16"/>
          <p:cNvSpPr txBox="1"/>
          <p:nvPr/>
        </p:nvSpPr>
        <p:spPr>
          <a:xfrm>
            <a:off x="302725" y="306125"/>
            <a:ext cx="8565900" cy="1108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Clr>
                <a:schemeClr val="dk1"/>
              </a:buClr>
              <a:buSzPts val="1100"/>
              <a:buFont typeface="Arial"/>
              <a:buNone/>
            </a:pPr>
            <a:r>
              <a:rPr lang="en" sz="2000" b="1"/>
              <a:t>Pillars of OOP</a:t>
            </a:r>
            <a:endParaRPr sz="2000" b="1"/>
          </a:p>
          <a:p>
            <a:pPr marL="0" lvl="0" indent="0" algn="ctr" rtl="0">
              <a:spcBef>
                <a:spcPts val="0"/>
              </a:spcBef>
              <a:spcAft>
                <a:spcPts val="0"/>
              </a:spcAft>
              <a:buClr>
                <a:schemeClr val="dk1"/>
              </a:buClr>
              <a:buSzPts val="1100"/>
              <a:buFont typeface="Arial"/>
              <a:buNone/>
            </a:pPr>
            <a:endParaRPr sz="2000" b="1"/>
          </a:p>
          <a:p>
            <a:pPr marL="0" lvl="0" indent="0" algn="ctr" rtl="0">
              <a:spcBef>
                <a:spcPts val="0"/>
              </a:spcBef>
              <a:spcAft>
                <a:spcPts val="0"/>
              </a:spcAft>
              <a:buNone/>
            </a:pPr>
            <a:endParaRPr sz="2000" b="1"/>
          </a:p>
        </p:txBody>
      </p:sp>
      <p:sp>
        <p:nvSpPr>
          <p:cNvPr id="81" name="Google Shape;81;p16"/>
          <p:cNvSpPr/>
          <p:nvPr/>
        </p:nvSpPr>
        <p:spPr>
          <a:xfrm>
            <a:off x="1999364" y="1414325"/>
            <a:ext cx="1130100" cy="1982400"/>
          </a:xfrm>
          <a:prstGeom prst="rect">
            <a:avLst/>
          </a:prstGeom>
          <a:solidFill>
            <a:srgbClr val="674EA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chemeClr val="lt1"/>
                </a:solidFill>
              </a:rPr>
              <a:t>Encapsulation</a:t>
            </a:r>
            <a:endParaRPr sz="1000" b="1">
              <a:solidFill>
                <a:schemeClr val="lt1"/>
              </a:solidFill>
            </a:endParaRPr>
          </a:p>
        </p:txBody>
      </p:sp>
      <p:sp>
        <p:nvSpPr>
          <p:cNvPr id="82" name="Google Shape;82;p16"/>
          <p:cNvSpPr/>
          <p:nvPr/>
        </p:nvSpPr>
        <p:spPr>
          <a:xfrm>
            <a:off x="3388738" y="2023925"/>
            <a:ext cx="1130100" cy="1982400"/>
          </a:xfrm>
          <a:prstGeom prst="rect">
            <a:avLst/>
          </a:prstGeom>
          <a:solidFill>
            <a:srgbClr val="38761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chemeClr val="lt1"/>
                </a:solidFill>
              </a:rPr>
              <a:t>Inheritance</a:t>
            </a:r>
            <a:endParaRPr sz="1000" b="1">
              <a:solidFill>
                <a:schemeClr val="lt1"/>
              </a:solidFill>
            </a:endParaRPr>
          </a:p>
        </p:txBody>
      </p:sp>
      <p:sp>
        <p:nvSpPr>
          <p:cNvPr id="83" name="Google Shape;83;p16"/>
          <p:cNvSpPr/>
          <p:nvPr/>
        </p:nvSpPr>
        <p:spPr>
          <a:xfrm>
            <a:off x="4652825" y="2023925"/>
            <a:ext cx="1130100" cy="1982400"/>
          </a:xfrm>
          <a:prstGeom prst="rect">
            <a:avLst/>
          </a:prstGeom>
          <a:solidFill>
            <a:srgbClr val="CC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chemeClr val="lt1"/>
                </a:solidFill>
              </a:rPr>
              <a:t>Polymorphism</a:t>
            </a:r>
            <a:endParaRPr sz="1000" b="1">
              <a:solidFill>
                <a:schemeClr val="lt1"/>
              </a:solidFill>
            </a:endParaRPr>
          </a:p>
        </p:txBody>
      </p:sp>
      <p:sp>
        <p:nvSpPr>
          <p:cNvPr id="84" name="Google Shape;84;p16"/>
          <p:cNvSpPr/>
          <p:nvPr/>
        </p:nvSpPr>
        <p:spPr>
          <a:xfrm>
            <a:off x="6014538" y="1414325"/>
            <a:ext cx="1130100" cy="1982400"/>
          </a:xfrm>
          <a:prstGeom prst="rect">
            <a:avLst/>
          </a:prstGeom>
          <a:solidFill>
            <a:srgbClr val="1155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chemeClr val="lt1"/>
                </a:solidFill>
              </a:rPr>
              <a:t>Abstraction</a:t>
            </a:r>
            <a:endParaRPr sz="1000" b="1">
              <a:solidFill>
                <a:schemeClr val="lt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1"/>
                                        </p:tgtEl>
                                        <p:attrNameLst>
                                          <p:attrName>style.visibility</p:attrName>
                                        </p:attrNameLst>
                                      </p:cBhvr>
                                      <p:to>
                                        <p:strVal val="visible"/>
                                      </p:to>
                                    </p:set>
                                    <p:animEffect transition="in" filter="fade">
                                      <p:cBhvr>
                                        <p:cTn id="7" dur="1000"/>
                                        <p:tgtEl>
                                          <p:spTgt spid="8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2"/>
                                        </p:tgtEl>
                                        <p:attrNameLst>
                                          <p:attrName>style.visibility</p:attrName>
                                        </p:attrNameLst>
                                      </p:cBhvr>
                                      <p:to>
                                        <p:strVal val="visible"/>
                                      </p:to>
                                    </p:set>
                                    <p:animEffect transition="in" filter="fade">
                                      <p:cBhvr>
                                        <p:cTn id="12" dur="1000"/>
                                        <p:tgtEl>
                                          <p:spTgt spid="8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3"/>
                                        </p:tgtEl>
                                        <p:attrNameLst>
                                          <p:attrName>style.visibility</p:attrName>
                                        </p:attrNameLst>
                                      </p:cBhvr>
                                      <p:to>
                                        <p:strVal val="visible"/>
                                      </p:to>
                                    </p:set>
                                    <p:animEffect transition="in" filter="fade">
                                      <p:cBhvr>
                                        <p:cTn id="17" dur="1000"/>
                                        <p:tgtEl>
                                          <p:spTgt spid="8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4"/>
                                        </p:tgtEl>
                                        <p:attrNameLst>
                                          <p:attrName>style.visibility</p:attrName>
                                        </p:attrNameLst>
                                      </p:cBhvr>
                                      <p:to>
                                        <p:strVal val="visible"/>
                                      </p:to>
                                    </p:set>
                                    <p:animEffect transition="in" filter="fade">
                                      <p:cBhvr>
                                        <p:cTn id="22" dur="10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88"/>
        <p:cNvGrpSpPr/>
        <p:nvPr/>
      </p:nvGrpSpPr>
      <p:grpSpPr>
        <a:xfrm>
          <a:off x="0" y="0"/>
          <a:ext cx="0" cy="0"/>
          <a:chOff x="0" y="0"/>
          <a:chExt cx="0" cy="0"/>
        </a:xfrm>
      </p:grpSpPr>
      <p:pic>
        <p:nvPicPr>
          <p:cNvPr id="89" name="Google Shape;89;p17"/>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90" name="Google Shape;90;p17"/>
          <p:cNvSpPr txBox="1"/>
          <p:nvPr/>
        </p:nvSpPr>
        <p:spPr>
          <a:xfrm>
            <a:off x="302725" y="306125"/>
            <a:ext cx="85659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t>Class, Object, Field and Method</a:t>
            </a:r>
            <a:endParaRPr sz="2000" b="1"/>
          </a:p>
        </p:txBody>
      </p:sp>
      <p:sp>
        <p:nvSpPr>
          <p:cNvPr id="91" name="Google Shape;91;p17"/>
          <p:cNvSpPr txBox="1"/>
          <p:nvPr/>
        </p:nvSpPr>
        <p:spPr>
          <a:xfrm>
            <a:off x="1132300" y="1028700"/>
            <a:ext cx="68235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t>Class</a:t>
            </a:r>
            <a:r>
              <a:rPr lang="en"/>
              <a:t> - A class — in the context of Java — is a template used to create objects and to define object data types and methods. Classes are categories, and objects are items within each category. All class objects should have the basic class properties.</a:t>
            </a:r>
            <a:endParaRPr/>
          </a:p>
        </p:txBody>
      </p:sp>
      <p:sp>
        <p:nvSpPr>
          <p:cNvPr id="92" name="Google Shape;92;p17"/>
          <p:cNvSpPr txBox="1"/>
          <p:nvPr/>
        </p:nvSpPr>
        <p:spPr>
          <a:xfrm>
            <a:off x="1132300" y="1821850"/>
            <a:ext cx="6823500" cy="1046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t>Object </a:t>
            </a:r>
            <a:r>
              <a:rPr lang="en"/>
              <a:t>- A Java object is a member (also called an instance) of a Java class. Each object has an identity, a behavior and a state. The state of an object is stored in fields (variables), while methods (functions) display the object's behavior. Objects are created at runtime from templates, which are also known as classes.</a:t>
            </a:r>
            <a:endParaRPr/>
          </a:p>
        </p:txBody>
      </p:sp>
      <p:sp>
        <p:nvSpPr>
          <p:cNvPr id="93" name="Google Shape;93;p17"/>
          <p:cNvSpPr txBox="1"/>
          <p:nvPr/>
        </p:nvSpPr>
        <p:spPr>
          <a:xfrm>
            <a:off x="1132300" y="2868550"/>
            <a:ext cx="68235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t>Field </a:t>
            </a:r>
            <a:r>
              <a:rPr lang="en"/>
              <a:t>- A field is a class, interface, or enum with an associated value. Methods in the java. lang. reflect. Field class can retrieve information about the field, such as its name, type, modifiers, and annotations.</a:t>
            </a:r>
            <a:endParaRPr/>
          </a:p>
        </p:txBody>
      </p:sp>
      <p:sp>
        <p:nvSpPr>
          <p:cNvPr id="94" name="Google Shape;94;p17"/>
          <p:cNvSpPr txBox="1"/>
          <p:nvPr/>
        </p:nvSpPr>
        <p:spPr>
          <a:xfrm>
            <a:off x="1132300" y="3699850"/>
            <a:ext cx="68235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t>Method </a:t>
            </a:r>
            <a:r>
              <a:rPr lang="en"/>
              <a:t>- A method is a block of code which only runs when it is called. You can pass data, known as parameters, into a method. Methods are used to perform certain actions, and they are also known as functions.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98"/>
        <p:cNvGrpSpPr/>
        <p:nvPr/>
      </p:nvGrpSpPr>
      <p:grpSpPr>
        <a:xfrm>
          <a:off x="0" y="0"/>
          <a:ext cx="0" cy="0"/>
          <a:chOff x="0" y="0"/>
          <a:chExt cx="0" cy="0"/>
        </a:xfrm>
      </p:grpSpPr>
      <p:sp>
        <p:nvSpPr>
          <p:cNvPr id="99" name="Google Shape;99;p18"/>
          <p:cNvSpPr txBox="1">
            <a:spLocks noGrp="1"/>
          </p:cNvSpPr>
          <p:nvPr>
            <p:ph type="title"/>
          </p:nvPr>
        </p:nvSpPr>
        <p:spPr>
          <a:xfrm>
            <a:off x="311700" y="1941125"/>
            <a:ext cx="8520600" cy="572700"/>
          </a:xfrm>
          <a:prstGeom prst="rect">
            <a:avLst/>
          </a:prstGeom>
        </p:spPr>
        <p:txBody>
          <a:bodyPr spcFirstLastPara="1" wrap="square" lIns="91425" tIns="91425" rIns="91425" bIns="91425" anchor="t" anchorCtr="0">
            <a:normAutofit fontScale="90000"/>
          </a:bodyPr>
          <a:lstStyle/>
          <a:p>
            <a:pPr marL="0" lvl="0" indent="0" algn="ctr" rtl="0">
              <a:lnSpc>
                <a:spcPct val="115000"/>
              </a:lnSpc>
              <a:spcBef>
                <a:spcPts val="1200"/>
              </a:spcBef>
              <a:spcAft>
                <a:spcPts val="0"/>
              </a:spcAft>
              <a:buNone/>
            </a:pPr>
            <a:r>
              <a:rPr lang="en" sz="2650" b="1"/>
              <a:t>Playing with classes and objects</a:t>
            </a:r>
            <a:endParaRPr sz="2650" b="1"/>
          </a:p>
          <a:p>
            <a:pPr marL="457200" lvl="0" indent="0" algn="l" rtl="0">
              <a:lnSpc>
                <a:spcPct val="115000"/>
              </a:lnSpc>
              <a:spcBef>
                <a:spcPts val="1200"/>
              </a:spcBef>
              <a:spcAft>
                <a:spcPts val="1200"/>
              </a:spcAft>
              <a:buNone/>
            </a:pPr>
            <a:endParaRPr sz="2000"/>
          </a:p>
        </p:txBody>
      </p:sp>
      <p:pic>
        <p:nvPicPr>
          <p:cNvPr id="100" name="Google Shape;100;p18"/>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101" name="Google Shape;101;p18"/>
          <p:cNvSpPr txBox="1"/>
          <p:nvPr/>
        </p:nvSpPr>
        <p:spPr>
          <a:xfrm>
            <a:off x="358850" y="1004775"/>
            <a:ext cx="8473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05"/>
        <p:cNvGrpSpPr/>
        <p:nvPr/>
      </p:nvGrpSpPr>
      <p:grpSpPr>
        <a:xfrm>
          <a:off x="0" y="0"/>
          <a:ext cx="0" cy="0"/>
          <a:chOff x="0" y="0"/>
          <a:chExt cx="0" cy="0"/>
        </a:xfrm>
      </p:grpSpPr>
      <p:sp>
        <p:nvSpPr>
          <p:cNvPr id="106" name="Google Shape;106;p19"/>
          <p:cNvSpPr txBox="1">
            <a:spLocks noGrp="1"/>
          </p:cNvSpPr>
          <p:nvPr>
            <p:ph type="title"/>
          </p:nvPr>
        </p:nvSpPr>
        <p:spPr>
          <a:xfrm>
            <a:off x="19050" y="2285400"/>
            <a:ext cx="9185100" cy="572700"/>
          </a:xfrm>
          <a:prstGeom prst="rect">
            <a:avLst/>
          </a:prstGeom>
        </p:spPr>
        <p:txBody>
          <a:bodyPr spcFirstLastPara="1" wrap="square" lIns="91425" tIns="91425" rIns="91425" bIns="91425" anchor="t" anchorCtr="0">
            <a:normAutofit fontScale="90000"/>
          </a:bodyPr>
          <a:lstStyle/>
          <a:p>
            <a:pPr marL="0" lvl="0" indent="0" algn="ctr" rtl="0">
              <a:lnSpc>
                <a:spcPct val="115000"/>
              </a:lnSpc>
              <a:spcBef>
                <a:spcPts val="1200"/>
              </a:spcBef>
              <a:spcAft>
                <a:spcPts val="1200"/>
              </a:spcAft>
              <a:buNone/>
            </a:pPr>
            <a:r>
              <a:rPr lang="en" sz="2000" b="1" u="sng" dirty="0">
                <a:solidFill>
                  <a:schemeClr val="hlink"/>
                </a:solidFill>
              </a:rPr>
              <a:t>Interview Questions</a:t>
            </a:r>
            <a:endParaRPr sz="2000" dirty="0"/>
          </a:p>
        </p:txBody>
      </p:sp>
      <p:pic>
        <p:nvPicPr>
          <p:cNvPr id="107" name="Google Shape;107;p19"/>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307</Words>
  <Application>Microsoft Office PowerPoint</Application>
  <PresentationFormat>On-screen Show (16:9)</PresentationFormat>
  <Paragraphs>24</Paragraphs>
  <Slides>7</Slides>
  <Notes>7</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7</vt:i4>
      </vt:variant>
    </vt:vector>
  </HeadingPairs>
  <TitlesOfParts>
    <vt:vector size="9" baseType="lpstr">
      <vt:lpstr>Arial</vt:lpstr>
      <vt:lpstr>Simple Light</vt:lpstr>
      <vt:lpstr>PowerPoint Presentation</vt:lpstr>
      <vt:lpstr>PowerPoint Presentation</vt:lpstr>
      <vt:lpstr>PowerPoint Presentation</vt:lpstr>
      <vt:lpstr>PowerPoint Presentation</vt:lpstr>
      <vt:lpstr>PowerPoint Presentation</vt:lpstr>
      <vt:lpstr>Playing with classes and objects </vt:lpstr>
      <vt:lpstr>Interview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Пользователь</cp:lastModifiedBy>
  <cp:revision>1</cp:revision>
  <dcterms:modified xsi:type="dcterms:W3CDTF">2023-02-23T14:14:19Z</dcterms:modified>
</cp:coreProperties>
</file>