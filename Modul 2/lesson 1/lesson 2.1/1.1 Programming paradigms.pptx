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512876e585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512876e585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512876e585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512876e58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1512876e585_0_2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1512876e585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512876e585_0_1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1512876e585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512876e585_0_2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512876e585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69f270de1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169f270de1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t="33150" b="31095"/>
          <a:stretch/>
        </p:blipFill>
        <p:spPr>
          <a:xfrm>
            <a:off x="0" y="0"/>
            <a:ext cx="1304100" cy="466275"/>
          </a:xfrm>
          <a:prstGeom prst="rect">
            <a:avLst/>
          </a:prstGeom>
          <a:noFill/>
          <a:ln>
            <a:noFill/>
          </a:ln>
        </p:spPr>
      </p:pic>
      <p:sp>
        <p:nvSpPr>
          <p:cNvPr id="55" name="Google Shape;55;p13"/>
          <p:cNvSpPr txBox="1"/>
          <p:nvPr/>
        </p:nvSpPr>
        <p:spPr>
          <a:xfrm>
            <a:off x="740375" y="1886850"/>
            <a:ext cx="7733700" cy="58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600" b="1"/>
              <a:t>Programming paradigms</a:t>
            </a:r>
            <a:endParaRPr sz="2600" b="1">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1" name="Google Shape;61;p14"/>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Programming paradigms</a:t>
            </a:r>
            <a:endParaRPr sz="2000"/>
          </a:p>
        </p:txBody>
      </p:sp>
      <p:sp>
        <p:nvSpPr>
          <p:cNvPr id="62" name="Google Shape;62;p14"/>
          <p:cNvSpPr txBox="1"/>
          <p:nvPr/>
        </p:nvSpPr>
        <p:spPr>
          <a:xfrm>
            <a:off x="835125" y="965725"/>
            <a:ext cx="7446000" cy="2124000"/>
          </a:xfrm>
          <a:prstGeom prst="rect">
            <a:avLst/>
          </a:prstGeom>
          <a:noFill/>
          <a:ln>
            <a:noFill/>
          </a:ln>
        </p:spPr>
        <p:txBody>
          <a:bodyPr spcFirstLastPara="1" wrap="square" lIns="91425" tIns="91425" rIns="91425" bIns="91425" anchor="t" anchorCtr="0">
            <a:spAutoFit/>
          </a:bodyPr>
          <a:lstStyle/>
          <a:p>
            <a:pPr marL="0" lvl="0" indent="457200" algn="just" rtl="0">
              <a:spcBef>
                <a:spcPts val="0"/>
              </a:spcBef>
              <a:spcAft>
                <a:spcPts val="0"/>
              </a:spcAft>
              <a:buNone/>
            </a:pPr>
            <a:r>
              <a:rPr lang="en"/>
              <a:t>Paradigm can also be termed as method to solve some problem or do some task. Programming paradigm is an approach to solve problem using some programming language or also we can say it is a method to solve a problem using tools and techniques that are available to us following some approach. </a:t>
            </a:r>
            <a:endParaRPr/>
          </a:p>
          <a:p>
            <a:pPr marL="0" lvl="0" indent="457200" algn="just" rtl="0">
              <a:spcBef>
                <a:spcPts val="0"/>
              </a:spcBef>
              <a:spcAft>
                <a:spcPts val="0"/>
              </a:spcAft>
              <a:buNone/>
            </a:pPr>
            <a:endParaRPr/>
          </a:p>
          <a:p>
            <a:pPr marL="457200" lvl="0" indent="-317500" algn="just" rtl="0">
              <a:spcBef>
                <a:spcPts val="0"/>
              </a:spcBef>
              <a:spcAft>
                <a:spcPts val="0"/>
              </a:spcAft>
              <a:buSzPts val="1400"/>
              <a:buChar char="●"/>
            </a:pPr>
            <a:r>
              <a:rPr lang="en"/>
              <a:t>Procedural Programming</a:t>
            </a:r>
            <a:endParaRPr/>
          </a:p>
          <a:p>
            <a:pPr marL="457200" lvl="0" indent="-317500" algn="just" rtl="0">
              <a:spcBef>
                <a:spcPts val="0"/>
              </a:spcBef>
              <a:spcAft>
                <a:spcPts val="0"/>
              </a:spcAft>
              <a:buSzPts val="1400"/>
              <a:buChar char="●"/>
            </a:pPr>
            <a:r>
              <a:rPr lang="en">
                <a:solidFill>
                  <a:schemeClr val="dk1"/>
                </a:solidFill>
              </a:rPr>
              <a:t>Object Oriented Programming</a:t>
            </a:r>
            <a:endParaRPr/>
          </a:p>
          <a:p>
            <a:pPr marL="457200" lvl="0" indent="-317500" algn="just" rtl="0">
              <a:spcBef>
                <a:spcPts val="0"/>
              </a:spcBef>
              <a:spcAft>
                <a:spcPts val="0"/>
              </a:spcAft>
              <a:buSzPts val="1400"/>
              <a:buChar char="●"/>
            </a:pPr>
            <a:r>
              <a:rPr lang="en"/>
              <a:t>Functional Programming</a:t>
            </a:r>
            <a:endParaRPr/>
          </a:p>
          <a:p>
            <a:pPr marL="457200" lvl="0" indent="-317500" algn="just" rtl="0">
              <a:spcBef>
                <a:spcPts val="0"/>
              </a:spcBef>
              <a:spcAft>
                <a:spcPts val="0"/>
              </a:spcAft>
              <a:buSzPts val="1400"/>
              <a:buChar char="●"/>
            </a:pPr>
            <a:r>
              <a:rPr lang="en"/>
              <a:t>Reactive Programming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8" name="Google Shape;68;p15"/>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Procedural Programming</a:t>
            </a:r>
            <a:endParaRPr sz="2000"/>
          </a:p>
        </p:txBody>
      </p:sp>
      <p:sp>
        <p:nvSpPr>
          <p:cNvPr id="69" name="Google Shape;69;p15"/>
          <p:cNvSpPr txBox="1"/>
          <p:nvPr/>
        </p:nvSpPr>
        <p:spPr>
          <a:xfrm>
            <a:off x="605950" y="921313"/>
            <a:ext cx="7859400" cy="12621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Procedural Programming can be defined as a programming model which is derived from structured programming, based upon the concept of calling procedure. Procedures, also known as routines, subroutines or functions, simply consist of a series of computational steps to be carried out. During a program’s execution, any given procedure might be called at any point, including by other procedures or itself. </a:t>
            </a:r>
            <a:endParaRPr/>
          </a:p>
        </p:txBody>
      </p:sp>
      <p:sp>
        <p:nvSpPr>
          <p:cNvPr id="70" name="Google Shape;70;p15"/>
          <p:cNvSpPr/>
          <p:nvPr/>
        </p:nvSpPr>
        <p:spPr>
          <a:xfrm>
            <a:off x="3818239" y="2306025"/>
            <a:ext cx="1507500" cy="4545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Main Function </a:t>
            </a:r>
            <a:endParaRPr/>
          </a:p>
        </p:txBody>
      </p:sp>
      <p:sp>
        <p:nvSpPr>
          <p:cNvPr id="71" name="Google Shape;71;p15"/>
          <p:cNvSpPr/>
          <p:nvPr/>
        </p:nvSpPr>
        <p:spPr>
          <a:xfrm>
            <a:off x="2310800" y="3100435"/>
            <a:ext cx="1507500" cy="4545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Function 1</a:t>
            </a:r>
            <a:endParaRPr/>
          </a:p>
        </p:txBody>
      </p:sp>
      <p:sp>
        <p:nvSpPr>
          <p:cNvPr id="72" name="Google Shape;72;p15"/>
          <p:cNvSpPr/>
          <p:nvPr/>
        </p:nvSpPr>
        <p:spPr>
          <a:xfrm>
            <a:off x="5325678" y="3059683"/>
            <a:ext cx="1507500" cy="4545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Function 2</a:t>
            </a:r>
            <a:endParaRPr/>
          </a:p>
        </p:txBody>
      </p:sp>
      <p:sp>
        <p:nvSpPr>
          <p:cNvPr id="73" name="Google Shape;73;p15"/>
          <p:cNvSpPr/>
          <p:nvPr/>
        </p:nvSpPr>
        <p:spPr>
          <a:xfrm>
            <a:off x="3818239" y="3813341"/>
            <a:ext cx="1507500" cy="4545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Function N</a:t>
            </a:r>
            <a:endParaRPr/>
          </a:p>
        </p:txBody>
      </p:sp>
      <p:cxnSp>
        <p:nvCxnSpPr>
          <p:cNvPr id="74" name="Google Shape;74;p15"/>
          <p:cNvCxnSpPr>
            <a:stCxn id="70" idx="1"/>
            <a:endCxn id="71" idx="0"/>
          </p:cNvCxnSpPr>
          <p:nvPr/>
        </p:nvCxnSpPr>
        <p:spPr>
          <a:xfrm flipH="1">
            <a:off x="3064639" y="2533275"/>
            <a:ext cx="753600" cy="567300"/>
          </a:xfrm>
          <a:prstGeom prst="straightConnector1">
            <a:avLst/>
          </a:prstGeom>
          <a:noFill/>
          <a:ln w="9525" cap="flat" cmpd="sng">
            <a:solidFill>
              <a:srgbClr val="000000"/>
            </a:solidFill>
            <a:prstDash val="solid"/>
            <a:round/>
            <a:headEnd type="none" w="med" len="med"/>
            <a:tailEnd type="none" w="med" len="med"/>
          </a:ln>
        </p:spPr>
      </p:cxnSp>
      <p:cxnSp>
        <p:nvCxnSpPr>
          <p:cNvPr id="75" name="Google Shape;75;p15"/>
          <p:cNvCxnSpPr>
            <a:stCxn id="70" idx="3"/>
            <a:endCxn id="72" idx="0"/>
          </p:cNvCxnSpPr>
          <p:nvPr/>
        </p:nvCxnSpPr>
        <p:spPr>
          <a:xfrm>
            <a:off x="5325739" y="2533275"/>
            <a:ext cx="753600" cy="526500"/>
          </a:xfrm>
          <a:prstGeom prst="straightConnector1">
            <a:avLst/>
          </a:prstGeom>
          <a:noFill/>
          <a:ln w="9525" cap="flat" cmpd="sng">
            <a:solidFill>
              <a:srgbClr val="000000"/>
            </a:solidFill>
            <a:prstDash val="solid"/>
            <a:round/>
            <a:headEnd type="none" w="med" len="med"/>
            <a:tailEnd type="none" w="med" len="med"/>
          </a:ln>
        </p:spPr>
      </p:cxnSp>
      <p:cxnSp>
        <p:nvCxnSpPr>
          <p:cNvPr id="76" name="Google Shape;76;p15"/>
          <p:cNvCxnSpPr>
            <a:stCxn id="70" idx="2"/>
            <a:endCxn id="73" idx="0"/>
          </p:cNvCxnSpPr>
          <p:nvPr/>
        </p:nvCxnSpPr>
        <p:spPr>
          <a:xfrm>
            <a:off x="4571989" y="2760525"/>
            <a:ext cx="0" cy="1052700"/>
          </a:xfrm>
          <a:prstGeom prst="straightConnector1">
            <a:avLst/>
          </a:prstGeom>
          <a:noFill/>
          <a:ln w="9525" cap="flat" cmpd="sng">
            <a:solidFill>
              <a:srgbClr val="000000"/>
            </a:solidFill>
            <a:prstDash val="solid"/>
            <a:round/>
            <a:headEnd type="none" w="med" len="med"/>
            <a:tailEnd type="none" w="med" len="med"/>
          </a:ln>
        </p:spPr>
      </p:cxnSp>
      <p:cxnSp>
        <p:nvCxnSpPr>
          <p:cNvPr id="77" name="Google Shape;77;p15"/>
          <p:cNvCxnSpPr>
            <a:stCxn id="71" idx="3"/>
            <a:endCxn id="73" idx="0"/>
          </p:cNvCxnSpPr>
          <p:nvPr/>
        </p:nvCxnSpPr>
        <p:spPr>
          <a:xfrm>
            <a:off x="3818300" y="3327685"/>
            <a:ext cx="753600" cy="485700"/>
          </a:xfrm>
          <a:prstGeom prst="straightConnector1">
            <a:avLst/>
          </a:prstGeom>
          <a:noFill/>
          <a:ln w="9525" cap="flat" cmpd="sng">
            <a:solidFill>
              <a:srgbClr val="000000"/>
            </a:solidFill>
            <a:prstDash val="solid"/>
            <a:round/>
            <a:headEnd type="none" w="med" len="med"/>
            <a:tailEnd type="none" w="med" len="med"/>
          </a:ln>
        </p:spPr>
      </p:cxnSp>
      <p:cxnSp>
        <p:nvCxnSpPr>
          <p:cNvPr id="78" name="Google Shape;78;p15"/>
          <p:cNvCxnSpPr>
            <a:stCxn id="72" idx="1"/>
            <a:endCxn id="73" idx="0"/>
          </p:cNvCxnSpPr>
          <p:nvPr/>
        </p:nvCxnSpPr>
        <p:spPr>
          <a:xfrm flipH="1">
            <a:off x="4572078" y="3286933"/>
            <a:ext cx="753600" cy="526500"/>
          </a:xfrm>
          <a:prstGeom prst="straightConnector1">
            <a:avLst/>
          </a:prstGeom>
          <a:noFill/>
          <a:ln w="9525" cap="flat" cmpd="sng">
            <a:solidFill>
              <a:srgbClr val="000000"/>
            </a:solidFill>
            <a:prstDash val="solid"/>
            <a:round/>
            <a:headEnd type="none" w="med" len="med"/>
            <a:tailEnd type="none" w="med" len="med"/>
          </a:ln>
        </p:spPr>
      </p:cxnSp>
      <p:cxnSp>
        <p:nvCxnSpPr>
          <p:cNvPr id="79" name="Google Shape;79;p15"/>
          <p:cNvCxnSpPr>
            <a:stCxn id="73" idx="3"/>
            <a:endCxn id="72" idx="2"/>
          </p:cNvCxnSpPr>
          <p:nvPr/>
        </p:nvCxnSpPr>
        <p:spPr>
          <a:xfrm rot="10800000" flipH="1">
            <a:off x="5325739" y="3514091"/>
            <a:ext cx="753600" cy="526500"/>
          </a:xfrm>
          <a:prstGeom prst="straightConnector1">
            <a:avLst/>
          </a:prstGeom>
          <a:noFill/>
          <a:ln w="9525" cap="flat" cmpd="sng">
            <a:solidFill>
              <a:srgbClr val="000000"/>
            </a:solidFill>
            <a:prstDash val="solid"/>
            <a:round/>
            <a:headEnd type="none" w="med" len="med"/>
            <a:tailEnd type="none" w="med" len="med"/>
          </a:ln>
        </p:spPr>
      </p:cxnSp>
      <p:cxnSp>
        <p:nvCxnSpPr>
          <p:cNvPr id="80" name="Google Shape;80;p15"/>
          <p:cNvCxnSpPr>
            <a:stCxn id="73" idx="1"/>
            <a:endCxn id="71" idx="2"/>
          </p:cNvCxnSpPr>
          <p:nvPr/>
        </p:nvCxnSpPr>
        <p:spPr>
          <a:xfrm rot="10800000">
            <a:off x="3064639" y="3554891"/>
            <a:ext cx="753600" cy="485700"/>
          </a:xfrm>
          <a:prstGeom prst="straightConnector1">
            <a:avLst/>
          </a:prstGeom>
          <a:noFill/>
          <a:ln w="9525" cap="flat" cmpd="sng">
            <a:solidFill>
              <a:srgbClr val="000000"/>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4"/>
        <p:cNvGrpSpPr/>
        <p:nvPr/>
      </p:nvGrpSpPr>
      <p:grpSpPr>
        <a:xfrm>
          <a:off x="0" y="0"/>
          <a:ext cx="0" cy="0"/>
          <a:chOff x="0" y="0"/>
          <a:chExt cx="0" cy="0"/>
        </a:xfrm>
      </p:grpSpPr>
      <p:pic>
        <p:nvPicPr>
          <p:cNvPr id="85" name="Google Shape;85;p16"/>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86" name="Google Shape;86;p16"/>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Object Oriented Programming</a:t>
            </a:r>
            <a:endParaRPr sz="2000"/>
          </a:p>
        </p:txBody>
      </p:sp>
      <p:sp>
        <p:nvSpPr>
          <p:cNvPr id="87" name="Google Shape;87;p16"/>
          <p:cNvSpPr txBox="1"/>
          <p:nvPr/>
        </p:nvSpPr>
        <p:spPr>
          <a:xfrm>
            <a:off x="580700" y="859413"/>
            <a:ext cx="7859400" cy="6156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Object-oriented programming (OOP) in Java is a programming methodology or paradigm (model)  to design a computer program using classes and objects.</a:t>
            </a:r>
            <a:endParaRPr/>
          </a:p>
        </p:txBody>
      </p:sp>
      <p:sp>
        <p:nvSpPr>
          <p:cNvPr id="88" name="Google Shape;88;p16"/>
          <p:cNvSpPr/>
          <p:nvPr/>
        </p:nvSpPr>
        <p:spPr>
          <a:xfrm>
            <a:off x="2064774" y="1516525"/>
            <a:ext cx="1567200" cy="13185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6"/>
          <p:cNvSpPr txBox="1"/>
          <p:nvPr/>
        </p:nvSpPr>
        <p:spPr>
          <a:xfrm>
            <a:off x="2060500" y="1535663"/>
            <a:ext cx="1575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Object A</a:t>
            </a:r>
            <a:endParaRPr/>
          </a:p>
        </p:txBody>
      </p:sp>
      <p:sp>
        <p:nvSpPr>
          <p:cNvPr id="90" name="Google Shape;90;p16"/>
          <p:cNvSpPr/>
          <p:nvPr/>
        </p:nvSpPr>
        <p:spPr>
          <a:xfrm>
            <a:off x="2341150" y="1876100"/>
            <a:ext cx="1053900" cy="322200"/>
          </a:xfrm>
          <a:prstGeom prst="roundRect">
            <a:avLst>
              <a:gd name="adj" fmla="val 16667"/>
            </a:avLst>
          </a:prstGeom>
          <a:solidFill>
            <a:srgbClr val="F6B26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highlight>
                  <a:srgbClr val="F6B26B"/>
                </a:highlight>
              </a:rPr>
              <a:t>Data</a:t>
            </a:r>
            <a:endParaRPr>
              <a:highlight>
                <a:srgbClr val="F6B26B"/>
              </a:highlight>
            </a:endParaRPr>
          </a:p>
        </p:txBody>
      </p:sp>
      <p:sp>
        <p:nvSpPr>
          <p:cNvPr id="91" name="Google Shape;91;p16"/>
          <p:cNvSpPr/>
          <p:nvPr/>
        </p:nvSpPr>
        <p:spPr>
          <a:xfrm>
            <a:off x="2327025" y="2325900"/>
            <a:ext cx="1061100" cy="346800"/>
          </a:xfrm>
          <a:prstGeom prst="roundRect">
            <a:avLst>
              <a:gd name="adj" fmla="val 16667"/>
            </a:avLst>
          </a:prstGeom>
          <a:solidFill>
            <a:srgbClr val="F6B26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Function</a:t>
            </a:r>
            <a:endParaRPr/>
          </a:p>
        </p:txBody>
      </p:sp>
      <p:sp>
        <p:nvSpPr>
          <p:cNvPr id="92" name="Google Shape;92;p16"/>
          <p:cNvSpPr/>
          <p:nvPr/>
        </p:nvSpPr>
        <p:spPr>
          <a:xfrm>
            <a:off x="5340527" y="1516584"/>
            <a:ext cx="1567200" cy="13185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6"/>
          <p:cNvSpPr txBox="1"/>
          <p:nvPr/>
        </p:nvSpPr>
        <p:spPr>
          <a:xfrm>
            <a:off x="5351225" y="1535613"/>
            <a:ext cx="1504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Object B</a:t>
            </a:r>
            <a:endParaRPr/>
          </a:p>
        </p:txBody>
      </p:sp>
      <p:sp>
        <p:nvSpPr>
          <p:cNvPr id="94" name="Google Shape;94;p16"/>
          <p:cNvSpPr/>
          <p:nvPr/>
        </p:nvSpPr>
        <p:spPr>
          <a:xfrm>
            <a:off x="5597184" y="1912768"/>
            <a:ext cx="1053900" cy="322200"/>
          </a:xfrm>
          <a:prstGeom prst="roundRect">
            <a:avLst>
              <a:gd name="adj" fmla="val 16667"/>
            </a:avLst>
          </a:prstGeom>
          <a:solidFill>
            <a:srgbClr val="F6B26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highlight>
                  <a:srgbClr val="F6B26B"/>
                </a:highlight>
              </a:rPr>
              <a:t>Data</a:t>
            </a:r>
            <a:endParaRPr>
              <a:highlight>
                <a:srgbClr val="F6B26B"/>
              </a:highlight>
            </a:endParaRPr>
          </a:p>
        </p:txBody>
      </p:sp>
      <p:sp>
        <p:nvSpPr>
          <p:cNvPr id="95" name="Google Shape;95;p16"/>
          <p:cNvSpPr/>
          <p:nvPr/>
        </p:nvSpPr>
        <p:spPr>
          <a:xfrm>
            <a:off x="5600300" y="2325900"/>
            <a:ext cx="1061100" cy="346800"/>
          </a:xfrm>
          <a:prstGeom prst="roundRect">
            <a:avLst>
              <a:gd name="adj" fmla="val 16667"/>
            </a:avLst>
          </a:prstGeom>
          <a:solidFill>
            <a:srgbClr val="F6B26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Function</a:t>
            </a:r>
            <a:endParaRPr/>
          </a:p>
        </p:txBody>
      </p:sp>
      <p:sp>
        <p:nvSpPr>
          <p:cNvPr id="96" name="Google Shape;96;p16"/>
          <p:cNvSpPr/>
          <p:nvPr/>
        </p:nvSpPr>
        <p:spPr>
          <a:xfrm>
            <a:off x="3708401" y="3237724"/>
            <a:ext cx="1567200" cy="12858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6"/>
          <p:cNvSpPr txBox="1"/>
          <p:nvPr/>
        </p:nvSpPr>
        <p:spPr>
          <a:xfrm>
            <a:off x="3739735" y="3237724"/>
            <a:ext cx="1504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Object C</a:t>
            </a:r>
            <a:endParaRPr/>
          </a:p>
        </p:txBody>
      </p:sp>
      <p:cxnSp>
        <p:nvCxnSpPr>
          <p:cNvPr id="98" name="Google Shape;98;p16"/>
          <p:cNvCxnSpPr>
            <a:stCxn id="91" idx="2"/>
            <a:endCxn id="99" idx="1"/>
          </p:cNvCxnSpPr>
          <p:nvPr/>
        </p:nvCxnSpPr>
        <p:spPr>
          <a:xfrm>
            <a:off x="2857575" y="2672700"/>
            <a:ext cx="1145400" cy="1543500"/>
          </a:xfrm>
          <a:prstGeom prst="straightConnector1">
            <a:avLst/>
          </a:prstGeom>
          <a:noFill/>
          <a:ln w="9525" cap="flat" cmpd="sng">
            <a:solidFill>
              <a:srgbClr val="000000"/>
            </a:solidFill>
            <a:prstDash val="solid"/>
            <a:round/>
            <a:headEnd type="none" w="med" len="med"/>
            <a:tailEnd type="triangle" w="med" len="med"/>
          </a:ln>
        </p:spPr>
      </p:cxnSp>
      <p:cxnSp>
        <p:nvCxnSpPr>
          <p:cNvPr id="100" name="Google Shape;100;p16"/>
          <p:cNvCxnSpPr>
            <a:stCxn id="95" idx="2"/>
            <a:endCxn id="99" idx="3"/>
          </p:cNvCxnSpPr>
          <p:nvPr/>
        </p:nvCxnSpPr>
        <p:spPr>
          <a:xfrm flipH="1">
            <a:off x="5017550" y="2672700"/>
            <a:ext cx="1113300" cy="1543500"/>
          </a:xfrm>
          <a:prstGeom prst="straightConnector1">
            <a:avLst/>
          </a:prstGeom>
          <a:noFill/>
          <a:ln w="9525" cap="flat" cmpd="sng">
            <a:solidFill>
              <a:srgbClr val="000000"/>
            </a:solidFill>
            <a:prstDash val="solid"/>
            <a:round/>
            <a:headEnd type="none" w="med" len="med"/>
            <a:tailEnd type="triangle" w="med" len="med"/>
          </a:ln>
        </p:spPr>
      </p:cxnSp>
      <p:cxnSp>
        <p:nvCxnSpPr>
          <p:cNvPr id="101" name="Google Shape;101;p16"/>
          <p:cNvCxnSpPr>
            <a:stCxn id="91" idx="3"/>
            <a:endCxn id="95" idx="1"/>
          </p:cNvCxnSpPr>
          <p:nvPr/>
        </p:nvCxnSpPr>
        <p:spPr>
          <a:xfrm>
            <a:off x="3388125" y="2499300"/>
            <a:ext cx="2212200" cy="0"/>
          </a:xfrm>
          <a:prstGeom prst="straightConnector1">
            <a:avLst/>
          </a:prstGeom>
          <a:noFill/>
          <a:ln w="9525" cap="flat" cmpd="sng">
            <a:solidFill>
              <a:srgbClr val="000000"/>
            </a:solidFill>
            <a:prstDash val="solid"/>
            <a:round/>
            <a:headEnd type="none" w="med" len="med"/>
            <a:tailEnd type="triangle" w="med" len="med"/>
          </a:ln>
        </p:spPr>
      </p:cxnSp>
      <p:sp>
        <p:nvSpPr>
          <p:cNvPr id="102" name="Google Shape;102;p16"/>
          <p:cNvSpPr/>
          <p:nvPr/>
        </p:nvSpPr>
        <p:spPr>
          <a:xfrm>
            <a:off x="4018926" y="3637925"/>
            <a:ext cx="973200" cy="322200"/>
          </a:xfrm>
          <a:prstGeom prst="roundRect">
            <a:avLst>
              <a:gd name="adj" fmla="val 16667"/>
            </a:avLst>
          </a:prstGeom>
          <a:solidFill>
            <a:srgbClr val="F6B26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highlight>
                  <a:srgbClr val="F6B26B"/>
                </a:highlight>
              </a:rPr>
              <a:t>Data</a:t>
            </a:r>
            <a:endParaRPr>
              <a:highlight>
                <a:srgbClr val="F6B26B"/>
              </a:highlight>
            </a:endParaRPr>
          </a:p>
        </p:txBody>
      </p:sp>
      <p:sp>
        <p:nvSpPr>
          <p:cNvPr id="103" name="Google Shape;103;p16"/>
          <p:cNvSpPr/>
          <p:nvPr/>
        </p:nvSpPr>
        <p:spPr>
          <a:xfrm>
            <a:off x="4021803" y="4051053"/>
            <a:ext cx="979800" cy="346800"/>
          </a:xfrm>
          <a:prstGeom prst="roundRect">
            <a:avLst>
              <a:gd name="adj" fmla="val 16667"/>
            </a:avLst>
          </a:prstGeom>
          <a:solidFill>
            <a:srgbClr val="F6B26B"/>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Function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07"/>
        <p:cNvGrpSpPr/>
        <p:nvPr/>
      </p:nvGrpSpPr>
      <p:grpSpPr>
        <a:xfrm>
          <a:off x="0" y="0"/>
          <a:ext cx="0" cy="0"/>
          <a:chOff x="0" y="0"/>
          <a:chExt cx="0" cy="0"/>
        </a:xfrm>
      </p:grpSpPr>
      <p:pic>
        <p:nvPicPr>
          <p:cNvPr id="108" name="Google Shape;108;p17"/>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09" name="Google Shape;109;p17"/>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Functional Programming</a:t>
            </a:r>
            <a:endParaRPr sz="2000"/>
          </a:p>
        </p:txBody>
      </p:sp>
      <p:sp>
        <p:nvSpPr>
          <p:cNvPr id="110" name="Google Shape;110;p17"/>
          <p:cNvSpPr txBox="1"/>
          <p:nvPr/>
        </p:nvSpPr>
        <p:spPr>
          <a:xfrm>
            <a:off x="612325" y="965725"/>
            <a:ext cx="7859400" cy="12621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Functional programming is a programming paradigm in which we try to bind everything in pure mathematical functions style. It is a declarative type of programming style. Its main focus is on </a:t>
            </a:r>
            <a:r>
              <a:rPr lang="en" b="1"/>
              <a:t>“what to solve”</a:t>
            </a:r>
            <a:r>
              <a:rPr lang="en"/>
              <a:t> in contrast to an imperative style where the main focus is </a:t>
            </a:r>
            <a:r>
              <a:rPr lang="en" b="1"/>
              <a:t>“how to solve”</a:t>
            </a:r>
            <a:r>
              <a:rPr lang="en"/>
              <a:t>. It uses expressions instead of statements. An expression is evaluated to produce a value whereas a statement is executed to assign variables.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14"/>
        <p:cNvGrpSpPr/>
        <p:nvPr/>
      </p:nvGrpSpPr>
      <p:grpSpPr>
        <a:xfrm>
          <a:off x="0" y="0"/>
          <a:ext cx="0" cy="0"/>
          <a:chOff x="0" y="0"/>
          <a:chExt cx="0" cy="0"/>
        </a:xfrm>
      </p:grpSpPr>
      <p:pic>
        <p:nvPicPr>
          <p:cNvPr id="115" name="Google Shape;115;p18"/>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16" name="Google Shape;116;p18"/>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Reactive Programming</a:t>
            </a:r>
            <a:endParaRPr sz="2000"/>
          </a:p>
        </p:txBody>
      </p:sp>
      <p:sp>
        <p:nvSpPr>
          <p:cNvPr id="117" name="Google Shape;117;p18"/>
          <p:cNvSpPr txBox="1"/>
          <p:nvPr/>
        </p:nvSpPr>
        <p:spPr>
          <a:xfrm>
            <a:off x="612325" y="965725"/>
            <a:ext cx="7859400" cy="10467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Reactive programming is a programming paradigm oriented around data flows and the propagation of change. This means that it should be possible to express static or dynamic data flows with ease in the programming languages used, and that the underlying execution model will automatically propagate changes through the data flow.</a:t>
            </a:r>
            <a:endParaRPr/>
          </a:p>
        </p:txBody>
      </p:sp>
      <p:pic>
        <p:nvPicPr>
          <p:cNvPr id="118" name="Google Shape;118;p18"/>
          <p:cNvPicPr preferRelativeResize="0"/>
          <p:nvPr/>
        </p:nvPicPr>
        <p:blipFill>
          <a:blip r:embed="rId4">
            <a:alphaModFix/>
          </a:blip>
          <a:stretch>
            <a:fillRect/>
          </a:stretch>
        </p:blipFill>
        <p:spPr>
          <a:xfrm>
            <a:off x="1922875" y="2098925"/>
            <a:ext cx="5238301" cy="2743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22"/>
        <p:cNvGrpSpPr/>
        <p:nvPr/>
      </p:nvGrpSpPr>
      <p:grpSpPr>
        <a:xfrm>
          <a:off x="0" y="0"/>
          <a:ext cx="0" cy="0"/>
          <a:chOff x="0" y="0"/>
          <a:chExt cx="0" cy="0"/>
        </a:xfrm>
      </p:grpSpPr>
      <p:sp>
        <p:nvSpPr>
          <p:cNvPr id="123" name="Google Shape;123;p19"/>
          <p:cNvSpPr txBox="1">
            <a:spLocks noGrp="1"/>
          </p:cNvSpPr>
          <p:nvPr>
            <p:ph type="title"/>
          </p:nvPr>
        </p:nvSpPr>
        <p:spPr>
          <a:xfrm>
            <a:off x="19050" y="2285400"/>
            <a:ext cx="91851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000" b="1" u="sng" dirty="0">
                <a:solidFill>
                  <a:schemeClr val="hlink"/>
                </a:solidFill>
              </a:rPr>
              <a:t>Interview Questions</a:t>
            </a:r>
            <a:endParaRPr sz="2000" dirty="0"/>
          </a:p>
        </p:txBody>
      </p:sp>
      <p:pic>
        <p:nvPicPr>
          <p:cNvPr id="124" name="Google Shape;124;p19"/>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327</Words>
  <Application>Microsoft Office PowerPoint</Application>
  <PresentationFormat>On-screen Show (16:9)</PresentationFormat>
  <Paragraphs>30</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Interview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Пользователь</cp:lastModifiedBy>
  <cp:revision>1</cp:revision>
  <dcterms:modified xsi:type="dcterms:W3CDTF">2023-02-23T14:13:59Z</dcterms:modified>
</cp:coreProperties>
</file>