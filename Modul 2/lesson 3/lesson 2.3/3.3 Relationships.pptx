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7BCF72-DD07-4BFF-9037-4C128EA87D92}">
  <a:tblStyle styleId="{EE7BCF72-DD07-4BFF-9037-4C128EA87D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6c651e9c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6c651e9c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6cc560ba6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6cc560ba6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6cc560ba6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6cc560ba6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92b3202c7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392b3202c7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6cc560ba6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6cc560ba6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6cc560ba64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6cc560ba64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6c651e9c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6c651e9c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0" y="0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1886850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b="1">
                <a:solidFill>
                  <a:schemeClr val="dk1"/>
                </a:solidFill>
              </a:rPr>
              <a:t>Relationships</a:t>
            </a:r>
            <a:endParaRPr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Relationships between Classes</a:t>
            </a:r>
            <a:endParaRPr sz="2000" b="1"/>
          </a:p>
        </p:txBody>
      </p:sp>
      <p:sp>
        <p:nvSpPr>
          <p:cNvPr id="62" name="Google Shape;62;p14"/>
          <p:cNvSpPr/>
          <p:nvPr/>
        </p:nvSpPr>
        <p:spPr>
          <a:xfrm>
            <a:off x="3276097" y="940027"/>
            <a:ext cx="2423100" cy="5775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</a:rPr>
              <a:t>ClassA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388157" y="2510120"/>
            <a:ext cx="2199000" cy="75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</a:rPr>
              <a:t>Has-A Relationship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012075" y="2510120"/>
            <a:ext cx="2199000" cy="7530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</a:rPr>
              <a:t>Uses-A Relationship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764239" y="2510120"/>
            <a:ext cx="2199000" cy="7530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</a:rPr>
              <a:t>Is-A Relationship</a:t>
            </a:r>
            <a:endParaRPr sz="1800" b="1">
              <a:solidFill>
                <a:srgbClr val="FFFFFF"/>
              </a:solidFill>
            </a:endParaRPr>
          </a:p>
        </p:txBody>
      </p:sp>
      <p:cxnSp>
        <p:nvCxnSpPr>
          <p:cNvPr id="66" name="Google Shape;66;p14"/>
          <p:cNvCxnSpPr/>
          <p:nvPr/>
        </p:nvCxnSpPr>
        <p:spPr>
          <a:xfrm rot="5400000">
            <a:off x="3991355" y="2007177"/>
            <a:ext cx="992700" cy="13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67" name="Google Shape;67;p14"/>
          <p:cNvCxnSpPr>
            <a:stCxn id="62" idx="2"/>
            <a:endCxn id="64" idx="0"/>
          </p:cNvCxnSpPr>
          <p:nvPr/>
        </p:nvCxnSpPr>
        <p:spPr>
          <a:xfrm rot="5400000">
            <a:off x="2803297" y="825877"/>
            <a:ext cx="992700" cy="23760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68" name="Google Shape;68;p14"/>
          <p:cNvCxnSpPr>
            <a:stCxn id="62" idx="2"/>
            <a:endCxn id="65" idx="0"/>
          </p:cNvCxnSpPr>
          <p:nvPr/>
        </p:nvCxnSpPr>
        <p:spPr>
          <a:xfrm rot="-5400000" flipH="1">
            <a:off x="5179297" y="825877"/>
            <a:ext cx="992700" cy="23760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</p:spPr>
      </p:cxnSp>
      <p:sp>
        <p:nvSpPr>
          <p:cNvPr id="69" name="Google Shape;69;p14"/>
          <p:cNvSpPr/>
          <p:nvPr/>
        </p:nvSpPr>
        <p:spPr>
          <a:xfrm>
            <a:off x="2200116" y="3889864"/>
            <a:ext cx="2199000" cy="7530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</a:rPr>
              <a:t>Aggregation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576198" y="3889864"/>
            <a:ext cx="2199000" cy="7530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FFFF"/>
                </a:solidFill>
              </a:rPr>
              <a:t>Composition</a:t>
            </a:r>
            <a:endParaRPr sz="1800" b="1">
              <a:solidFill>
                <a:srgbClr val="FFFFFF"/>
              </a:solidFill>
            </a:endParaRPr>
          </a:p>
        </p:txBody>
      </p:sp>
      <p:cxnSp>
        <p:nvCxnSpPr>
          <p:cNvPr id="71" name="Google Shape;71;p14"/>
          <p:cNvCxnSpPr>
            <a:stCxn id="63" idx="2"/>
            <a:endCxn id="69" idx="0"/>
          </p:cNvCxnSpPr>
          <p:nvPr/>
        </p:nvCxnSpPr>
        <p:spPr>
          <a:xfrm rot="5400000">
            <a:off x="3580307" y="2982470"/>
            <a:ext cx="626700" cy="1188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</p:spPr>
      </p:cxnSp>
      <p:cxnSp>
        <p:nvCxnSpPr>
          <p:cNvPr id="72" name="Google Shape;72;p14"/>
          <p:cNvCxnSpPr>
            <a:stCxn id="63" idx="2"/>
            <a:endCxn id="70" idx="0"/>
          </p:cNvCxnSpPr>
          <p:nvPr/>
        </p:nvCxnSpPr>
        <p:spPr>
          <a:xfrm rot="-5400000" flipH="1">
            <a:off x="4768307" y="2982470"/>
            <a:ext cx="626700" cy="1188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diamond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302725" y="306125"/>
            <a:ext cx="85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Relationships between Classes</a:t>
            </a:r>
            <a:endParaRPr sz="2000" b="1"/>
          </a:p>
        </p:txBody>
      </p:sp>
      <p:sp>
        <p:nvSpPr>
          <p:cNvPr id="79" name="Google Shape;79;p15"/>
          <p:cNvSpPr txBox="1"/>
          <p:nvPr/>
        </p:nvSpPr>
        <p:spPr>
          <a:xfrm>
            <a:off x="515200" y="790025"/>
            <a:ext cx="80916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relationships in Java define the special relationships among different kinds of classes. There is a different kind of relationship among classes Shape, Circle, Rectangle, and Square. A Circle is a type of Shape. A Rectangle is a type of Shape. When we design a major application or program, we need to explore the relationships among classes.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Dependence (“Uses-A”)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Association (“Has-A”)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Inheritance (“Is-A”)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302725" y="306125"/>
            <a:ext cx="85659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Relationships between Classes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>
              <a:solidFill>
                <a:schemeClr val="dk1"/>
              </a:solidFill>
            </a:endParaRPr>
          </a:p>
        </p:txBody>
      </p:sp>
      <p:grpSp>
        <p:nvGrpSpPr>
          <p:cNvPr id="86" name="Google Shape;86;p16"/>
          <p:cNvGrpSpPr/>
          <p:nvPr/>
        </p:nvGrpSpPr>
        <p:grpSpPr>
          <a:xfrm>
            <a:off x="853800" y="1104400"/>
            <a:ext cx="7366500" cy="2770500"/>
            <a:chOff x="549000" y="1104400"/>
            <a:chExt cx="7366500" cy="2770500"/>
          </a:xfrm>
        </p:grpSpPr>
        <p:sp>
          <p:nvSpPr>
            <p:cNvPr id="87" name="Google Shape;87;p16"/>
            <p:cNvSpPr txBox="1"/>
            <p:nvPr/>
          </p:nvSpPr>
          <p:spPr>
            <a:xfrm>
              <a:off x="549000" y="1104400"/>
              <a:ext cx="2337300" cy="2770500"/>
            </a:xfrm>
            <a:prstGeom prst="rect">
              <a:avLst/>
            </a:prstGeom>
            <a:noFill/>
            <a:ln w="19050" cap="flat" cmpd="sng">
              <a:solidFill>
                <a:srgbClr val="99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class A{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// class body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class B{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void do(){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	A a = new A();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	// method body</a:t>
              </a:r>
              <a:endParaRPr/>
            </a:p>
            <a:p>
              <a:pPr marL="0" lvl="0" indent="4572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1098625" y="1835250"/>
              <a:ext cx="186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990000"/>
                  </a:solidFill>
                </a:rPr>
                <a:t>Uses-A Relationship</a:t>
              </a:r>
              <a:endParaRPr sz="1200" b="1">
                <a:solidFill>
                  <a:srgbClr val="990000"/>
                </a:solidFill>
              </a:endParaRPr>
            </a:p>
          </p:txBody>
        </p:sp>
        <p:cxnSp>
          <p:nvCxnSpPr>
            <p:cNvPr id="89" name="Google Shape;89;p16"/>
            <p:cNvCxnSpPr/>
            <p:nvPr/>
          </p:nvCxnSpPr>
          <p:spPr>
            <a:xfrm>
              <a:off x="2432650" y="2179250"/>
              <a:ext cx="9300" cy="5091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0" name="Google Shape;90;p16"/>
            <p:cNvCxnSpPr/>
            <p:nvPr/>
          </p:nvCxnSpPr>
          <p:spPr>
            <a:xfrm rot="10800000">
              <a:off x="1340600" y="2170000"/>
              <a:ext cx="1101300" cy="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" name="Google Shape;91;p16"/>
            <p:cNvSpPr txBox="1"/>
            <p:nvPr/>
          </p:nvSpPr>
          <p:spPr>
            <a:xfrm>
              <a:off x="3063600" y="1104400"/>
              <a:ext cx="2337300" cy="2770500"/>
            </a:xfrm>
            <a:prstGeom prst="rect">
              <a:avLst/>
            </a:prstGeom>
            <a:noFill/>
            <a:ln w="19050" cap="flat" cmpd="sng">
              <a:solidFill>
                <a:srgbClr val="99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class A{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// class body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class B{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</a:t>
              </a:r>
              <a:r>
                <a:rPr lang="en">
                  <a:solidFill>
                    <a:schemeClr val="dk1"/>
                  </a:solidFill>
                </a:rPr>
                <a:t>A a = new A();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void do(){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	// method body</a:t>
              </a:r>
              <a:endParaRPr/>
            </a:p>
            <a:p>
              <a:pPr marL="0" lvl="0" indent="4572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3638700" y="1800700"/>
              <a:ext cx="1657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990000"/>
                  </a:solidFill>
                </a:rPr>
                <a:t>Has-A Relationship</a:t>
              </a:r>
              <a:endParaRPr sz="1200" b="1">
                <a:solidFill>
                  <a:srgbClr val="990000"/>
                </a:solidFill>
              </a:endParaRPr>
            </a:p>
          </p:txBody>
        </p:sp>
        <p:cxnSp>
          <p:nvCxnSpPr>
            <p:cNvPr id="93" name="Google Shape;93;p16"/>
            <p:cNvCxnSpPr/>
            <p:nvPr/>
          </p:nvCxnSpPr>
          <p:spPr>
            <a:xfrm>
              <a:off x="4458438" y="2160750"/>
              <a:ext cx="17700" cy="2967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4" name="Google Shape;94;p16"/>
            <p:cNvCxnSpPr>
              <a:stCxn id="92" idx="2"/>
            </p:cNvCxnSpPr>
            <p:nvPr/>
          </p:nvCxnSpPr>
          <p:spPr>
            <a:xfrm flipH="1">
              <a:off x="3838500" y="2170000"/>
              <a:ext cx="628800" cy="93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5" name="Google Shape;95;p16"/>
            <p:cNvSpPr txBox="1"/>
            <p:nvPr/>
          </p:nvSpPr>
          <p:spPr>
            <a:xfrm>
              <a:off x="5578200" y="1104400"/>
              <a:ext cx="2337300" cy="2770500"/>
            </a:xfrm>
            <a:prstGeom prst="rect">
              <a:avLst/>
            </a:prstGeom>
            <a:noFill/>
            <a:ln w="19050" cap="flat" cmpd="sng">
              <a:solidFill>
                <a:srgbClr val="99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class A{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// class body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class B extends A{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void do(){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		// method body</a:t>
              </a:r>
              <a:endParaRPr/>
            </a:p>
            <a:p>
              <a:pPr marL="0" lvl="0" indent="45720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}</a:t>
              </a:r>
              <a:endParaRPr/>
            </a:p>
          </p:txBody>
        </p:sp>
        <p:sp>
          <p:nvSpPr>
            <p:cNvPr id="96" name="Google Shape;96;p16"/>
            <p:cNvSpPr txBox="1"/>
            <p:nvPr/>
          </p:nvSpPr>
          <p:spPr>
            <a:xfrm>
              <a:off x="5836400" y="1682850"/>
              <a:ext cx="148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990000"/>
                  </a:solidFill>
                </a:rPr>
                <a:t>Is-A Relationship </a:t>
              </a:r>
              <a:endParaRPr sz="1200" b="1">
                <a:solidFill>
                  <a:srgbClr val="990000"/>
                </a:solidFill>
              </a:endParaRPr>
            </a:p>
          </p:txBody>
        </p:sp>
        <p:cxnSp>
          <p:nvCxnSpPr>
            <p:cNvPr id="97" name="Google Shape;97;p16"/>
            <p:cNvCxnSpPr/>
            <p:nvPr/>
          </p:nvCxnSpPr>
          <p:spPr>
            <a:xfrm>
              <a:off x="6150075" y="2116600"/>
              <a:ext cx="7800" cy="1428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8" name="Google Shape;98;p16"/>
            <p:cNvCxnSpPr/>
            <p:nvPr/>
          </p:nvCxnSpPr>
          <p:spPr>
            <a:xfrm>
              <a:off x="7012050" y="2116600"/>
              <a:ext cx="7800" cy="14280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9" name="Google Shape;99;p16"/>
            <p:cNvCxnSpPr/>
            <p:nvPr/>
          </p:nvCxnSpPr>
          <p:spPr>
            <a:xfrm>
              <a:off x="6142550" y="2116600"/>
              <a:ext cx="871800" cy="0"/>
            </a:xfrm>
            <a:prstGeom prst="straightConnector1">
              <a:avLst/>
            </a:prstGeom>
            <a:noFill/>
            <a:ln w="19050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0" y="35535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Association, Aggregation vs Composition</a:t>
            </a:r>
            <a:endParaRPr sz="2000" b="1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820325" y="1074650"/>
            <a:ext cx="7637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similarity among Association, aggregation, and composition are that they are core concepts of OOPs and represent Has-A relationship between two classes.</a:t>
            </a:r>
            <a:endParaRPr/>
          </a:p>
        </p:txBody>
      </p:sp>
      <p:grpSp>
        <p:nvGrpSpPr>
          <p:cNvPr id="107" name="Google Shape;107;p17"/>
          <p:cNvGrpSpPr/>
          <p:nvPr/>
        </p:nvGrpSpPr>
        <p:grpSpPr>
          <a:xfrm>
            <a:off x="2654450" y="1806786"/>
            <a:ext cx="3061506" cy="2335847"/>
            <a:chOff x="2132875" y="2644950"/>
            <a:chExt cx="2592300" cy="1924250"/>
          </a:xfrm>
        </p:grpSpPr>
        <p:sp>
          <p:nvSpPr>
            <p:cNvPr id="108" name="Google Shape;108;p17"/>
            <p:cNvSpPr/>
            <p:nvPr/>
          </p:nvSpPr>
          <p:spPr>
            <a:xfrm>
              <a:off x="2132875" y="2707100"/>
              <a:ext cx="2592300" cy="1862100"/>
            </a:xfrm>
            <a:prstGeom prst="rect">
              <a:avLst/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452825" y="3051650"/>
              <a:ext cx="1952400" cy="1236900"/>
            </a:xfrm>
            <a:prstGeom prst="rect">
              <a:avLst/>
            </a:prstGeom>
            <a:solidFill>
              <a:srgbClr val="FF99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2745325" y="3371575"/>
              <a:ext cx="1367400" cy="715200"/>
            </a:xfrm>
            <a:prstGeom prst="rect">
              <a:avLst/>
            </a:prstGeom>
            <a:solidFill>
              <a:srgbClr val="99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2745325" y="2644950"/>
              <a:ext cx="13674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Association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2745325" y="3009550"/>
              <a:ext cx="13674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Aggregation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2745325" y="3470000"/>
              <a:ext cx="1367400" cy="32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lt1"/>
                  </a:solidFill>
                </a:rPr>
                <a:t>Composition</a:t>
              </a:r>
              <a:endParaRPr b="1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0" y="35535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Difference between Association, Aggregation, and Composition</a:t>
            </a:r>
            <a:endParaRPr sz="2000" b="1">
              <a:solidFill>
                <a:schemeClr val="dk1"/>
              </a:solidFill>
            </a:endParaRPr>
          </a:p>
        </p:txBody>
      </p:sp>
      <p:graphicFrame>
        <p:nvGraphicFramePr>
          <p:cNvPr id="120" name="Google Shape;120;p18"/>
          <p:cNvGraphicFramePr/>
          <p:nvPr/>
        </p:nvGraphicFramePr>
        <p:xfrm>
          <a:off x="952500" y="103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{EE7BCF72-DD07-4BFF-9037-4C128EA87D92}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Association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Aggregation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</a:rPr>
                        <a:t>Composition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Association established the relation between two classes that is independent of each other.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 Aggregation defines a special form of unidirectional association between two classes.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Composition represents a special and more restrictive form of aggregation where an object cannot exist on its own.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 association, there is no owner relationship.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 aggregation, one of the objects is the owner of the Has-A relationship.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 composition, both the entities are associated with each other and cannot exist on their own.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Association defines the relationships as one-to-one, one-to-many, many-to-one, and many-to-many.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It defines only a unidirectional relationship.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It represents an exclusive whole-part relationship.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19050" y="2285400"/>
            <a:ext cx="9185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126" name="Google Shape;126;p19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</Words>
  <Application>Microsoft Office PowerPoint</Application>
  <PresentationFormat>On-screen Show (16:9)</PresentationFormat>
  <Paragraphs>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Interview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2023-02-23T14:17:33Z</dcterms:modified>
</cp:coreProperties>
</file>