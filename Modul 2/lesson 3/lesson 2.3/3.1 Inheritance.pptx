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Source Code Pro SemiBold" panose="020B0609030403020204" pitchFamily="49"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4" d="100"/>
          <a:sy n="114" d="100"/>
        </p:scale>
        <p:origin x="562" y="8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525a437474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525a43747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525a437474_0_1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525a437474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392b3202c7_0_8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392b3202c7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1392b3202c7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1392b3202c7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392b3202c7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392b3202c7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392b3202c7_0_1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1392b3202c7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392b3202c7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1392b3202c7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1392b3202c7_0_2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1392b3202c7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525a437474_0_1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525a437474_0_1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75aaf062e8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75aaf062e8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6c651e9c4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6c651e9c4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t="33150" b="31095"/>
          <a:stretch/>
        </p:blipFill>
        <p:spPr>
          <a:xfrm>
            <a:off x="0" y="0"/>
            <a:ext cx="1304100" cy="466275"/>
          </a:xfrm>
          <a:prstGeom prst="rect">
            <a:avLst/>
          </a:prstGeom>
          <a:noFill/>
          <a:ln>
            <a:noFill/>
          </a:ln>
        </p:spPr>
      </p:pic>
      <p:sp>
        <p:nvSpPr>
          <p:cNvPr id="55" name="Google Shape;55;p13"/>
          <p:cNvSpPr txBox="1"/>
          <p:nvPr/>
        </p:nvSpPr>
        <p:spPr>
          <a:xfrm>
            <a:off x="0" y="1886850"/>
            <a:ext cx="9144000" cy="585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600" b="1"/>
              <a:t>Inheritance</a:t>
            </a:r>
            <a:endParaRPr sz="2600" b="1">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9"/>
        <p:cNvGrpSpPr/>
        <p:nvPr/>
      </p:nvGrpSpPr>
      <p:grpSpPr>
        <a:xfrm>
          <a:off x="0" y="0"/>
          <a:ext cx="0" cy="0"/>
          <a:chOff x="0" y="0"/>
          <a:chExt cx="0" cy="0"/>
        </a:xfrm>
      </p:grpSpPr>
      <p:pic>
        <p:nvPicPr>
          <p:cNvPr id="60" name="Google Shape;60;p14"/>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1" name="Google Shape;61;p14"/>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Inheritance</a:t>
            </a:r>
            <a:endParaRPr sz="2000"/>
          </a:p>
        </p:txBody>
      </p:sp>
      <p:sp>
        <p:nvSpPr>
          <p:cNvPr id="62" name="Google Shape;62;p14"/>
          <p:cNvSpPr txBox="1"/>
          <p:nvPr/>
        </p:nvSpPr>
        <p:spPr>
          <a:xfrm>
            <a:off x="626175" y="797375"/>
            <a:ext cx="7854000" cy="12621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t>Inheritance is one of fundamental concept of object-oriented programming. The idea behind inheritance is that you can create new classes that are built on existing classes. When you inherit from an existing class, you reuse (or inherit) its methods, and you can add new methods and fields to adapt your new class to new situations. This technique is essential in Java programming.</a:t>
            </a:r>
            <a:endParaRPr/>
          </a:p>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66"/>
        <p:cNvGrpSpPr/>
        <p:nvPr/>
      </p:nvGrpSpPr>
      <p:grpSpPr>
        <a:xfrm>
          <a:off x="0" y="0"/>
          <a:ext cx="0" cy="0"/>
          <a:chOff x="0" y="0"/>
          <a:chExt cx="0" cy="0"/>
        </a:xfrm>
      </p:grpSpPr>
      <p:sp>
        <p:nvSpPr>
          <p:cNvPr id="67" name="Google Shape;67;p15"/>
          <p:cNvSpPr txBox="1"/>
          <p:nvPr/>
        </p:nvSpPr>
        <p:spPr>
          <a:xfrm>
            <a:off x="302725" y="306125"/>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Types of Inheritance in Java</a:t>
            </a:r>
            <a:endParaRPr sz="2000" b="1">
              <a:solidFill>
                <a:schemeClr val="dk1"/>
              </a:solidFill>
            </a:endParaRPr>
          </a:p>
        </p:txBody>
      </p:sp>
      <p:pic>
        <p:nvPicPr>
          <p:cNvPr id="68" name="Google Shape;68;p15"/>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69" name="Google Shape;69;p15"/>
          <p:cNvSpPr/>
          <p:nvPr/>
        </p:nvSpPr>
        <p:spPr>
          <a:xfrm>
            <a:off x="3687916" y="1012525"/>
            <a:ext cx="2219700" cy="532500"/>
          </a:xfrm>
          <a:prstGeom prst="roundRect">
            <a:avLst>
              <a:gd name="adj" fmla="val 16667"/>
            </a:avLst>
          </a:prstGeom>
          <a:solidFill>
            <a:srgbClr val="674EA7"/>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Inheritance</a:t>
            </a:r>
            <a:endParaRPr sz="1800" b="1">
              <a:solidFill>
                <a:srgbClr val="FFFFFF"/>
              </a:solidFill>
            </a:endParaRPr>
          </a:p>
        </p:txBody>
      </p:sp>
      <p:sp>
        <p:nvSpPr>
          <p:cNvPr id="70" name="Google Shape;70;p15"/>
          <p:cNvSpPr/>
          <p:nvPr/>
        </p:nvSpPr>
        <p:spPr>
          <a:xfrm>
            <a:off x="4144514" y="2470245"/>
            <a:ext cx="1928100" cy="532500"/>
          </a:xfrm>
          <a:prstGeom prst="roundRect">
            <a:avLst>
              <a:gd name="adj" fmla="val 16667"/>
            </a:avLst>
          </a:prstGeom>
          <a:solidFill>
            <a:srgbClr val="99000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Multiple</a:t>
            </a:r>
            <a:endParaRPr sz="1800" b="1">
              <a:solidFill>
                <a:srgbClr val="FFFFFF"/>
              </a:solidFill>
            </a:endParaRPr>
          </a:p>
        </p:txBody>
      </p:sp>
      <p:sp>
        <p:nvSpPr>
          <p:cNvPr id="71" name="Google Shape;71;p15"/>
          <p:cNvSpPr/>
          <p:nvPr/>
        </p:nvSpPr>
        <p:spPr>
          <a:xfrm>
            <a:off x="1209246" y="2470245"/>
            <a:ext cx="2219700" cy="532500"/>
          </a:xfrm>
          <a:prstGeom prst="roundRect">
            <a:avLst>
              <a:gd name="adj" fmla="val 16667"/>
            </a:avLst>
          </a:prstGeom>
          <a:solidFill>
            <a:srgbClr val="38761D"/>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Single</a:t>
            </a:r>
            <a:endParaRPr sz="1800" b="1">
              <a:solidFill>
                <a:srgbClr val="FFFFFF"/>
              </a:solidFill>
            </a:endParaRPr>
          </a:p>
        </p:txBody>
      </p:sp>
      <p:sp>
        <p:nvSpPr>
          <p:cNvPr id="72" name="Google Shape;72;p15"/>
          <p:cNvSpPr/>
          <p:nvPr/>
        </p:nvSpPr>
        <p:spPr>
          <a:xfrm>
            <a:off x="6481428" y="2470245"/>
            <a:ext cx="1644000" cy="532500"/>
          </a:xfrm>
          <a:prstGeom prst="roundRect">
            <a:avLst>
              <a:gd name="adj" fmla="val 16667"/>
            </a:avLst>
          </a:prstGeom>
          <a:solidFill>
            <a:srgbClr val="BF9000"/>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Hybrid</a:t>
            </a:r>
            <a:endParaRPr sz="1800" b="1">
              <a:solidFill>
                <a:srgbClr val="FFFFFF"/>
              </a:solidFill>
            </a:endParaRPr>
          </a:p>
        </p:txBody>
      </p:sp>
      <p:sp>
        <p:nvSpPr>
          <p:cNvPr id="73" name="Google Shape;73;p15"/>
          <p:cNvSpPr/>
          <p:nvPr/>
        </p:nvSpPr>
        <p:spPr>
          <a:xfrm>
            <a:off x="1209246" y="3502796"/>
            <a:ext cx="2219700" cy="532500"/>
          </a:xfrm>
          <a:prstGeom prst="roundRect">
            <a:avLst>
              <a:gd name="adj" fmla="val 16667"/>
            </a:avLst>
          </a:prstGeom>
          <a:solidFill>
            <a:srgbClr val="3C78D8"/>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Multilevel</a:t>
            </a:r>
            <a:endParaRPr sz="1800" b="1">
              <a:solidFill>
                <a:srgbClr val="FFFFFF"/>
              </a:solidFill>
            </a:endParaRPr>
          </a:p>
        </p:txBody>
      </p:sp>
      <p:sp>
        <p:nvSpPr>
          <p:cNvPr id="74" name="Google Shape;74;p15"/>
          <p:cNvSpPr/>
          <p:nvPr/>
        </p:nvSpPr>
        <p:spPr>
          <a:xfrm>
            <a:off x="1209246" y="4353132"/>
            <a:ext cx="2219700" cy="532500"/>
          </a:xfrm>
          <a:prstGeom prst="roundRect">
            <a:avLst>
              <a:gd name="adj" fmla="val 16667"/>
            </a:avLst>
          </a:prstGeom>
          <a:solidFill>
            <a:srgbClr val="666666"/>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Hierarchical</a:t>
            </a:r>
            <a:endParaRPr sz="1800" b="1">
              <a:solidFill>
                <a:srgbClr val="FFFFFF"/>
              </a:solidFill>
            </a:endParaRPr>
          </a:p>
        </p:txBody>
      </p:sp>
      <p:cxnSp>
        <p:nvCxnSpPr>
          <p:cNvPr id="75" name="Google Shape;75;p15"/>
          <p:cNvCxnSpPr>
            <a:stCxn id="69" idx="2"/>
            <a:endCxn id="71" idx="0"/>
          </p:cNvCxnSpPr>
          <p:nvPr/>
        </p:nvCxnSpPr>
        <p:spPr>
          <a:xfrm rot="5400000">
            <a:off x="3095866" y="768325"/>
            <a:ext cx="925200" cy="2478600"/>
          </a:xfrm>
          <a:prstGeom prst="bentConnector3">
            <a:avLst>
              <a:gd name="adj1" fmla="val 50000"/>
            </a:avLst>
          </a:prstGeom>
          <a:noFill/>
          <a:ln w="19050" cap="flat" cmpd="sng">
            <a:solidFill>
              <a:srgbClr val="000000"/>
            </a:solidFill>
            <a:prstDash val="solid"/>
            <a:round/>
            <a:headEnd type="diamond" w="med" len="med"/>
            <a:tailEnd type="triangle" w="med" len="med"/>
          </a:ln>
        </p:spPr>
      </p:cxnSp>
      <p:cxnSp>
        <p:nvCxnSpPr>
          <p:cNvPr id="76" name="Google Shape;76;p15"/>
          <p:cNvCxnSpPr>
            <a:stCxn id="69" idx="2"/>
            <a:endCxn id="72" idx="0"/>
          </p:cNvCxnSpPr>
          <p:nvPr/>
        </p:nvCxnSpPr>
        <p:spPr>
          <a:xfrm rot="-5400000" flipH="1">
            <a:off x="5587966" y="754825"/>
            <a:ext cx="925200" cy="2505600"/>
          </a:xfrm>
          <a:prstGeom prst="bentConnector3">
            <a:avLst>
              <a:gd name="adj1" fmla="val 50000"/>
            </a:avLst>
          </a:prstGeom>
          <a:noFill/>
          <a:ln w="19050" cap="flat" cmpd="sng">
            <a:solidFill>
              <a:srgbClr val="000000"/>
            </a:solidFill>
            <a:prstDash val="solid"/>
            <a:round/>
            <a:headEnd type="diamond" w="med" len="med"/>
            <a:tailEnd type="triangle" w="med" len="med"/>
          </a:ln>
        </p:spPr>
      </p:cxnSp>
      <p:cxnSp>
        <p:nvCxnSpPr>
          <p:cNvPr id="77" name="Google Shape;77;p15"/>
          <p:cNvCxnSpPr>
            <a:stCxn id="69" idx="2"/>
            <a:endCxn id="70" idx="0"/>
          </p:cNvCxnSpPr>
          <p:nvPr/>
        </p:nvCxnSpPr>
        <p:spPr>
          <a:xfrm rot="-5400000" flipH="1">
            <a:off x="4490566" y="1852225"/>
            <a:ext cx="925200" cy="310800"/>
          </a:xfrm>
          <a:prstGeom prst="bentConnector3">
            <a:avLst>
              <a:gd name="adj1" fmla="val 50000"/>
            </a:avLst>
          </a:prstGeom>
          <a:noFill/>
          <a:ln w="19050" cap="flat" cmpd="sng">
            <a:solidFill>
              <a:srgbClr val="000000"/>
            </a:solidFill>
            <a:prstDash val="solid"/>
            <a:round/>
            <a:headEnd type="diamond" w="med" len="med"/>
            <a:tailEnd type="triangle" w="med" len="med"/>
          </a:ln>
        </p:spPr>
      </p:cxnSp>
      <p:cxnSp>
        <p:nvCxnSpPr>
          <p:cNvPr id="78" name="Google Shape;78;p15"/>
          <p:cNvCxnSpPr>
            <a:stCxn id="71" idx="1"/>
            <a:endCxn id="73" idx="1"/>
          </p:cNvCxnSpPr>
          <p:nvPr/>
        </p:nvCxnSpPr>
        <p:spPr>
          <a:xfrm>
            <a:off x="1209246" y="2736495"/>
            <a:ext cx="600" cy="1032600"/>
          </a:xfrm>
          <a:prstGeom prst="bentConnector3">
            <a:avLst>
              <a:gd name="adj1" fmla="val -39687500"/>
            </a:avLst>
          </a:prstGeom>
          <a:noFill/>
          <a:ln w="19050" cap="flat" cmpd="sng">
            <a:solidFill>
              <a:srgbClr val="000000"/>
            </a:solidFill>
            <a:prstDash val="solid"/>
            <a:round/>
            <a:headEnd type="none" w="med" len="med"/>
            <a:tailEnd type="triangle" w="med" len="med"/>
          </a:ln>
        </p:spPr>
      </p:cxnSp>
      <p:cxnSp>
        <p:nvCxnSpPr>
          <p:cNvPr id="79" name="Google Shape;79;p15"/>
          <p:cNvCxnSpPr>
            <a:stCxn id="71" idx="1"/>
            <a:endCxn id="74" idx="1"/>
          </p:cNvCxnSpPr>
          <p:nvPr/>
        </p:nvCxnSpPr>
        <p:spPr>
          <a:xfrm>
            <a:off x="1209246" y="2736495"/>
            <a:ext cx="600" cy="1882800"/>
          </a:xfrm>
          <a:prstGeom prst="bentConnector3">
            <a:avLst>
              <a:gd name="adj1" fmla="val -39687500"/>
            </a:avLst>
          </a:prstGeom>
          <a:noFill/>
          <a:ln w="19050" cap="flat" cmpd="sng">
            <a:solidFill>
              <a:srgbClr val="000000"/>
            </a:solidFill>
            <a:prstDash val="solid"/>
            <a:round/>
            <a:headEnd type="diamond" w="med" len="med"/>
            <a:tailEnd type="triangle" w="med" len="med"/>
          </a:ln>
        </p:spPr>
      </p:cxnSp>
      <p:sp>
        <p:nvSpPr>
          <p:cNvPr id="80" name="Google Shape;80;p15"/>
          <p:cNvSpPr/>
          <p:nvPr/>
        </p:nvSpPr>
        <p:spPr>
          <a:xfrm>
            <a:off x="4807453" y="3229474"/>
            <a:ext cx="602100" cy="532500"/>
          </a:xfrm>
          <a:prstGeom prst="flowChartSummingJunction">
            <a:avLst/>
          </a:prstGeom>
          <a:noFill/>
          <a:ln w="28575" cap="flat" cmpd="sng">
            <a:solidFill>
              <a:srgbClr val="99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5"/>
          <p:cNvSpPr/>
          <p:nvPr/>
        </p:nvSpPr>
        <p:spPr>
          <a:xfrm>
            <a:off x="7002226" y="3229474"/>
            <a:ext cx="602100" cy="532500"/>
          </a:xfrm>
          <a:prstGeom prst="flowChartSummingJunction">
            <a:avLst/>
          </a:prstGeom>
          <a:noFill/>
          <a:ln w="28575" cap="flat" cmpd="sng">
            <a:solidFill>
              <a:srgbClr val="99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2" name="Google Shape;82;p15"/>
          <p:cNvCxnSpPr>
            <a:stCxn id="80" idx="0"/>
            <a:endCxn id="70" idx="2"/>
          </p:cNvCxnSpPr>
          <p:nvPr/>
        </p:nvCxnSpPr>
        <p:spPr>
          <a:xfrm rot="-5400000">
            <a:off x="4995403" y="3115774"/>
            <a:ext cx="226800" cy="600"/>
          </a:xfrm>
          <a:prstGeom prst="bentConnector3">
            <a:avLst>
              <a:gd name="adj1" fmla="val 50000"/>
            </a:avLst>
          </a:prstGeom>
          <a:noFill/>
          <a:ln w="19050" cap="flat" cmpd="sng">
            <a:solidFill>
              <a:srgbClr val="000000"/>
            </a:solidFill>
            <a:prstDash val="solid"/>
            <a:round/>
            <a:headEnd type="none" w="med" len="med"/>
            <a:tailEnd type="none" w="med" len="med"/>
          </a:ln>
        </p:spPr>
      </p:cxnSp>
      <p:cxnSp>
        <p:nvCxnSpPr>
          <p:cNvPr id="83" name="Google Shape;83;p15"/>
          <p:cNvCxnSpPr>
            <a:stCxn id="81" idx="0"/>
            <a:endCxn id="72" idx="2"/>
          </p:cNvCxnSpPr>
          <p:nvPr/>
        </p:nvCxnSpPr>
        <p:spPr>
          <a:xfrm rot="-5400000">
            <a:off x="7190176" y="3115774"/>
            <a:ext cx="226800" cy="600"/>
          </a:xfrm>
          <a:prstGeom prst="bentConnector3">
            <a:avLst>
              <a:gd name="adj1" fmla="val 50000"/>
            </a:avLst>
          </a:prstGeom>
          <a:noFill/>
          <a:ln w="19050" cap="flat" cmpd="sng">
            <a:solidFill>
              <a:srgbClr val="000000"/>
            </a:solidFill>
            <a:prstDash val="solid"/>
            <a:round/>
            <a:headEnd type="none" w="med" len="med"/>
            <a:tailEnd type="none" w="med" len="med"/>
          </a:ln>
        </p:spPr>
      </p:cxnSp>
      <p:sp>
        <p:nvSpPr>
          <p:cNvPr id="84" name="Google Shape;84;p15"/>
          <p:cNvSpPr txBox="1"/>
          <p:nvPr/>
        </p:nvSpPr>
        <p:spPr>
          <a:xfrm>
            <a:off x="4293781" y="3888169"/>
            <a:ext cx="38313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a:solidFill>
                  <a:srgbClr val="CC0000"/>
                </a:solidFill>
              </a:rPr>
              <a:t>Java does not support these two type of inheritance</a:t>
            </a:r>
            <a:endParaRPr>
              <a:solidFill>
                <a:srgbClr val="CC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88"/>
        <p:cNvGrpSpPr/>
        <p:nvPr/>
      </p:nvGrpSpPr>
      <p:grpSpPr>
        <a:xfrm>
          <a:off x="0" y="0"/>
          <a:ext cx="0" cy="0"/>
          <a:chOff x="0" y="0"/>
          <a:chExt cx="0" cy="0"/>
        </a:xfrm>
      </p:grpSpPr>
      <p:sp>
        <p:nvSpPr>
          <p:cNvPr id="89" name="Google Shape;89;p16"/>
          <p:cNvSpPr txBox="1"/>
          <p:nvPr/>
        </p:nvSpPr>
        <p:spPr>
          <a:xfrm>
            <a:off x="289050" y="358550"/>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Single Inheritance</a:t>
            </a:r>
            <a:endParaRPr sz="2000" b="1">
              <a:solidFill>
                <a:schemeClr val="dk1"/>
              </a:solidFill>
            </a:endParaRPr>
          </a:p>
        </p:txBody>
      </p:sp>
      <p:pic>
        <p:nvPicPr>
          <p:cNvPr id="90" name="Google Shape;90;p16"/>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91" name="Google Shape;91;p16"/>
          <p:cNvSpPr/>
          <p:nvPr/>
        </p:nvSpPr>
        <p:spPr>
          <a:xfrm>
            <a:off x="1039800" y="2943631"/>
            <a:ext cx="2716800" cy="1016400"/>
          </a:xfrm>
          <a:prstGeom prst="rect">
            <a:avLst/>
          </a:prstGeom>
          <a:solidFill>
            <a:srgbClr val="99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ClassB</a:t>
            </a:r>
            <a:endParaRPr sz="1800" b="1">
              <a:solidFill>
                <a:srgbClr val="FFFFFF"/>
              </a:solidFill>
            </a:endParaRPr>
          </a:p>
        </p:txBody>
      </p:sp>
      <p:sp>
        <p:nvSpPr>
          <p:cNvPr id="92" name="Google Shape;92;p16"/>
          <p:cNvSpPr/>
          <p:nvPr/>
        </p:nvSpPr>
        <p:spPr>
          <a:xfrm>
            <a:off x="1039800" y="1174150"/>
            <a:ext cx="2716800" cy="10164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t>ClassA</a:t>
            </a:r>
            <a:endParaRPr sz="1800" b="1"/>
          </a:p>
        </p:txBody>
      </p:sp>
      <p:cxnSp>
        <p:nvCxnSpPr>
          <p:cNvPr id="93" name="Google Shape;93;p16"/>
          <p:cNvCxnSpPr>
            <a:stCxn id="91" idx="0"/>
            <a:endCxn id="92" idx="2"/>
          </p:cNvCxnSpPr>
          <p:nvPr/>
        </p:nvCxnSpPr>
        <p:spPr>
          <a:xfrm rot="-5400000">
            <a:off x="2022000" y="2566831"/>
            <a:ext cx="753000" cy="600"/>
          </a:xfrm>
          <a:prstGeom prst="bentConnector3">
            <a:avLst>
              <a:gd name="adj1" fmla="val 50008"/>
            </a:avLst>
          </a:prstGeom>
          <a:noFill/>
          <a:ln w="19050" cap="flat" cmpd="sng">
            <a:solidFill>
              <a:srgbClr val="000000"/>
            </a:solidFill>
            <a:prstDash val="solid"/>
            <a:round/>
            <a:headEnd type="none" w="med" len="med"/>
            <a:tailEnd type="triangle" w="med" len="med"/>
          </a:ln>
        </p:spPr>
      </p:cxnSp>
      <p:sp>
        <p:nvSpPr>
          <p:cNvPr id="94" name="Google Shape;94;p16"/>
          <p:cNvSpPr txBox="1"/>
          <p:nvPr/>
        </p:nvSpPr>
        <p:spPr>
          <a:xfrm>
            <a:off x="4366875" y="1174150"/>
            <a:ext cx="3241500" cy="221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Implementation in java</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B extends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Clr>
                <a:schemeClr val="dk1"/>
              </a:buClr>
              <a:buSzPts val="1100"/>
              <a:buFont typeface="Arial"/>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98"/>
        <p:cNvGrpSpPr/>
        <p:nvPr/>
      </p:nvGrpSpPr>
      <p:grpSpPr>
        <a:xfrm>
          <a:off x="0" y="0"/>
          <a:ext cx="0" cy="0"/>
          <a:chOff x="0" y="0"/>
          <a:chExt cx="0" cy="0"/>
        </a:xfrm>
      </p:grpSpPr>
      <p:sp>
        <p:nvSpPr>
          <p:cNvPr id="99" name="Google Shape;99;p17"/>
          <p:cNvSpPr txBox="1"/>
          <p:nvPr/>
        </p:nvSpPr>
        <p:spPr>
          <a:xfrm>
            <a:off x="289050" y="358550"/>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Multilevel Inheritance</a:t>
            </a:r>
            <a:endParaRPr sz="2000" b="1">
              <a:solidFill>
                <a:schemeClr val="dk1"/>
              </a:solidFill>
            </a:endParaRPr>
          </a:p>
        </p:txBody>
      </p:sp>
      <p:pic>
        <p:nvPicPr>
          <p:cNvPr id="100" name="Google Shape;100;p17"/>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01" name="Google Shape;101;p17"/>
          <p:cNvSpPr txBox="1"/>
          <p:nvPr/>
        </p:nvSpPr>
        <p:spPr>
          <a:xfrm>
            <a:off x="3833475" y="1097950"/>
            <a:ext cx="32415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Implementation in java</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B extends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Clr>
                <a:schemeClr val="dk1"/>
              </a:buClr>
              <a:buSzPts val="1100"/>
              <a:buFont typeface="Arial"/>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Clr>
                <a:schemeClr val="dk1"/>
              </a:buClr>
              <a:buSzPts val="1100"/>
              <a:buFont typeface="Arial"/>
              <a:buNone/>
            </a:pPr>
            <a:r>
              <a:rPr lang="en" sz="1200">
                <a:solidFill>
                  <a:srgbClr val="1155CC"/>
                </a:solidFill>
                <a:latin typeface="Source Code Pro SemiBold"/>
                <a:ea typeface="Source Code Pro SemiBold"/>
                <a:cs typeface="Source Code Pro SemiBold"/>
                <a:sym typeface="Source Code Pro SemiBold"/>
              </a:rPr>
              <a:t>class C extends B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Clr>
                <a:schemeClr val="dk1"/>
              </a:buClr>
              <a:buSzPts val="1100"/>
              <a:buFont typeface="Arial"/>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Clr>
                <a:schemeClr val="dk1"/>
              </a:buClr>
              <a:buSzPts val="1100"/>
              <a:buFont typeface="Arial"/>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p:txBody>
      </p:sp>
      <p:sp>
        <p:nvSpPr>
          <p:cNvPr id="102" name="Google Shape;102;p17"/>
          <p:cNvSpPr/>
          <p:nvPr/>
        </p:nvSpPr>
        <p:spPr>
          <a:xfrm>
            <a:off x="1009250" y="2507672"/>
            <a:ext cx="2195700" cy="783600"/>
          </a:xfrm>
          <a:prstGeom prst="rect">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ClassB</a:t>
            </a:r>
            <a:endParaRPr sz="1800" b="1">
              <a:solidFill>
                <a:srgbClr val="FFFFFF"/>
              </a:solidFill>
            </a:endParaRPr>
          </a:p>
        </p:txBody>
      </p:sp>
      <p:sp>
        <p:nvSpPr>
          <p:cNvPr id="103" name="Google Shape;103;p17"/>
          <p:cNvSpPr/>
          <p:nvPr/>
        </p:nvSpPr>
        <p:spPr>
          <a:xfrm>
            <a:off x="1009485" y="1116200"/>
            <a:ext cx="2195700" cy="783600"/>
          </a:xfrm>
          <a:prstGeom prst="rect">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ClassA</a:t>
            </a:r>
            <a:endParaRPr sz="1800" b="1">
              <a:solidFill>
                <a:srgbClr val="FFFFFF"/>
              </a:solidFill>
            </a:endParaRPr>
          </a:p>
        </p:txBody>
      </p:sp>
      <p:cxnSp>
        <p:nvCxnSpPr>
          <p:cNvPr id="104" name="Google Shape;104;p17"/>
          <p:cNvCxnSpPr>
            <a:stCxn id="102" idx="0"/>
            <a:endCxn id="103" idx="2"/>
          </p:cNvCxnSpPr>
          <p:nvPr/>
        </p:nvCxnSpPr>
        <p:spPr>
          <a:xfrm rot="-5400000">
            <a:off x="1803500" y="2203472"/>
            <a:ext cx="607800" cy="600"/>
          </a:xfrm>
          <a:prstGeom prst="bentConnector3">
            <a:avLst>
              <a:gd name="adj1" fmla="val 50006"/>
            </a:avLst>
          </a:prstGeom>
          <a:noFill/>
          <a:ln w="19050" cap="flat" cmpd="sng">
            <a:solidFill>
              <a:srgbClr val="000000"/>
            </a:solidFill>
            <a:prstDash val="solid"/>
            <a:round/>
            <a:headEnd type="none" w="med" len="med"/>
            <a:tailEnd type="triangle" w="med" len="med"/>
          </a:ln>
        </p:spPr>
      </p:cxnSp>
      <p:sp>
        <p:nvSpPr>
          <p:cNvPr id="105" name="Google Shape;105;p17"/>
          <p:cNvSpPr/>
          <p:nvPr/>
        </p:nvSpPr>
        <p:spPr>
          <a:xfrm>
            <a:off x="1009250" y="3850703"/>
            <a:ext cx="2195700" cy="783600"/>
          </a:xfrm>
          <a:prstGeom prst="rect">
            <a:avLst/>
          </a:prstGeom>
          <a:solidFill>
            <a:srgbClr val="99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ClassC</a:t>
            </a:r>
            <a:endParaRPr sz="1800" b="1">
              <a:solidFill>
                <a:srgbClr val="FFFFFF"/>
              </a:solidFill>
            </a:endParaRPr>
          </a:p>
        </p:txBody>
      </p:sp>
      <p:cxnSp>
        <p:nvCxnSpPr>
          <p:cNvPr id="106" name="Google Shape;106;p17"/>
          <p:cNvCxnSpPr>
            <a:stCxn id="105" idx="0"/>
            <a:endCxn id="102" idx="2"/>
          </p:cNvCxnSpPr>
          <p:nvPr/>
        </p:nvCxnSpPr>
        <p:spPr>
          <a:xfrm rot="-5400000">
            <a:off x="1827650" y="3570653"/>
            <a:ext cx="559500" cy="600"/>
          </a:xfrm>
          <a:prstGeom prst="bentConnector3">
            <a:avLst>
              <a:gd name="adj1" fmla="val 49994"/>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10"/>
        <p:cNvGrpSpPr/>
        <p:nvPr/>
      </p:nvGrpSpPr>
      <p:grpSpPr>
        <a:xfrm>
          <a:off x="0" y="0"/>
          <a:ext cx="0" cy="0"/>
          <a:chOff x="0" y="0"/>
          <a:chExt cx="0" cy="0"/>
        </a:xfrm>
      </p:grpSpPr>
      <p:sp>
        <p:nvSpPr>
          <p:cNvPr id="111" name="Google Shape;111;p18"/>
          <p:cNvSpPr txBox="1"/>
          <p:nvPr/>
        </p:nvSpPr>
        <p:spPr>
          <a:xfrm>
            <a:off x="289050" y="358550"/>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Hierarchical Inheritance</a:t>
            </a:r>
            <a:endParaRPr sz="2000" b="1">
              <a:solidFill>
                <a:schemeClr val="dk1"/>
              </a:solidFill>
            </a:endParaRPr>
          </a:p>
        </p:txBody>
      </p:sp>
      <p:pic>
        <p:nvPicPr>
          <p:cNvPr id="112" name="Google Shape;112;p18"/>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13" name="Google Shape;113;p18"/>
          <p:cNvSpPr/>
          <p:nvPr/>
        </p:nvSpPr>
        <p:spPr>
          <a:xfrm>
            <a:off x="848575" y="3026156"/>
            <a:ext cx="2111400" cy="710400"/>
          </a:xfrm>
          <a:prstGeom prst="rect">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ClassB</a:t>
            </a:r>
            <a:endParaRPr sz="1800" b="1">
              <a:solidFill>
                <a:srgbClr val="FFFFFF"/>
              </a:solidFill>
            </a:endParaRPr>
          </a:p>
        </p:txBody>
      </p:sp>
      <p:sp>
        <p:nvSpPr>
          <p:cNvPr id="114" name="Google Shape;114;p18"/>
          <p:cNvSpPr/>
          <p:nvPr/>
        </p:nvSpPr>
        <p:spPr>
          <a:xfrm>
            <a:off x="2041956" y="1018050"/>
            <a:ext cx="2111400" cy="710400"/>
          </a:xfrm>
          <a:prstGeom prst="rect">
            <a:avLst/>
          </a:prstGeom>
          <a:solidFill>
            <a:srgbClr val="99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ClassA</a:t>
            </a:r>
            <a:endParaRPr sz="1800" b="1">
              <a:solidFill>
                <a:srgbClr val="FFFFFF"/>
              </a:solidFill>
            </a:endParaRPr>
          </a:p>
        </p:txBody>
      </p:sp>
      <p:cxnSp>
        <p:nvCxnSpPr>
          <p:cNvPr id="115" name="Google Shape;115;p18"/>
          <p:cNvCxnSpPr>
            <a:stCxn id="113" idx="0"/>
            <a:endCxn id="114" idx="2"/>
          </p:cNvCxnSpPr>
          <p:nvPr/>
        </p:nvCxnSpPr>
        <p:spPr>
          <a:xfrm rot="-5400000">
            <a:off x="1852075" y="1780556"/>
            <a:ext cx="1297800" cy="1193400"/>
          </a:xfrm>
          <a:prstGeom prst="bentConnector3">
            <a:avLst>
              <a:gd name="adj1" fmla="val 49996"/>
            </a:avLst>
          </a:prstGeom>
          <a:noFill/>
          <a:ln w="19050" cap="flat" cmpd="sng">
            <a:solidFill>
              <a:srgbClr val="000000"/>
            </a:solidFill>
            <a:prstDash val="solid"/>
            <a:round/>
            <a:headEnd type="none" w="med" len="med"/>
            <a:tailEnd type="triangle" w="med" len="med"/>
          </a:ln>
        </p:spPr>
      </p:cxnSp>
      <p:sp>
        <p:nvSpPr>
          <p:cNvPr id="116" name="Google Shape;116;p18"/>
          <p:cNvSpPr/>
          <p:nvPr/>
        </p:nvSpPr>
        <p:spPr>
          <a:xfrm>
            <a:off x="3299214" y="3026156"/>
            <a:ext cx="2111400" cy="710400"/>
          </a:xfrm>
          <a:prstGeom prst="rect">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ClassC</a:t>
            </a:r>
            <a:endParaRPr sz="1800" b="1">
              <a:solidFill>
                <a:srgbClr val="FFFFFF"/>
              </a:solidFill>
            </a:endParaRPr>
          </a:p>
        </p:txBody>
      </p:sp>
      <p:cxnSp>
        <p:nvCxnSpPr>
          <p:cNvPr id="117" name="Google Shape;117;p18"/>
          <p:cNvCxnSpPr>
            <a:stCxn id="116" idx="0"/>
            <a:endCxn id="114" idx="2"/>
          </p:cNvCxnSpPr>
          <p:nvPr/>
        </p:nvCxnSpPr>
        <p:spPr>
          <a:xfrm rot="5400000" flipH="1">
            <a:off x="3077364" y="1748606"/>
            <a:ext cx="1297800" cy="1257300"/>
          </a:xfrm>
          <a:prstGeom prst="bentConnector3">
            <a:avLst>
              <a:gd name="adj1" fmla="val 49996"/>
            </a:avLst>
          </a:prstGeom>
          <a:noFill/>
          <a:ln w="19050" cap="flat" cmpd="sng">
            <a:solidFill>
              <a:srgbClr val="000000"/>
            </a:solidFill>
            <a:prstDash val="solid"/>
            <a:round/>
            <a:headEnd type="none" w="med" len="med"/>
            <a:tailEnd type="triangle" w="med" len="med"/>
          </a:ln>
        </p:spPr>
      </p:cxnSp>
      <p:sp>
        <p:nvSpPr>
          <p:cNvPr id="118" name="Google Shape;118;p18"/>
          <p:cNvSpPr txBox="1"/>
          <p:nvPr/>
        </p:nvSpPr>
        <p:spPr>
          <a:xfrm>
            <a:off x="5738475" y="1097950"/>
            <a:ext cx="3241500" cy="3140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Implementation in java</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B extends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class C extends A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    ……………………</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r>
              <a:rPr lang="en" sz="1200">
                <a:solidFill>
                  <a:srgbClr val="1155CC"/>
                </a:solidFill>
                <a:latin typeface="Source Code Pro SemiBold"/>
                <a:ea typeface="Source Code Pro SemiBold"/>
                <a:cs typeface="Source Code Pro SemiBold"/>
                <a:sym typeface="Source Code Pro SemiBold"/>
              </a:rPr>
              <a:t>}</a:t>
            </a: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a:p>
            <a:pPr marL="0" lvl="0" indent="0" algn="l" rtl="0">
              <a:spcBef>
                <a:spcPts val="0"/>
              </a:spcBef>
              <a:spcAft>
                <a:spcPts val="0"/>
              </a:spcAft>
              <a:buNone/>
            </a:pPr>
            <a:endParaRPr sz="1200">
              <a:solidFill>
                <a:srgbClr val="1155CC"/>
              </a:solidFill>
              <a:latin typeface="Source Code Pro SemiBold"/>
              <a:ea typeface="Source Code Pro SemiBold"/>
              <a:cs typeface="Source Code Pro SemiBold"/>
              <a:sym typeface="Source Code Pro SemiBo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22"/>
        <p:cNvGrpSpPr/>
        <p:nvPr/>
      </p:nvGrpSpPr>
      <p:grpSpPr>
        <a:xfrm>
          <a:off x="0" y="0"/>
          <a:ext cx="0" cy="0"/>
          <a:chOff x="0" y="0"/>
          <a:chExt cx="0" cy="0"/>
        </a:xfrm>
      </p:grpSpPr>
      <p:sp>
        <p:nvSpPr>
          <p:cNvPr id="123" name="Google Shape;123;p19"/>
          <p:cNvSpPr txBox="1"/>
          <p:nvPr/>
        </p:nvSpPr>
        <p:spPr>
          <a:xfrm>
            <a:off x="289050" y="358550"/>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Multiple Inheritance</a:t>
            </a:r>
            <a:endParaRPr sz="2000" b="1">
              <a:solidFill>
                <a:schemeClr val="dk1"/>
              </a:solidFill>
            </a:endParaRPr>
          </a:p>
        </p:txBody>
      </p:sp>
      <p:pic>
        <p:nvPicPr>
          <p:cNvPr id="124" name="Google Shape;124;p19"/>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25" name="Google Shape;125;p19"/>
          <p:cNvSpPr txBox="1"/>
          <p:nvPr/>
        </p:nvSpPr>
        <p:spPr>
          <a:xfrm>
            <a:off x="1640600" y="4628925"/>
            <a:ext cx="5887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990000"/>
                </a:solidFill>
              </a:rPr>
              <a:t>Note:</a:t>
            </a:r>
            <a:r>
              <a:rPr lang="en" sz="1200">
                <a:solidFill>
                  <a:srgbClr val="990000"/>
                </a:solidFill>
              </a:rPr>
              <a:t> java does not support multiple inheritance</a:t>
            </a:r>
            <a:r>
              <a:rPr lang="en"/>
              <a:t> </a:t>
            </a:r>
            <a:endParaRPr/>
          </a:p>
        </p:txBody>
      </p:sp>
      <p:sp>
        <p:nvSpPr>
          <p:cNvPr id="126" name="Google Shape;126;p19"/>
          <p:cNvSpPr/>
          <p:nvPr/>
        </p:nvSpPr>
        <p:spPr>
          <a:xfrm>
            <a:off x="1610575" y="1291800"/>
            <a:ext cx="2304300" cy="770100"/>
          </a:xfrm>
          <a:prstGeom prst="rect">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ClassB</a:t>
            </a:r>
            <a:endParaRPr sz="1800" b="1">
              <a:solidFill>
                <a:srgbClr val="FFFFFF"/>
              </a:solidFill>
            </a:endParaRPr>
          </a:p>
        </p:txBody>
      </p:sp>
      <p:sp>
        <p:nvSpPr>
          <p:cNvPr id="127" name="Google Shape;127;p19"/>
          <p:cNvSpPr/>
          <p:nvPr/>
        </p:nvSpPr>
        <p:spPr>
          <a:xfrm>
            <a:off x="3245524" y="3108750"/>
            <a:ext cx="2304300" cy="770100"/>
          </a:xfrm>
          <a:prstGeom prst="rect">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ClassA</a:t>
            </a:r>
            <a:endParaRPr sz="1800" b="1">
              <a:solidFill>
                <a:srgbClr val="FFFFFF"/>
              </a:solidFill>
            </a:endParaRPr>
          </a:p>
        </p:txBody>
      </p:sp>
      <p:sp>
        <p:nvSpPr>
          <p:cNvPr id="128" name="Google Shape;128;p19"/>
          <p:cNvSpPr/>
          <p:nvPr/>
        </p:nvSpPr>
        <p:spPr>
          <a:xfrm>
            <a:off x="4867025" y="1291800"/>
            <a:ext cx="2304300" cy="770100"/>
          </a:xfrm>
          <a:prstGeom prst="rect">
            <a:avLst/>
          </a:prstGeom>
          <a:solidFill>
            <a:srgbClr val="99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ClassC</a:t>
            </a:r>
            <a:endParaRPr sz="1800" b="1">
              <a:solidFill>
                <a:srgbClr val="FFFFFF"/>
              </a:solidFill>
            </a:endParaRPr>
          </a:p>
        </p:txBody>
      </p:sp>
      <p:cxnSp>
        <p:nvCxnSpPr>
          <p:cNvPr id="129" name="Google Shape;129;p19"/>
          <p:cNvCxnSpPr>
            <a:stCxn id="127" idx="0"/>
            <a:endCxn id="126" idx="2"/>
          </p:cNvCxnSpPr>
          <p:nvPr/>
        </p:nvCxnSpPr>
        <p:spPr>
          <a:xfrm rot="5400000" flipH="1">
            <a:off x="3056674" y="1767750"/>
            <a:ext cx="1047000" cy="1635000"/>
          </a:xfrm>
          <a:prstGeom prst="bentConnector3">
            <a:avLst>
              <a:gd name="adj1" fmla="val 50000"/>
            </a:avLst>
          </a:prstGeom>
          <a:noFill/>
          <a:ln w="19050" cap="flat" cmpd="sng">
            <a:solidFill>
              <a:srgbClr val="000000"/>
            </a:solidFill>
            <a:prstDash val="solid"/>
            <a:round/>
            <a:headEnd type="none" w="med" len="med"/>
            <a:tailEnd type="triangle" w="med" len="med"/>
          </a:ln>
        </p:spPr>
      </p:cxnSp>
      <p:cxnSp>
        <p:nvCxnSpPr>
          <p:cNvPr id="130" name="Google Shape;130;p19"/>
          <p:cNvCxnSpPr>
            <a:stCxn id="127" idx="0"/>
            <a:endCxn id="128" idx="2"/>
          </p:cNvCxnSpPr>
          <p:nvPr/>
        </p:nvCxnSpPr>
        <p:spPr>
          <a:xfrm rot="-5400000">
            <a:off x="4684924" y="1774500"/>
            <a:ext cx="1047000" cy="1621500"/>
          </a:xfrm>
          <a:prstGeom prst="bentConnector3">
            <a:avLst>
              <a:gd name="adj1" fmla="val 50000"/>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34"/>
        <p:cNvGrpSpPr/>
        <p:nvPr/>
      </p:nvGrpSpPr>
      <p:grpSpPr>
        <a:xfrm>
          <a:off x="0" y="0"/>
          <a:ext cx="0" cy="0"/>
          <a:chOff x="0" y="0"/>
          <a:chExt cx="0" cy="0"/>
        </a:xfrm>
      </p:grpSpPr>
      <p:sp>
        <p:nvSpPr>
          <p:cNvPr id="135" name="Google Shape;135;p20"/>
          <p:cNvSpPr txBox="1"/>
          <p:nvPr/>
        </p:nvSpPr>
        <p:spPr>
          <a:xfrm>
            <a:off x="289050" y="358550"/>
            <a:ext cx="8565900" cy="4926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1200"/>
              </a:spcBef>
              <a:spcAft>
                <a:spcPts val="1200"/>
              </a:spcAft>
              <a:buNone/>
            </a:pPr>
            <a:r>
              <a:rPr lang="en" sz="2000" b="1">
                <a:solidFill>
                  <a:schemeClr val="dk1"/>
                </a:solidFill>
              </a:rPr>
              <a:t>Hybrid Inheritance</a:t>
            </a:r>
            <a:endParaRPr sz="2000" b="1">
              <a:solidFill>
                <a:schemeClr val="dk1"/>
              </a:solidFill>
            </a:endParaRPr>
          </a:p>
        </p:txBody>
      </p:sp>
      <p:pic>
        <p:nvPicPr>
          <p:cNvPr id="136" name="Google Shape;136;p20"/>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37" name="Google Shape;137;p20"/>
          <p:cNvSpPr txBox="1"/>
          <p:nvPr/>
        </p:nvSpPr>
        <p:spPr>
          <a:xfrm>
            <a:off x="1640600" y="4628925"/>
            <a:ext cx="5887800" cy="4002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200" b="1">
                <a:solidFill>
                  <a:srgbClr val="990000"/>
                </a:solidFill>
              </a:rPr>
              <a:t>Note:</a:t>
            </a:r>
            <a:r>
              <a:rPr lang="en" sz="1200">
                <a:solidFill>
                  <a:srgbClr val="990000"/>
                </a:solidFill>
              </a:rPr>
              <a:t> java does not support hybrid inheritance</a:t>
            </a:r>
            <a:r>
              <a:rPr lang="en"/>
              <a:t> </a:t>
            </a:r>
            <a:endParaRPr/>
          </a:p>
        </p:txBody>
      </p:sp>
      <p:sp>
        <p:nvSpPr>
          <p:cNvPr id="138" name="Google Shape;138;p20"/>
          <p:cNvSpPr/>
          <p:nvPr/>
        </p:nvSpPr>
        <p:spPr>
          <a:xfrm>
            <a:off x="1762975" y="2486691"/>
            <a:ext cx="2188200" cy="667800"/>
          </a:xfrm>
          <a:prstGeom prst="rect">
            <a:avLst/>
          </a:prstGeom>
          <a:solidFill>
            <a:srgbClr val="38761D"/>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ClassB</a:t>
            </a:r>
            <a:endParaRPr sz="1800" b="1">
              <a:solidFill>
                <a:srgbClr val="FFFFFF"/>
              </a:solidFill>
            </a:endParaRPr>
          </a:p>
        </p:txBody>
      </p:sp>
      <p:sp>
        <p:nvSpPr>
          <p:cNvPr id="139" name="Google Shape;139;p20"/>
          <p:cNvSpPr/>
          <p:nvPr/>
        </p:nvSpPr>
        <p:spPr>
          <a:xfrm>
            <a:off x="3315641" y="3961014"/>
            <a:ext cx="2188200" cy="667800"/>
          </a:xfrm>
          <a:prstGeom prst="rect">
            <a:avLst/>
          </a:prstGeom>
          <a:solidFill>
            <a:srgbClr val="99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ClassD</a:t>
            </a:r>
            <a:endParaRPr sz="1800" b="1">
              <a:solidFill>
                <a:srgbClr val="FFFFFF"/>
              </a:solidFill>
            </a:endParaRPr>
          </a:p>
        </p:txBody>
      </p:sp>
      <p:sp>
        <p:nvSpPr>
          <p:cNvPr id="140" name="Google Shape;140;p20"/>
          <p:cNvSpPr/>
          <p:nvPr/>
        </p:nvSpPr>
        <p:spPr>
          <a:xfrm>
            <a:off x="4855536" y="2486691"/>
            <a:ext cx="2188200" cy="667800"/>
          </a:xfrm>
          <a:prstGeom prst="rect">
            <a:avLst/>
          </a:prstGeom>
          <a:solidFill>
            <a:srgbClr val="674EA7"/>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rgbClr val="FFFFFF"/>
                </a:solidFill>
              </a:rPr>
              <a:t>ClassC</a:t>
            </a:r>
            <a:endParaRPr sz="1800" b="1">
              <a:solidFill>
                <a:srgbClr val="FFFFFF"/>
              </a:solidFill>
            </a:endParaRPr>
          </a:p>
        </p:txBody>
      </p:sp>
      <p:cxnSp>
        <p:nvCxnSpPr>
          <p:cNvPr id="141" name="Google Shape;141;p20"/>
          <p:cNvCxnSpPr>
            <a:stCxn id="139" idx="0"/>
            <a:endCxn id="138" idx="2"/>
          </p:cNvCxnSpPr>
          <p:nvPr/>
        </p:nvCxnSpPr>
        <p:spPr>
          <a:xfrm rot="5400000" flipH="1">
            <a:off x="3230141" y="2781414"/>
            <a:ext cx="806400" cy="1552800"/>
          </a:xfrm>
          <a:prstGeom prst="bentConnector3">
            <a:avLst>
              <a:gd name="adj1" fmla="val 50000"/>
            </a:avLst>
          </a:prstGeom>
          <a:noFill/>
          <a:ln w="19050" cap="flat" cmpd="sng">
            <a:solidFill>
              <a:srgbClr val="000000"/>
            </a:solidFill>
            <a:prstDash val="solid"/>
            <a:round/>
            <a:headEnd type="none" w="med" len="med"/>
            <a:tailEnd type="triangle" w="med" len="med"/>
          </a:ln>
        </p:spPr>
      </p:cxnSp>
      <p:cxnSp>
        <p:nvCxnSpPr>
          <p:cNvPr id="142" name="Google Shape;142;p20"/>
          <p:cNvCxnSpPr>
            <a:stCxn id="139" idx="0"/>
            <a:endCxn id="140" idx="2"/>
          </p:cNvCxnSpPr>
          <p:nvPr/>
        </p:nvCxnSpPr>
        <p:spPr>
          <a:xfrm rot="-5400000">
            <a:off x="4776491" y="2787864"/>
            <a:ext cx="806400" cy="1539900"/>
          </a:xfrm>
          <a:prstGeom prst="bentConnector3">
            <a:avLst>
              <a:gd name="adj1" fmla="val 50000"/>
            </a:avLst>
          </a:prstGeom>
          <a:noFill/>
          <a:ln w="19050" cap="flat" cmpd="sng">
            <a:solidFill>
              <a:srgbClr val="000000"/>
            </a:solidFill>
            <a:prstDash val="solid"/>
            <a:round/>
            <a:headEnd type="none" w="med" len="med"/>
            <a:tailEnd type="triangle" w="med" len="med"/>
          </a:ln>
        </p:spPr>
      </p:cxnSp>
      <p:sp>
        <p:nvSpPr>
          <p:cNvPr id="143" name="Google Shape;143;p20"/>
          <p:cNvSpPr/>
          <p:nvPr/>
        </p:nvSpPr>
        <p:spPr>
          <a:xfrm>
            <a:off x="3315641" y="904050"/>
            <a:ext cx="2188200" cy="667800"/>
          </a:xfrm>
          <a:prstGeom prst="rect">
            <a:avLst/>
          </a:prstGeom>
          <a:solidFill>
            <a:srgbClr val="CFE2F3"/>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t>ClassA</a:t>
            </a:r>
            <a:endParaRPr sz="1800" b="1"/>
          </a:p>
        </p:txBody>
      </p:sp>
      <p:cxnSp>
        <p:nvCxnSpPr>
          <p:cNvPr id="144" name="Google Shape;144;p20"/>
          <p:cNvCxnSpPr>
            <a:stCxn id="138" idx="0"/>
            <a:endCxn id="143" idx="2"/>
          </p:cNvCxnSpPr>
          <p:nvPr/>
        </p:nvCxnSpPr>
        <p:spPr>
          <a:xfrm rot="-5400000">
            <a:off x="3176125" y="1252941"/>
            <a:ext cx="914700" cy="1552800"/>
          </a:xfrm>
          <a:prstGeom prst="bentConnector3">
            <a:avLst>
              <a:gd name="adj1" fmla="val 50000"/>
            </a:avLst>
          </a:prstGeom>
          <a:noFill/>
          <a:ln w="19050" cap="flat" cmpd="sng">
            <a:solidFill>
              <a:srgbClr val="000000"/>
            </a:solidFill>
            <a:prstDash val="solid"/>
            <a:round/>
            <a:headEnd type="none" w="med" len="med"/>
            <a:tailEnd type="triangle" w="med" len="med"/>
          </a:ln>
        </p:spPr>
      </p:cxnSp>
      <p:cxnSp>
        <p:nvCxnSpPr>
          <p:cNvPr id="145" name="Google Shape;145;p20"/>
          <p:cNvCxnSpPr>
            <a:stCxn id="140" idx="0"/>
            <a:endCxn id="143" idx="2"/>
          </p:cNvCxnSpPr>
          <p:nvPr/>
        </p:nvCxnSpPr>
        <p:spPr>
          <a:xfrm rot="5400000" flipH="1">
            <a:off x="4722336" y="1259391"/>
            <a:ext cx="914700" cy="1539900"/>
          </a:xfrm>
          <a:prstGeom prst="bentConnector3">
            <a:avLst>
              <a:gd name="adj1" fmla="val 50000"/>
            </a:avLst>
          </a:prstGeom>
          <a:noFill/>
          <a:ln w="19050" cap="flat" cmpd="sng">
            <a:solidFill>
              <a:srgbClr val="000000"/>
            </a:solidFill>
            <a:prstDash val="solid"/>
            <a:round/>
            <a:headEnd type="none" w="med" len="med"/>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49"/>
        <p:cNvGrpSpPr/>
        <p:nvPr/>
      </p:nvGrpSpPr>
      <p:grpSpPr>
        <a:xfrm>
          <a:off x="0" y="0"/>
          <a:ext cx="0" cy="0"/>
          <a:chOff x="0" y="0"/>
          <a:chExt cx="0" cy="0"/>
        </a:xfrm>
      </p:grpSpPr>
      <p:pic>
        <p:nvPicPr>
          <p:cNvPr id="150" name="Google Shape;150;p21"/>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51" name="Google Shape;151;p21"/>
          <p:cNvSpPr txBox="1"/>
          <p:nvPr/>
        </p:nvSpPr>
        <p:spPr>
          <a:xfrm>
            <a:off x="0" y="3823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Superclasses and Subclasses</a:t>
            </a:r>
            <a:endParaRPr sz="2000" b="1"/>
          </a:p>
        </p:txBody>
      </p:sp>
      <p:sp>
        <p:nvSpPr>
          <p:cNvPr id="152" name="Google Shape;152;p21"/>
          <p:cNvSpPr txBox="1"/>
          <p:nvPr/>
        </p:nvSpPr>
        <p:spPr>
          <a:xfrm>
            <a:off x="869550" y="940025"/>
            <a:ext cx="7456800" cy="3201600"/>
          </a:xfrm>
          <a:prstGeom prst="rect">
            <a:avLst/>
          </a:prstGeom>
          <a:noFill/>
          <a:ln>
            <a:noFill/>
          </a:ln>
        </p:spPr>
        <p:txBody>
          <a:bodyPr spcFirstLastPara="1" wrap="square" lIns="91425" tIns="91425" rIns="91425" bIns="91425" anchor="t" anchorCtr="0">
            <a:spAutoFit/>
          </a:bodyPr>
          <a:lstStyle/>
          <a:p>
            <a:pPr marL="0" lvl="0" indent="457200" algn="l" rtl="0">
              <a:spcBef>
                <a:spcPts val="0"/>
              </a:spcBef>
              <a:spcAft>
                <a:spcPts val="0"/>
              </a:spcAft>
              <a:buNone/>
            </a:pPr>
            <a:r>
              <a:rPr lang="en">
                <a:solidFill>
                  <a:schemeClr val="dk1"/>
                </a:solidFill>
              </a:rPr>
              <a:t>The class from which the subclass is derived is called a superclass (also a base class or a parent class). Excepting Object , which has no superclass, every class has one and only one direct superclass (single inheritance).</a:t>
            </a:r>
            <a:endParaRPr>
              <a:solidFill>
                <a:schemeClr val="dk1"/>
              </a:solidFill>
            </a:endParaRPr>
          </a:p>
          <a:p>
            <a:pPr marL="0" lvl="0" indent="0" algn="l" rtl="0">
              <a:spcBef>
                <a:spcPts val="0"/>
              </a:spcBef>
              <a:spcAft>
                <a:spcPts val="0"/>
              </a:spcAft>
              <a:buNone/>
            </a:pPr>
            <a:endParaRPr>
              <a:solidFill>
                <a:schemeClr val="dk1"/>
              </a:solidFill>
            </a:endParaRPr>
          </a:p>
          <a:p>
            <a:pPr marL="0" lvl="0" indent="457200" algn="l" rtl="0">
              <a:spcBef>
                <a:spcPts val="0"/>
              </a:spcBef>
              <a:spcAft>
                <a:spcPts val="0"/>
              </a:spcAft>
              <a:buNone/>
            </a:pPr>
            <a:r>
              <a:rPr lang="en">
                <a:solidFill>
                  <a:schemeClr val="dk1"/>
                </a:solidFill>
              </a:rPr>
              <a:t>A subclass is a class derived from the superclass. It inherits the properties of the superclass and also contains attributes of its own.</a:t>
            </a:r>
            <a:endParaRPr>
              <a:solidFill>
                <a:schemeClr val="dk1"/>
              </a:solidFill>
            </a:endParaRPr>
          </a:p>
          <a:p>
            <a:pPr marL="0" lvl="0" indent="0" algn="l" rtl="0">
              <a:spcBef>
                <a:spcPts val="0"/>
              </a:spcBef>
              <a:spcAft>
                <a:spcPts val="0"/>
              </a:spcAft>
              <a:buNone/>
            </a:pP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Defining subclasses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Overriding methods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Subclass constructor</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Inheritance Hierarchies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Understanding method calls</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Preventing Inheritance</a:t>
            </a:r>
            <a:endParaRPr>
              <a:solidFill>
                <a:schemeClr val="dk1"/>
              </a:solidFill>
            </a:endParaRPr>
          </a:p>
          <a:p>
            <a:pPr marL="457200" lvl="0" indent="-317500" algn="l" rtl="0">
              <a:spcBef>
                <a:spcPts val="0"/>
              </a:spcBef>
              <a:spcAft>
                <a:spcPts val="0"/>
              </a:spcAft>
              <a:buClr>
                <a:schemeClr val="dk1"/>
              </a:buClr>
              <a:buSzPts val="1400"/>
              <a:buChar char="●"/>
            </a:pPr>
            <a:r>
              <a:rPr lang="en">
                <a:solidFill>
                  <a:schemeClr val="dk1"/>
                </a:solidFill>
              </a:rPr>
              <a:t>Casting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56"/>
        <p:cNvGrpSpPr/>
        <p:nvPr/>
      </p:nvGrpSpPr>
      <p:grpSpPr>
        <a:xfrm>
          <a:off x="0" y="0"/>
          <a:ext cx="0" cy="0"/>
          <a:chOff x="0" y="0"/>
          <a:chExt cx="0" cy="0"/>
        </a:xfrm>
      </p:grpSpPr>
      <p:pic>
        <p:nvPicPr>
          <p:cNvPr id="157" name="Google Shape;157;p22"/>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
        <p:nvSpPr>
          <p:cNvPr id="158" name="Google Shape;158;p22"/>
          <p:cNvSpPr txBox="1"/>
          <p:nvPr/>
        </p:nvSpPr>
        <p:spPr>
          <a:xfrm>
            <a:off x="19050" y="382325"/>
            <a:ext cx="91440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t>The Cosmic Superclass</a:t>
            </a:r>
            <a:endParaRPr sz="2000" b="1"/>
          </a:p>
        </p:txBody>
      </p:sp>
      <p:sp>
        <p:nvSpPr>
          <p:cNvPr id="159" name="Google Shape;159;p22"/>
          <p:cNvSpPr txBox="1"/>
          <p:nvPr/>
        </p:nvSpPr>
        <p:spPr>
          <a:xfrm>
            <a:off x="655450" y="1168625"/>
            <a:ext cx="7806600" cy="1954800"/>
          </a:xfrm>
          <a:prstGeom prst="rect">
            <a:avLst/>
          </a:prstGeom>
          <a:noFill/>
          <a:ln>
            <a:noFill/>
          </a:ln>
        </p:spPr>
        <p:txBody>
          <a:bodyPr spcFirstLastPara="1" wrap="square" lIns="91425" tIns="91425" rIns="91425" bIns="91425" anchor="t" anchorCtr="0">
            <a:spAutoFit/>
          </a:bodyPr>
          <a:lstStyle/>
          <a:p>
            <a:pPr marL="457200" lvl="0" indent="-317500" algn="l" rtl="0">
              <a:spcBef>
                <a:spcPts val="0"/>
              </a:spcBef>
              <a:spcAft>
                <a:spcPts val="0"/>
              </a:spcAft>
              <a:buSzPts val="1400"/>
              <a:buChar char="●"/>
            </a:pPr>
            <a:r>
              <a:rPr lang="en">
                <a:solidFill>
                  <a:schemeClr val="dk1"/>
                </a:solidFill>
              </a:rPr>
              <a:t>Pattern Matching</a:t>
            </a:r>
            <a:endParaRPr/>
          </a:p>
          <a:p>
            <a:pPr marL="457200" lvl="0" indent="-317500" algn="l" rtl="0">
              <a:spcBef>
                <a:spcPts val="0"/>
              </a:spcBef>
              <a:spcAft>
                <a:spcPts val="0"/>
              </a:spcAft>
              <a:buSzPts val="1400"/>
              <a:buChar char="●"/>
            </a:pPr>
            <a:r>
              <a:rPr lang="en"/>
              <a:t>The equals Method and equals method contract</a:t>
            </a:r>
            <a:endParaRPr/>
          </a:p>
          <a:p>
            <a:pPr marL="914400" lvl="1" indent="-317500" algn="l" rtl="0">
              <a:spcBef>
                <a:spcPts val="0"/>
              </a:spcBef>
              <a:spcAft>
                <a:spcPts val="0"/>
              </a:spcAft>
              <a:buClr>
                <a:schemeClr val="dk1"/>
              </a:buClr>
              <a:buSzPts val="1400"/>
              <a:buChar char="○"/>
            </a:pPr>
            <a:r>
              <a:rPr lang="en">
                <a:solidFill>
                  <a:schemeClr val="dk1"/>
                </a:solidFill>
              </a:rPr>
              <a:t>reflexive</a:t>
            </a:r>
            <a:endParaRPr>
              <a:solidFill>
                <a:schemeClr val="dk1"/>
              </a:solidFill>
            </a:endParaRPr>
          </a:p>
          <a:p>
            <a:pPr marL="914400" lvl="1" indent="-317500" algn="l" rtl="0">
              <a:spcBef>
                <a:spcPts val="0"/>
              </a:spcBef>
              <a:spcAft>
                <a:spcPts val="0"/>
              </a:spcAft>
              <a:buClr>
                <a:schemeClr val="dk1"/>
              </a:buClr>
              <a:buSzPts val="1400"/>
              <a:buChar char="○"/>
            </a:pPr>
            <a:r>
              <a:rPr lang="en" sz="1500" i="1">
                <a:solidFill>
                  <a:schemeClr val="dk1"/>
                </a:solidFill>
              </a:rPr>
              <a:t>symmetric</a:t>
            </a:r>
            <a:endParaRPr sz="1500" i="1">
              <a:solidFill>
                <a:schemeClr val="dk1"/>
              </a:solidFill>
            </a:endParaRPr>
          </a:p>
          <a:p>
            <a:pPr marL="914400" lvl="1" indent="-317500" algn="l" rtl="0">
              <a:spcBef>
                <a:spcPts val="0"/>
              </a:spcBef>
              <a:spcAft>
                <a:spcPts val="0"/>
              </a:spcAft>
              <a:buClr>
                <a:schemeClr val="dk1"/>
              </a:buClr>
              <a:buSzPts val="1400"/>
              <a:buChar char="○"/>
            </a:pPr>
            <a:r>
              <a:rPr lang="en" i="1">
                <a:solidFill>
                  <a:schemeClr val="dk1"/>
                </a:solidFill>
              </a:rPr>
              <a:t>transitive</a:t>
            </a:r>
            <a:endParaRPr i="1">
              <a:solidFill>
                <a:schemeClr val="dk1"/>
              </a:solidFill>
            </a:endParaRPr>
          </a:p>
          <a:p>
            <a:pPr marL="914400" lvl="1" indent="-317500" algn="l" rtl="0">
              <a:spcBef>
                <a:spcPts val="0"/>
              </a:spcBef>
              <a:spcAft>
                <a:spcPts val="0"/>
              </a:spcAft>
              <a:buClr>
                <a:schemeClr val="dk1"/>
              </a:buClr>
              <a:buSzPts val="1400"/>
              <a:buChar char="○"/>
            </a:pPr>
            <a:r>
              <a:rPr lang="en" sz="1500" i="1">
                <a:solidFill>
                  <a:schemeClr val="dk1"/>
                </a:solidFill>
              </a:rPr>
              <a:t>consistent</a:t>
            </a:r>
            <a:endParaRPr sz="1500" i="1">
              <a:solidFill>
                <a:schemeClr val="dk1"/>
              </a:solidFill>
            </a:endParaRPr>
          </a:p>
          <a:p>
            <a:pPr marL="914400" lvl="1" indent="-323850" algn="l" rtl="0">
              <a:spcBef>
                <a:spcPts val="0"/>
              </a:spcBef>
              <a:spcAft>
                <a:spcPts val="0"/>
              </a:spcAft>
              <a:buClr>
                <a:schemeClr val="dk1"/>
              </a:buClr>
              <a:buSzPts val="1500"/>
              <a:buChar char="○"/>
            </a:pPr>
            <a:r>
              <a:rPr lang="en" sz="1500" i="1">
                <a:solidFill>
                  <a:schemeClr val="dk1"/>
                </a:solidFill>
              </a:rPr>
              <a:t> x.equals(null) should return false</a:t>
            </a:r>
            <a:endParaRPr sz="1500" i="1">
              <a:solidFill>
                <a:schemeClr val="dk1"/>
              </a:solidFill>
            </a:endParaRPr>
          </a:p>
          <a:p>
            <a:pPr marL="457200" lvl="0" indent="-317500" algn="l" rtl="0">
              <a:spcBef>
                <a:spcPts val="0"/>
              </a:spcBef>
              <a:spcAft>
                <a:spcPts val="0"/>
              </a:spcAft>
              <a:buSzPts val="1400"/>
              <a:buChar char="●"/>
            </a:pPr>
            <a:r>
              <a:rPr lang="en"/>
              <a:t>The toString Method</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163"/>
        <p:cNvGrpSpPr/>
        <p:nvPr/>
      </p:nvGrpSpPr>
      <p:grpSpPr>
        <a:xfrm>
          <a:off x="0" y="0"/>
          <a:ext cx="0" cy="0"/>
          <a:chOff x="0" y="0"/>
          <a:chExt cx="0" cy="0"/>
        </a:xfrm>
      </p:grpSpPr>
      <p:sp>
        <p:nvSpPr>
          <p:cNvPr id="164" name="Google Shape;164;p23"/>
          <p:cNvSpPr txBox="1">
            <a:spLocks noGrp="1"/>
          </p:cNvSpPr>
          <p:nvPr>
            <p:ph type="title"/>
          </p:nvPr>
        </p:nvSpPr>
        <p:spPr>
          <a:xfrm>
            <a:off x="19050" y="2285400"/>
            <a:ext cx="9185100" cy="572700"/>
          </a:xfrm>
          <a:prstGeom prst="rect">
            <a:avLst/>
          </a:prstGeom>
        </p:spPr>
        <p:txBody>
          <a:bodyPr spcFirstLastPara="1" wrap="square" lIns="91425" tIns="91425" rIns="91425" bIns="91425" anchor="t" anchorCtr="0">
            <a:normAutofit fontScale="90000"/>
          </a:bodyPr>
          <a:lstStyle/>
          <a:p>
            <a:pPr marL="0" lvl="0" indent="0" algn="ctr" rtl="0">
              <a:lnSpc>
                <a:spcPct val="115000"/>
              </a:lnSpc>
              <a:spcBef>
                <a:spcPts val="1200"/>
              </a:spcBef>
              <a:spcAft>
                <a:spcPts val="1200"/>
              </a:spcAft>
              <a:buNone/>
            </a:pPr>
            <a:r>
              <a:rPr lang="en" sz="2000" b="1" u="sng" dirty="0">
                <a:solidFill>
                  <a:schemeClr val="hlink"/>
                </a:solidFill>
              </a:rPr>
              <a:t>Interview Questions</a:t>
            </a:r>
            <a:endParaRPr sz="2000" dirty="0"/>
          </a:p>
        </p:txBody>
      </p:sp>
      <p:pic>
        <p:nvPicPr>
          <p:cNvPr id="165" name="Google Shape;165;p23"/>
          <p:cNvPicPr preferRelativeResize="0"/>
          <p:nvPr/>
        </p:nvPicPr>
        <p:blipFill rotWithShape="1">
          <a:blip r:embed="rId3">
            <a:alphaModFix/>
          </a:blip>
          <a:srcRect t="33150" b="31095"/>
          <a:stretch/>
        </p:blipFill>
        <p:spPr>
          <a:xfrm>
            <a:off x="19050" y="4525"/>
            <a:ext cx="1304100" cy="466275"/>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319</Words>
  <Application>Microsoft Office PowerPoint</Application>
  <PresentationFormat>On-screen Show (16:9)</PresentationFormat>
  <Paragraphs>94</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Source Code Pro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Пользователь</cp:lastModifiedBy>
  <cp:revision>1</cp:revision>
  <dcterms:modified xsi:type="dcterms:W3CDTF">2023-02-23T14:15:11Z</dcterms:modified>
</cp:coreProperties>
</file>