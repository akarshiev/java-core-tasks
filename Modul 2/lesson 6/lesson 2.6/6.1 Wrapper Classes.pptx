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3930df89c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3930df89c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3930df89c2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3930df89c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873dedf47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873dedf47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13930df89c2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13930df89c2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39306de9d7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39306de9d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39306de9d7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39306de9d7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3930df89c2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3930df89c2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3930df89c2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3930df89c2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3930df89c2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13930df89c2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139306de9d7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139306de9d7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39306de9d7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139306de9d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39306de9d7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139306de9d7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17b741526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17b741526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lang/Number.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lang/Byte.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lang/Short.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lang/Integer.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lang/Long.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lang/Character.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lang/Float.htm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lang/Double.html"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lang/Boolean.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75" y="1886850"/>
            <a:ext cx="91440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t>Wrapper Classes</a:t>
            </a:r>
            <a:endParaRPr sz="26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1" name="Google Shape;61;p14"/>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Wrapper Class</a:t>
            </a:r>
            <a:endParaRPr sz="2000"/>
          </a:p>
        </p:txBody>
      </p:sp>
      <p:sp>
        <p:nvSpPr>
          <p:cNvPr id="62" name="Google Shape;62;p14"/>
          <p:cNvSpPr txBox="1"/>
          <p:nvPr/>
        </p:nvSpPr>
        <p:spPr>
          <a:xfrm>
            <a:off x="645000" y="798716"/>
            <a:ext cx="78540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 class that wraps a primitive data type into an object is called wrapper class in java.</a:t>
            </a:r>
            <a:endParaRPr/>
          </a:p>
          <a:p>
            <a:pPr marL="0" lvl="0" indent="0" algn="l" rtl="0">
              <a:spcBef>
                <a:spcPts val="0"/>
              </a:spcBef>
              <a:spcAft>
                <a:spcPts val="0"/>
              </a:spcAft>
              <a:buNone/>
            </a:pPr>
            <a:endParaRPr/>
          </a:p>
          <a:p>
            <a:pPr marL="0" lvl="0" indent="0" algn="l" rtl="0">
              <a:spcBef>
                <a:spcPts val="0"/>
              </a:spcBef>
              <a:spcAft>
                <a:spcPts val="0"/>
              </a:spcAft>
              <a:buNone/>
            </a:pPr>
            <a:r>
              <a:rPr lang="en"/>
              <a:t>In simple words, wrapper class provides a mechanism to convert primitive data type value into an object and vice-versa.</a:t>
            </a:r>
            <a:endParaRPr/>
          </a:p>
          <a:p>
            <a:pPr marL="0" lvl="0" indent="0" algn="l" rtl="0">
              <a:spcBef>
                <a:spcPts val="0"/>
              </a:spcBef>
              <a:spcAft>
                <a:spcPts val="0"/>
              </a:spcAft>
              <a:buNone/>
            </a:pPr>
            <a:endParaRPr/>
          </a:p>
          <a:p>
            <a:pPr marL="0" lvl="0" indent="0" algn="l" rtl="0">
              <a:spcBef>
                <a:spcPts val="0"/>
              </a:spcBef>
              <a:spcAft>
                <a:spcPts val="0"/>
              </a:spcAft>
              <a:buNone/>
            </a:pPr>
            <a:r>
              <a:rPr lang="en"/>
              <a:t>For example, wrapping int into Integer class, wrapping double into Double class, and wrapping char into Character class.</a:t>
            </a:r>
            <a:endParaRPr/>
          </a:p>
          <a:p>
            <a:pPr marL="0" lvl="0" indent="0" algn="l" rtl="0">
              <a:spcBef>
                <a:spcPts val="0"/>
              </a:spcBef>
              <a:spcAft>
                <a:spcPts val="0"/>
              </a:spcAft>
              <a:buNone/>
            </a:pPr>
            <a:endParaRPr/>
          </a:p>
          <a:p>
            <a:pPr marL="0" lvl="0" indent="0" algn="l" rtl="0">
              <a:spcBef>
                <a:spcPts val="0"/>
              </a:spcBef>
              <a:spcAft>
                <a:spcPts val="0"/>
              </a:spcAft>
              <a:buNone/>
            </a:pPr>
            <a:r>
              <a:rPr lang="en"/>
              <a:t>When we create an object of wrapper class, it contains a variable where we store the primitive data type value. In simple words, we can wrap a primitive type value into a wrapper class object.</a:t>
            </a:r>
            <a:endParaRPr/>
          </a:p>
        </p:txBody>
      </p:sp>
      <p:grpSp>
        <p:nvGrpSpPr>
          <p:cNvPr id="63" name="Google Shape;63;p14"/>
          <p:cNvGrpSpPr/>
          <p:nvPr/>
        </p:nvGrpSpPr>
        <p:grpSpPr>
          <a:xfrm>
            <a:off x="1335000" y="3473475"/>
            <a:ext cx="1115700" cy="1182450"/>
            <a:chOff x="1716000" y="3473475"/>
            <a:chExt cx="1115700" cy="1182450"/>
          </a:xfrm>
        </p:grpSpPr>
        <p:grpSp>
          <p:nvGrpSpPr>
            <p:cNvPr id="64" name="Google Shape;64;p14"/>
            <p:cNvGrpSpPr/>
            <p:nvPr/>
          </p:nvGrpSpPr>
          <p:grpSpPr>
            <a:xfrm>
              <a:off x="1716000" y="3473475"/>
              <a:ext cx="1115700" cy="1182450"/>
              <a:chOff x="1716000" y="3549675"/>
              <a:chExt cx="1115700" cy="1182450"/>
            </a:xfrm>
          </p:grpSpPr>
          <p:sp>
            <p:nvSpPr>
              <p:cNvPr id="65" name="Google Shape;65;p14"/>
              <p:cNvSpPr/>
              <p:nvPr/>
            </p:nvSpPr>
            <p:spPr>
              <a:xfrm>
                <a:off x="2043900" y="4265925"/>
                <a:ext cx="459300" cy="466200"/>
              </a:xfrm>
              <a:prstGeom prst="roundRect">
                <a:avLst>
                  <a:gd name="adj" fmla="val 16667"/>
                </a:avLst>
              </a:prstGeom>
              <a:solidFill>
                <a:srgbClr val="FF9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12</a:t>
                </a:r>
                <a:endParaRPr b="1">
                  <a:solidFill>
                    <a:schemeClr val="lt1"/>
                  </a:solidFill>
                </a:endParaRPr>
              </a:p>
            </p:txBody>
          </p:sp>
          <p:sp>
            <p:nvSpPr>
              <p:cNvPr id="66" name="Google Shape;66;p14"/>
              <p:cNvSpPr txBox="1"/>
              <p:nvPr/>
            </p:nvSpPr>
            <p:spPr>
              <a:xfrm>
                <a:off x="1716000" y="3549675"/>
                <a:ext cx="1115700" cy="400200"/>
              </a:xfrm>
              <a:prstGeom prst="rect">
                <a:avLst/>
              </a:prstGeom>
              <a:solidFill>
                <a:srgbClr val="A64D79"/>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lt1"/>
                    </a:solidFill>
                  </a:rPr>
                  <a:t>int value</a:t>
                </a:r>
                <a:endParaRPr b="1">
                  <a:solidFill>
                    <a:schemeClr val="lt1"/>
                  </a:solidFill>
                </a:endParaRPr>
              </a:p>
            </p:txBody>
          </p:sp>
        </p:grpSp>
        <p:cxnSp>
          <p:nvCxnSpPr>
            <p:cNvPr id="67" name="Google Shape;67;p14"/>
            <p:cNvCxnSpPr>
              <a:stCxn id="66" idx="2"/>
              <a:endCxn id="65" idx="0"/>
            </p:cNvCxnSpPr>
            <p:nvPr/>
          </p:nvCxnSpPr>
          <p:spPr>
            <a:xfrm rot="-5400000" flipH="1">
              <a:off x="2116050" y="4031475"/>
              <a:ext cx="316200" cy="600"/>
            </a:xfrm>
            <a:prstGeom prst="bentConnector3">
              <a:avLst>
                <a:gd name="adj1" fmla="val 49976"/>
              </a:avLst>
            </a:prstGeom>
            <a:noFill/>
            <a:ln w="9525" cap="flat" cmpd="sng">
              <a:solidFill>
                <a:schemeClr val="dk2"/>
              </a:solidFill>
              <a:prstDash val="solid"/>
              <a:round/>
              <a:headEnd type="none" w="med" len="med"/>
              <a:tailEnd type="triangle" w="med" len="med"/>
            </a:ln>
          </p:spPr>
        </p:cxnSp>
      </p:grpSp>
      <p:grpSp>
        <p:nvGrpSpPr>
          <p:cNvPr id="68" name="Google Shape;68;p14"/>
          <p:cNvGrpSpPr/>
          <p:nvPr/>
        </p:nvGrpSpPr>
        <p:grpSpPr>
          <a:xfrm>
            <a:off x="4004325" y="3233225"/>
            <a:ext cx="3780300" cy="1681800"/>
            <a:chOff x="4385325" y="3233225"/>
            <a:chExt cx="3780300" cy="1681800"/>
          </a:xfrm>
        </p:grpSpPr>
        <p:sp>
          <p:nvSpPr>
            <p:cNvPr id="69" name="Google Shape;69;p14"/>
            <p:cNvSpPr/>
            <p:nvPr/>
          </p:nvSpPr>
          <p:spPr>
            <a:xfrm>
              <a:off x="4385325" y="3233225"/>
              <a:ext cx="1977000" cy="1681800"/>
            </a:xfrm>
            <a:prstGeom prst="roundRect">
              <a:avLst>
                <a:gd name="adj" fmla="val 16667"/>
              </a:avLst>
            </a:prstGeom>
            <a:solidFill>
              <a:srgbClr val="A4C2F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4"/>
            <p:cNvSpPr txBox="1"/>
            <p:nvPr/>
          </p:nvSpPr>
          <p:spPr>
            <a:xfrm>
              <a:off x="7049925" y="3766325"/>
              <a:ext cx="1115700" cy="615600"/>
            </a:xfrm>
            <a:prstGeom prst="rect">
              <a:avLst/>
            </a:prstGeom>
            <a:solidFill>
              <a:srgbClr val="A64D79"/>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lt1"/>
                  </a:solidFill>
                </a:rPr>
                <a:t>Integer  object</a:t>
              </a:r>
              <a:endParaRPr b="1">
                <a:solidFill>
                  <a:schemeClr val="lt1"/>
                </a:solidFill>
              </a:endParaRPr>
            </a:p>
          </p:txBody>
        </p:sp>
        <p:cxnSp>
          <p:nvCxnSpPr>
            <p:cNvPr id="71" name="Google Shape;71;p14"/>
            <p:cNvCxnSpPr>
              <a:stCxn id="69" idx="3"/>
              <a:endCxn id="70" idx="1"/>
            </p:cNvCxnSpPr>
            <p:nvPr/>
          </p:nvCxnSpPr>
          <p:spPr>
            <a:xfrm>
              <a:off x="6362325" y="4074125"/>
              <a:ext cx="687600" cy="0"/>
            </a:xfrm>
            <a:prstGeom prst="straightConnector1">
              <a:avLst/>
            </a:prstGeom>
            <a:noFill/>
            <a:ln w="9525" cap="flat" cmpd="sng">
              <a:solidFill>
                <a:schemeClr val="dk2"/>
              </a:solidFill>
              <a:prstDash val="solid"/>
              <a:round/>
              <a:headEnd type="triangle" w="med" len="med"/>
              <a:tailEnd type="none" w="med" len="med"/>
            </a:ln>
          </p:spPr>
        </p:cxnSp>
        <p:sp>
          <p:nvSpPr>
            <p:cNvPr id="72" name="Google Shape;72;p14"/>
            <p:cNvSpPr/>
            <p:nvPr/>
          </p:nvSpPr>
          <p:spPr>
            <a:xfrm>
              <a:off x="5144175" y="3841025"/>
              <a:ext cx="459300" cy="466200"/>
            </a:xfrm>
            <a:prstGeom prst="roundRect">
              <a:avLst>
                <a:gd name="adj" fmla="val 16667"/>
              </a:avLst>
            </a:prstGeom>
            <a:solidFill>
              <a:srgbClr val="FF9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12</a:t>
              </a:r>
              <a:endParaRPr b="1">
                <a:solidFill>
                  <a:schemeClr val="lt1"/>
                </a:solidFill>
              </a:endParaRPr>
            </a:p>
          </p:txBody>
        </p:sp>
        <p:grpSp>
          <p:nvGrpSpPr>
            <p:cNvPr id="73" name="Google Shape;73;p14"/>
            <p:cNvGrpSpPr/>
            <p:nvPr/>
          </p:nvGrpSpPr>
          <p:grpSpPr>
            <a:xfrm>
              <a:off x="4610775" y="3307625"/>
              <a:ext cx="1526100" cy="466200"/>
              <a:chOff x="4534575" y="3307625"/>
              <a:chExt cx="1526100" cy="466200"/>
            </a:xfrm>
          </p:grpSpPr>
          <p:sp>
            <p:nvSpPr>
              <p:cNvPr id="74" name="Google Shape;74;p14"/>
              <p:cNvSpPr/>
              <p:nvPr/>
            </p:nvSpPr>
            <p:spPr>
              <a:xfrm>
                <a:off x="45345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rPr>
                  <a:t>m1</a:t>
                </a:r>
                <a:endParaRPr sz="1200" b="1">
                  <a:solidFill>
                    <a:schemeClr val="lt1"/>
                  </a:solidFill>
                </a:endParaRPr>
              </a:p>
            </p:txBody>
          </p:sp>
          <p:sp>
            <p:nvSpPr>
              <p:cNvPr id="75" name="Google Shape;75;p14"/>
              <p:cNvSpPr/>
              <p:nvPr/>
            </p:nvSpPr>
            <p:spPr>
              <a:xfrm>
                <a:off x="50679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lt1"/>
                    </a:solidFill>
                  </a:rPr>
                  <a:t>m2</a:t>
                </a:r>
                <a:endParaRPr sz="1200" b="1">
                  <a:solidFill>
                    <a:schemeClr val="lt1"/>
                  </a:solidFill>
                </a:endParaRPr>
              </a:p>
            </p:txBody>
          </p:sp>
          <p:sp>
            <p:nvSpPr>
              <p:cNvPr id="76" name="Google Shape;76;p14"/>
              <p:cNvSpPr/>
              <p:nvPr/>
            </p:nvSpPr>
            <p:spPr>
              <a:xfrm>
                <a:off x="56013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rPr>
                  <a:t>m3</a:t>
                </a:r>
                <a:endParaRPr sz="1200" b="1">
                  <a:solidFill>
                    <a:schemeClr val="lt1"/>
                  </a:solidFill>
                </a:endParaRPr>
              </a:p>
            </p:txBody>
          </p:sp>
        </p:grpSp>
        <p:grpSp>
          <p:nvGrpSpPr>
            <p:cNvPr id="77" name="Google Shape;77;p14"/>
            <p:cNvGrpSpPr/>
            <p:nvPr/>
          </p:nvGrpSpPr>
          <p:grpSpPr>
            <a:xfrm>
              <a:off x="4610775" y="4374425"/>
              <a:ext cx="1526100" cy="466200"/>
              <a:chOff x="4534575" y="3307625"/>
              <a:chExt cx="1526100" cy="466200"/>
            </a:xfrm>
          </p:grpSpPr>
          <p:sp>
            <p:nvSpPr>
              <p:cNvPr id="78" name="Google Shape;78;p14"/>
              <p:cNvSpPr/>
              <p:nvPr/>
            </p:nvSpPr>
            <p:spPr>
              <a:xfrm>
                <a:off x="45345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rPr>
                  <a:t>m4</a:t>
                </a:r>
                <a:endParaRPr sz="1200" b="1">
                  <a:solidFill>
                    <a:schemeClr val="lt1"/>
                  </a:solidFill>
                </a:endParaRPr>
              </a:p>
            </p:txBody>
          </p:sp>
          <p:sp>
            <p:nvSpPr>
              <p:cNvPr id="79" name="Google Shape;79;p14"/>
              <p:cNvSpPr/>
              <p:nvPr/>
            </p:nvSpPr>
            <p:spPr>
              <a:xfrm>
                <a:off x="50679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rPr>
                  <a:t>…</a:t>
                </a:r>
                <a:endParaRPr sz="1200" b="1">
                  <a:solidFill>
                    <a:schemeClr val="lt1"/>
                  </a:solidFill>
                </a:endParaRPr>
              </a:p>
            </p:txBody>
          </p:sp>
          <p:sp>
            <p:nvSpPr>
              <p:cNvPr id="80" name="Google Shape;80;p14"/>
              <p:cNvSpPr/>
              <p:nvPr/>
            </p:nvSpPr>
            <p:spPr>
              <a:xfrm>
                <a:off x="56013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rPr>
                  <a:t>mn</a:t>
                </a:r>
                <a:endParaRPr sz="1200" b="1">
                  <a:solidFill>
                    <a:schemeClr val="lt1"/>
                  </a:solidFill>
                </a:endParaRPr>
              </a:p>
            </p:txBody>
          </p:sp>
        </p:grpSp>
      </p:grpSp>
      <p:cxnSp>
        <p:nvCxnSpPr>
          <p:cNvPr id="81" name="Google Shape;81;p14"/>
          <p:cNvCxnSpPr>
            <a:endCxn id="69" idx="1"/>
          </p:cNvCxnSpPr>
          <p:nvPr/>
        </p:nvCxnSpPr>
        <p:spPr>
          <a:xfrm>
            <a:off x="2522925" y="4068725"/>
            <a:ext cx="1481400" cy="5400"/>
          </a:xfrm>
          <a:prstGeom prst="straightConnector1">
            <a:avLst/>
          </a:prstGeom>
          <a:noFill/>
          <a:ln w="19050" cap="flat" cmpd="sng">
            <a:solidFill>
              <a:schemeClr val="dk2"/>
            </a:solidFill>
            <a:prstDash val="dash"/>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10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fade">
                                      <p:cBhvr>
                                        <p:cTn id="12" dur="1000"/>
                                        <p:tgtEl>
                                          <p:spTgt spid="8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10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5"/>
        <p:cNvGrpSpPr/>
        <p:nvPr/>
      </p:nvGrpSpPr>
      <p:grpSpPr>
        <a:xfrm>
          <a:off x="0" y="0"/>
          <a:ext cx="0" cy="0"/>
          <a:chOff x="0" y="0"/>
          <a:chExt cx="0" cy="0"/>
        </a:xfrm>
      </p:grpSpPr>
      <p:pic>
        <p:nvPicPr>
          <p:cNvPr id="86" name="Google Shape;86;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87" name="Google Shape;87;p15"/>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Why Wrapper Class needed</a:t>
            </a:r>
            <a:endParaRPr sz="2000"/>
          </a:p>
        </p:txBody>
      </p:sp>
      <p:sp>
        <p:nvSpPr>
          <p:cNvPr id="88" name="Google Shape;88;p15"/>
          <p:cNvSpPr txBox="1"/>
          <p:nvPr/>
        </p:nvSpPr>
        <p:spPr>
          <a:xfrm>
            <a:off x="645000" y="798716"/>
            <a:ext cx="785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grpSp>
        <p:nvGrpSpPr>
          <p:cNvPr id="89" name="Google Shape;89;p15"/>
          <p:cNvGrpSpPr/>
          <p:nvPr/>
        </p:nvGrpSpPr>
        <p:grpSpPr>
          <a:xfrm>
            <a:off x="1335000" y="1263675"/>
            <a:ext cx="1115700" cy="1182450"/>
            <a:chOff x="1716000" y="3473475"/>
            <a:chExt cx="1115700" cy="1182450"/>
          </a:xfrm>
        </p:grpSpPr>
        <p:grpSp>
          <p:nvGrpSpPr>
            <p:cNvPr id="90" name="Google Shape;90;p15"/>
            <p:cNvGrpSpPr/>
            <p:nvPr/>
          </p:nvGrpSpPr>
          <p:grpSpPr>
            <a:xfrm>
              <a:off x="1716000" y="3473475"/>
              <a:ext cx="1115700" cy="1182450"/>
              <a:chOff x="1716000" y="3549675"/>
              <a:chExt cx="1115700" cy="1182450"/>
            </a:xfrm>
          </p:grpSpPr>
          <p:sp>
            <p:nvSpPr>
              <p:cNvPr id="91" name="Google Shape;91;p15"/>
              <p:cNvSpPr/>
              <p:nvPr/>
            </p:nvSpPr>
            <p:spPr>
              <a:xfrm>
                <a:off x="2043900" y="4265925"/>
                <a:ext cx="459300" cy="466200"/>
              </a:xfrm>
              <a:prstGeom prst="roundRect">
                <a:avLst>
                  <a:gd name="adj" fmla="val 16667"/>
                </a:avLst>
              </a:prstGeom>
              <a:solidFill>
                <a:srgbClr val="FF9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12</a:t>
                </a:r>
                <a:endParaRPr b="1">
                  <a:solidFill>
                    <a:schemeClr val="lt1"/>
                  </a:solidFill>
                </a:endParaRPr>
              </a:p>
            </p:txBody>
          </p:sp>
          <p:sp>
            <p:nvSpPr>
              <p:cNvPr id="92" name="Google Shape;92;p15"/>
              <p:cNvSpPr txBox="1"/>
              <p:nvPr/>
            </p:nvSpPr>
            <p:spPr>
              <a:xfrm>
                <a:off x="1716000" y="3549675"/>
                <a:ext cx="1115700" cy="400200"/>
              </a:xfrm>
              <a:prstGeom prst="rect">
                <a:avLst/>
              </a:prstGeom>
              <a:solidFill>
                <a:srgbClr val="A64D79"/>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lt1"/>
                    </a:solidFill>
                  </a:rPr>
                  <a:t>int value</a:t>
                </a:r>
                <a:endParaRPr b="1">
                  <a:solidFill>
                    <a:schemeClr val="lt1"/>
                  </a:solidFill>
                </a:endParaRPr>
              </a:p>
            </p:txBody>
          </p:sp>
        </p:grpSp>
        <p:cxnSp>
          <p:nvCxnSpPr>
            <p:cNvPr id="93" name="Google Shape;93;p15"/>
            <p:cNvCxnSpPr>
              <a:stCxn id="92" idx="2"/>
              <a:endCxn id="91" idx="0"/>
            </p:cNvCxnSpPr>
            <p:nvPr/>
          </p:nvCxnSpPr>
          <p:spPr>
            <a:xfrm rot="-5400000" flipH="1">
              <a:off x="2116050" y="4031475"/>
              <a:ext cx="316200" cy="600"/>
            </a:xfrm>
            <a:prstGeom prst="bentConnector3">
              <a:avLst>
                <a:gd name="adj1" fmla="val 49976"/>
              </a:avLst>
            </a:prstGeom>
            <a:noFill/>
            <a:ln w="9525" cap="flat" cmpd="sng">
              <a:solidFill>
                <a:schemeClr val="dk2"/>
              </a:solidFill>
              <a:prstDash val="solid"/>
              <a:round/>
              <a:headEnd type="none" w="med" len="med"/>
              <a:tailEnd type="triangle" w="med" len="med"/>
            </a:ln>
          </p:spPr>
        </p:cxnSp>
      </p:grpSp>
      <p:grpSp>
        <p:nvGrpSpPr>
          <p:cNvPr id="94" name="Google Shape;94;p15"/>
          <p:cNvGrpSpPr/>
          <p:nvPr/>
        </p:nvGrpSpPr>
        <p:grpSpPr>
          <a:xfrm>
            <a:off x="4004325" y="1023425"/>
            <a:ext cx="3780300" cy="1681800"/>
            <a:chOff x="4385325" y="3233225"/>
            <a:chExt cx="3780300" cy="1681800"/>
          </a:xfrm>
        </p:grpSpPr>
        <p:sp>
          <p:nvSpPr>
            <p:cNvPr id="95" name="Google Shape;95;p15"/>
            <p:cNvSpPr/>
            <p:nvPr/>
          </p:nvSpPr>
          <p:spPr>
            <a:xfrm>
              <a:off x="4385325" y="3233225"/>
              <a:ext cx="1977000" cy="1681800"/>
            </a:xfrm>
            <a:prstGeom prst="roundRect">
              <a:avLst>
                <a:gd name="adj" fmla="val 16667"/>
              </a:avLst>
            </a:prstGeom>
            <a:solidFill>
              <a:srgbClr val="A4C2F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txBox="1"/>
            <p:nvPr/>
          </p:nvSpPr>
          <p:spPr>
            <a:xfrm>
              <a:off x="7049925" y="3766325"/>
              <a:ext cx="1115700" cy="615600"/>
            </a:xfrm>
            <a:prstGeom prst="rect">
              <a:avLst/>
            </a:prstGeom>
            <a:solidFill>
              <a:srgbClr val="A64D79"/>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lt1"/>
                  </a:solidFill>
                </a:rPr>
                <a:t>Integer  object</a:t>
              </a:r>
              <a:endParaRPr b="1">
                <a:solidFill>
                  <a:schemeClr val="lt1"/>
                </a:solidFill>
              </a:endParaRPr>
            </a:p>
          </p:txBody>
        </p:sp>
        <p:cxnSp>
          <p:nvCxnSpPr>
            <p:cNvPr id="97" name="Google Shape;97;p15"/>
            <p:cNvCxnSpPr>
              <a:stCxn id="95" idx="3"/>
              <a:endCxn id="96" idx="1"/>
            </p:cNvCxnSpPr>
            <p:nvPr/>
          </p:nvCxnSpPr>
          <p:spPr>
            <a:xfrm>
              <a:off x="6362325" y="4074125"/>
              <a:ext cx="687600" cy="0"/>
            </a:xfrm>
            <a:prstGeom prst="straightConnector1">
              <a:avLst/>
            </a:prstGeom>
            <a:noFill/>
            <a:ln w="9525" cap="flat" cmpd="sng">
              <a:solidFill>
                <a:schemeClr val="dk2"/>
              </a:solidFill>
              <a:prstDash val="solid"/>
              <a:round/>
              <a:headEnd type="triangle" w="med" len="med"/>
              <a:tailEnd type="none" w="med" len="med"/>
            </a:ln>
          </p:spPr>
        </p:cxnSp>
        <p:sp>
          <p:nvSpPr>
            <p:cNvPr id="98" name="Google Shape;98;p15"/>
            <p:cNvSpPr/>
            <p:nvPr/>
          </p:nvSpPr>
          <p:spPr>
            <a:xfrm>
              <a:off x="5144175" y="3841025"/>
              <a:ext cx="459300" cy="466200"/>
            </a:xfrm>
            <a:prstGeom prst="roundRect">
              <a:avLst>
                <a:gd name="adj" fmla="val 16667"/>
              </a:avLst>
            </a:prstGeom>
            <a:solidFill>
              <a:srgbClr val="FF9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12</a:t>
              </a:r>
              <a:endParaRPr b="1">
                <a:solidFill>
                  <a:schemeClr val="lt1"/>
                </a:solidFill>
              </a:endParaRPr>
            </a:p>
          </p:txBody>
        </p:sp>
        <p:grpSp>
          <p:nvGrpSpPr>
            <p:cNvPr id="99" name="Google Shape;99;p15"/>
            <p:cNvGrpSpPr/>
            <p:nvPr/>
          </p:nvGrpSpPr>
          <p:grpSpPr>
            <a:xfrm>
              <a:off x="4610775" y="3307625"/>
              <a:ext cx="1526100" cy="466200"/>
              <a:chOff x="4534575" y="3307625"/>
              <a:chExt cx="1526100" cy="466200"/>
            </a:xfrm>
          </p:grpSpPr>
          <p:sp>
            <p:nvSpPr>
              <p:cNvPr id="100" name="Google Shape;100;p15"/>
              <p:cNvSpPr/>
              <p:nvPr/>
            </p:nvSpPr>
            <p:spPr>
              <a:xfrm>
                <a:off x="45345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rPr>
                  <a:t>m1</a:t>
                </a:r>
                <a:endParaRPr sz="1200" b="1">
                  <a:solidFill>
                    <a:schemeClr val="lt1"/>
                  </a:solidFill>
                </a:endParaRPr>
              </a:p>
            </p:txBody>
          </p:sp>
          <p:sp>
            <p:nvSpPr>
              <p:cNvPr id="101" name="Google Shape;101;p15"/>
              <p:cNvSpPr/>
              <p:nvPr/>
            </p:nvSpPr>
            <p:spPr>
              <a:xfrm>
                <a:off x="50679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lt1"/>
                    </a:solidFill>
                  </a:rPr>
                  <a:t>m2</a:t>
                </a:r>
                <a:endParaRPr sz="1200" b="1">
                  <a:solidFill>
                    <a:schemeClr val="lt1"/>
                  </a:solidFill>
                </a:endParaRPr>
              </a:p>
            </p:txBody>
          </p:sp>
          <p:sp>
            <p:nvSpPr>
              <p:cNvPr id="102" name="Google Shape;102;p15"/>
              <p:cNvSpPr/>
              <p:nvPr/>
            </p:nvSpPr>
            <p:spPr>
              <a:xfrm>
                <a:off x="56013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rPr>
                  <a:t>m3</a:t>
                </a:r>
                <a:endParaRPr sz="1200" b="1">
                  <a:solidFill>
                    <a:schemeClr val="lt1"/>
                  </a:solidFill>
                </a:endParaRPr>
              </a:p>
            </p:txBody>
          </p:sp>
        </p:grpSp>
        <p:grpSp>
          <p:nvGrpSpPr>
            <p:cNvPr id="103" name="Google Shape;103;p15"/>
            <p:cNvGrpSpPr/>
            <p:nvPr/>
          </p:nvGrpSpPr>
          <p:grpSpPr>
            <a:xfrm>
              <a:off x="4610775" y="4374425"/>
              <a:ext cx="1526100" cy="466200"/>
              <a:chOff x="4534575" y="3307625"/>
              <a:chExt cx="1526100" cy="466200"/>
            </a:xfrm>
          </p:grpSpPr>
          <p:sp>
            <p:nvSpPr>
              <p:cNvPr id="104" name="Google Shape;104;p15"/>
              <p:cNvSpPr/>
              <p:nvPr/>
            </p:nvSpPr>
            <p:spPr>
              <a:xfrm>
                <a:off x="45345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rPr>
                  <a:t>m4</a:t>
                </a:r>
                <a:endParaRPr sz="1200" b="1">
                  <a:solidFill>
                    <a:schemeClr val="lt1"/>
                  </a:solidFill>
                </a:endParaRPr>
              </a:p>
            </p:txBody>
          </p:sp>
          <p:sp>
            <p:nvSpPr>
              <p:cNvPr id="105" name="Google Shape;105;p15"/>
              <p:cNvSpPr/>
              <p:nvPr/>
            </p:nvSpPr>
            <p:spPr>
              <a:xfrm>
                <a:off x="50679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rPr>
                  <a:t>…</a:t>
                </a:r>
                <a:endParaRPr sz="1200" b="1">
                  <a:solidFill>
                    <a:schemeClr val="lt1"/>
                  </a:solidFill>
                </a:endParaRPr>
              </a:p>
            </p:txBody>
          </p:sp>
          <p:sp>
            <p:nvSpPr>
              <p:cNvPr id="106" name="Google Shape;106;p15"/>
              <p:cNvSpPr/>
              <p:nvPr/>
            </p:nvSpPr>
            <p:spPr>
              <a:xfrm>
                <a:off x="5601375" y="3307625"/>
                <a:ext cx="459300" cy="4662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rPr>
                  <a:t>mn</a:t>
                </a:r>
                <a:endParaRPr sz="1200" b="1">
                  <a:solidFill>
                    <a:schemeClr val="lt1"/>
                  </a:solidFill>
                </a:endParaRPr>
              </a:p>
            </p:txBody>
          </p:sp>
        </p:grpSp>
      </p:grpSp>
      <p:cxnSp>
        <p:nvCxnSpPr>
          <p:cNvPr id="107" name="Google Shape;107;p15"/>
          <p:cNvCxnSpPr>
            <a:endCxn id="95" idx="1"/>
          </p:cNvCxnSpPr>
          <p:nvPr/>
        </p:nvCxnSpPr>
        <p:spPr>
          <a:xfrm>
            <a:off x="2522925" y="1858925"/>
            <a:ext cx="1481400" cy="5400"/>
          </a:xfrm>
          <a:prstGeom prst="straightConnector1">
            <a:avLst/>
          </a:prstGeom>
          <a:noFill/>
          <a:ln w="19050" cap="flat" cmpd="sng">
            <a:solidFill>
              <a:schemeClr val="dk2"/>
            </a:solidFill>
            <a:prstDash val="dash"/>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1000"/>
                                        <p:tgtEl>
                                          <p:spTgt spid="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7"/>
                                        </p:tgtEl>
                                        <p:attrNameLst>
                                          <p:attrName>style.visibility</p:attrName>
                                        </p:attrNameLst>
                                      </p:cBhvr>
                                      <p:to>
                                        <p:strVal val="visible"/>
                                      </p:to>
                                    </p:set>
                                    <p:animEffect transition="in" filter="fade">
                                      <p:cBhvr>
                                        <p:cTn id="12" dur="1000"/>
                                        <p:tgtEl>
                                          <p:spTgt spid="1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4"/>
                                        </p:tgtEl>
                                        <p:attrNameLst>
                                          <p:attrName>style.visibility</p:attrName>
                                        </p:attrNameLst>
                                      </p:cBhvr>
                                      <p:to>
                                        <p:strVal val="visible"/>
                                      </p:to>
                                    </p:set>
                                    <p:animEffect transition="in" filter="fade">
                                      <p:cBhvr>
                                        <p:cTn id="17"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11"/>
        <p:cNvGrpSpPr/>
        <p:nvPr/>
      </p:nvGrpSpPr>
      <p:grpSpPr>
        <a:xfrm>
          <a:off x="0" y="0"/>
          <a:ext cx="0" cy="0"/>
          <a:chOff x="0" y="0"/>
          <a:chExt cx="0" cy="0"/>
        </a:xfrm>
      </p:grpSpPr>
      <p:pic>
        <p:nvPicPr>
          <p:cNvPr id="112" name="Google Shape;112;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13" name="Google Shape;113;p16"/>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Number Class</a:t>
            </a:r>
            <a:endParaRPr sz="2000"/>
          </a:p>
        </p:txBody>
      </p:sp>
      <p:sp>
        <p:nvSpPr>
          <p:cNvPr id="114" name="Google Shape;114;p16"/>
          <p:cNvSpPr txBox="1"/>
          <p:nvPr/>
        </p:nvSpPr>
        <p:spPr>
          <a:xfrm>
            <a:off x="645000" y="798716"/>
            <a:ext cx="7854000" cy="12621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Number class in Java is an abstract class that is the superclass of Byte, Short, Integer, Long, Float, and Double classes. The </a:t>
            </a:r>
            <a:r>
              <a:rPr lang="en" i="1" u="sng"/>
              <a:t>Byte, Short, Integer, Long, Float</a:t>
            </a:r>
            <a:r>
              <a:rPr lang="en"/>
              <a:t>, and </a:t>
            </a:r>
            <a:r>
              <a:rPr lang="en" i="1" u="sng"/>
              <a:t>Double</a:t>
            </a:r>
            <a:r>
              <a:rPr lang="en"/>
              <a:t> classes are the most commonly used wrapper classes that represent numeric values. All the numeric type wrappers inherit from abstract class Number. Java Number class and its subclasses are present in </a:t>
            </a:r>
            <a:r>
              <a:rPr lang="en" b="1"/>
              <a:t>java.lang package</a:t>
            </a:r>
            <a:r>
              <a:rPr lang="en"/>
              <a:t>. Since </a:t>
            </a:r>
            <a:r>
              <a:rPr lang="en" b="1"/>
              <a:t>Java 1.0</a:t>
            </a:r>
            <a:endParaRPr b="1"/>
          </a:p>
        </p:txBody>
      </p:sp>
      <p:grpSp>
        <p:nvGrpSpPr>
          <p:cNvPr id="115" name="Google Shape;115;p16"/>
          <p:cNvGrpSpPr/>
          <p:nvPr/>
        </p:nvGrpSpPr>
        <p:grpSpPr>
          <a:xfrm>
            <a:off x="962700" y="2195225"/>
            <a:ext cx="7185600" cy="1847900"/>
            <a:chOff x="962700" y="3033425"/>
            <a:chExt cx="7185600" cy="1847900"/>
          </a:xfrm>
        </p:grpSpPr>
        <p:sp>
          <p:nvSpPr>
            <p:cNvPr id="116" name="Google Shape;116;p16"/>
            <p:cNvSpPr/>
            <p:nvPr/>
          </p:nvSpPr>
          <p:spPr>
            <a:xfrm>
              <a:off x="3822900" y="3033425"/>
              <a:ext cx="1465200" cy="336600"/>
            </a:xfrm>
            <a:prstGeom prst="roundRect">
              <a:avLst>
                <a:gd name="adj" fmla="val 16667"/>
              </a:avLst>
            </a:prstGeom>
            <a:solidFill>
              <a:srgbClr val="99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Object</a:t>
              </a:r>
              <a:endParaRPr>
                <a:solidFill>
                  <a:schemeClr val="lt1"/>
                </a:solidFill>
              </a:endParaRPr>
            </a:p>
          </p:txBody>
        </p:sp>
        <p:sp>
          <p:nvSpPr>
            <p:cNvPr id="117" name="Google Shape;117;p16"/>
            <p:cNvSpPr/>
            <p:nvPr/>
          </p:nvSpPr>
          <p:spPr>
            <a:xfrm>
              <a:off x="3822900" y="3734175"/>
              <a:ext cx="1465200" cy="336600"/>
            </a:xfrm>
            <a:prstGeom prst="roundRect">
              <a:avLst>
                <a:gd name="adj" fmla="val 16667"/>
              </a:avLst>
            </a:prstGeom>
            <a:solidFill>
              <a:srgbClr val="1155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Number</a:t>
              </a:r>
              <a:endParaRPr>
                <a:solidFill>
                  <a:schemeClr val="lt1"/>
                </a:solidFill>
              </a:endParaRPr>
            </a:p>
          </p:txBody>
        </p:sp>
        <p:sp>
          <p:nvSpPr>
            <p:cNvPr id="118" name="Google Shape;118;p16"/>
            <p:cNvSpPr/>
            <p:nvPr/>
          </p:nvSpPr>
          <p:spPr>
            <a:xfrm>
              <a:off x="6470700" y="3740908"/>
              <a:ext cx="1304100" cy="336600"/>
            </a:xfrm>
            <a:prstGeom prst="roundRect">
              <a:avLst>
                <a:gd name="adj" fmla="val 16667"/>
              </a:avLst>
            </a:prstGeom>
            <a:solidFill>
              <a:srgbClr val="BF9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Serializable</a:t>
              </a:r>
              <a:endParaRPr>
                <a:solidFill>
                  <a:schemeClr val="lt1"/>
                </a:solidFill>
              </a:endParaRPr>
            </a:p>
          </p:txBody>
        </p:sp>
        <p:sp>
          <p:nvSpPr>
            <p:cNvPr id="119" name="Google Shape;119;p16"/>
            <p:cNvSpPr/>
            <p:nvPr/>
          </p:nvSpPr>
          <p:spPr>
            <a:xfrm>
              <a:off x="962700" y="4544725"/>
              <a:ext cx="1086600" cy="336600"/>
            </a:xfrm>
            <a:prstGeom prst="roundRect">
              <a:avLst>
                <a:gd name="adj" fmla="val 16667"/>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Byte</a:t>
              </a:r>
              <a:endParaRPr>
                <a:solidFill>
                  <a:schemeClr val="lt1"/>
                </a:solidFill>
              </a:endParaRPr>
            </a:p>
          </p:txBody>
        </p:sp>
        <p:sp>
          <p:nvSpPr>
            <p:cNvPr id="120" name="Google Shape;120;p16"/>
            <p:cNvSpPr/>
            <p:nvPr/>
          </p:nvSpPr>
          <p:spPr>
            <a:xfrm>
              <a:off x="2182500" y="4544725"/>
              <a:ext cx="1086600" cy="336600"/>
            </a:xfrm>
            <a:prstGeom prst="roundRect">
              <a:avLst>
                <a:gd name="adj" fmla="val 16667"/>
              </a:avLst>
            </a:prstGeom>
            <a:solidFill>
              <a:srgbClr val="351C75"/>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Short</a:t>
              </a:r>
              <a:endParaRPr>
                <a:solidFill>
                  <a:schemeClr val="lt1"/>
                </a:solidFill>
              </a:endParaRPr>
            </a:p>
          </p:txBody>
        </p:sp>
        <p:sp>
          <p:nvSpPr>
            <p:cNvPr id="121" name="Google Shape;121;p16"/>
            <p:cNvSpPr/>
            <p:nvPr/>
          </p:nvSpPr>
          <p:spPr>
            <a:xfrm>
              <a:off x="3402300" y="4544725"/>
              <a:ext cx="1086600" cy="336600"/>
            </a:xfrm>
            <a:prstGeom prst="roundRect">
              <a:avLst>
                <a:gd name="adj" fmla="val 16667"/>
              </a:avLst>
            </a:prstGeom>
            <a:solidFill>
              <a:srgbClr val="741B4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Integer</a:t>
              </a:r>
              <a:endParaRPr>
                <a:solidFill>
                  <a:schemeClr val="lt1"/>
                </a:solidFill>
              </a:endParaRPr>
            </a:p>
          </p:txBody>
        </p:sp>
        <p:sp>
          <p:nvSpPr>
            <p:cNvPr id="122" name="Google Shape;122;p16"/>
            <p:cNvSpPr/>
            <p:nvPr/>
          </p:nvSpPr>
          <p:spPr>
            <a:xfrm>
              <a:off x="4622100" y="4544725"/>
              <a:ext cx="1086600" cy="336600"/>
            </a:xfrm>
            <a:prstGeom prst="roundRect">
              <a:avLst>
                <a:gd name="adj" fmla="val 16667"/>
              </a:avLst>
            </a:prstGeom>
            <a:solidFill>
              <a:srgbClr val="85200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Long</a:t>
              </a:r>
              <a:endParaRPr>
                <a:solidFill>
                  <a:schemeClr val="lt1"/>
                </a:solidFill>
              </a:endParaRPr>
            </a:p>
          </p:txBody>
        </p:sp>
        <p:sp>
          <p:nvSpPr>
            <p:cNvPr id="123" name="Google Shape;123;p16"/>
            <p:cNvSpPr/>
            <p:nvPr/>
          </p:nvSpPr>
          <p:spPr>
            <a:xfrm>
              <a:off x="5841900" y="4544725"/>
              <a:ext cx="1086600" cy="336600"/>
            </a:xfrm>
            <a:prstGeom prst="roundRect">
              <a:avLst>
                <a:gd name="adj" fmla="val 16667"/>
              </a:avLst>
            </a:prstGeom>
            <a:solidFill>
              <a:srgbClr val="134F5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Float</a:t>
              </a:r>
              <a:endParaRPr>
                <a:solidFill>
                  <a:schemeClr val="lt1"/>
                </a:solidFill>
              </a:endParaRPr>
            </a:p>
          </p:txBody>
        </p:sp>
        <p:sp>
          <p:nvSpPr>
            <p:cNvPr id="124" name="Google Shape;124;p16"/>
            <p:cNvSpPr/>
            <p:nvPr/>
          </p:nvSpPr>
          <p:spPr>
            <a:xfrm>
              <a:off x="7061700" y="4544725"/>
              <a:ext cx="1086600" cy="336600"/>
            </a:xfrm>
            <a:prstGeom prst="roundRect">
              <a:avLst>
                <a:gd name="adj" fmla="val 16667"/>
              </a:avLst>
            </a:prstGeom>
            <a:solidFill>
              <a:srgbClr val="1155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Double</a:t>
              </a:r>
              <a:endParaRPr>
                <a:solidFill>
                  <a:schemeClr val="lt1"/>
                </a:solidFill>
              </a:endParaRPr>
            </a:p>
          </p:txBody>
        </p:sp>
        <p:cxnSp>
          <p:nvCxnSpPr>
            <p:cNvPr id="125" name="Google Shape;125;p16"/>
            <p:cNvCxnSpPr>
              <a:stCxn id="116" idx="2"/>
              <a:endCxn id="117" idx="0"/>
            </p:cNvCxnSpPr>
            <p:nvPr/>
          </p:nvCxnSpPr>
          <p:spPr>
            <a:xfrm>
              <a:off x="4555500" y="3370025"/>
              <a:ext cx="0" cy="364200"/>
            </a:xfrm>
            <a:prstGeom prst="straightConnector1">
              <a:avLst/>
            </a:prstGeom>
            <a:noFill/>
            <a:ln w="19050" cap="flat" cmpd="sng">
              <a:solidFill>
                <a:srgbClr val="000000"/>
              </a:solidFill>
              <a:prstDash val="solid"/>
              <a:round/>
              <a:headEnd type="none" w="med" len="med"/>
              <a:tailEnd type="triangle" w="med" len="med"/>
            </a:ln>
          </p:spPr>
        </p:cxnSp>
        <p:cxnSp>
          <p:nvCxnSpPr>
            <p:cNvPr id="126" name="Google Shape;126;p16"/>
            <p:cNvCxnSpPr>
              <a:stCxn id="118" idx="1"/>
              <a:endCxn id="117" idx="3"/>
            </p:cNvCxnSpPr>
            <p:nvPr/>
          </p:nvCxnSpPr>
          <p:spPr>
            <a:xfrm rot="10800000">
              <a:off x="5288100" y="3902608"/>
              <a:ext cx="1182600" cy="6600"/>
            </a:xfrm>
            <a:prstGeom prst="straightConnector1">
              <a:avLst/>
            </a:prstGeom>
            <a:noFill/>
            <a:ln w="19050" cap="flat" cmpd="sng">
              <a:solidFill>
                <a:srgbClr val="000000"/>
              </a:solidFill>
              <a:prstDash val="dash"/>
              <a:round/>
              <a:headEnd type="none" w="med" len="med"/>
              <a:tailEnd type="triangle" w="med" len="med"/>
            </a:ln>
          </p:spPr>
        </p:cxnSp>
        <p:sp>
          <p:nvSpPr>
            <p:cNvPr id="127" name="Google Shape;127;p16"/>
            <p:cNvSpPr txBox="1"/>
            <p:nvPr/>
          </p:nvSpPr>
          <p:spPr>
            <a:xfrm>
              <a:off x="3621300" y="3313625"/>
              <a:ext cx="840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extends</a:t>
              </a:r>
              <a:endParaRPr/>
            </a:p>
          </p:txBody>
        </p:sp>
        <p:sp>
          <p:nvSpPr>
            <p:cNvPr id="128" name="Google Shape;128;p16"/>
            <p:cNvSpPr txBox="1"/>
            <p:nvPr/>
          </p:nvSpPr>
          <p:spPr>
            <a:xfrm>
              <a:off x="5380050" y="3537325"/>
              <a:ext cx="1121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implements</a:t>
              </a:r>
              <a:endParaRPr/>
            </a:p>
          </p:txBody>
        </p:sp>
        <p:cxnSp>
          <p:nvCxnSpPr>
            <p:cNvPr id="129" name="Google Shape;129;p16"/>
            <p:cNvCxnSpPr>
              <a:stCxn id="117" idx="2"/>
              <a:endCxn id="119" idx="0"/>
            </p:cNvCxnSpPr>
            <p:nvPr/>
          </p:nvCxnSpPr>
          <p:spPr>
            <a:xfrm rot="5400000">
              <a:off x="2793750" y="2783025"/>
              <a:ext cx="474000" cy="3049500"/>
            </a:xfrm>
            <a:prstGeom prst="bentConnector3">
              <a:avLst>
                <a:gd name="adj1" fmla="val 49995"/>
              </a:avLst>
            </a:prstGeom>
            <a:noFill/>
            <a:ln w="19050" cap="flat" cmpd="sng">
              <a:solidFill>
                <a:schemeClr val="dk2"/>
              </a:solidFill>
              <a:prstDash val="solid"/>
              <a:round/>
              <a:headEnd type="none" w="med" len="med"/>
              <a:tailEnd type="triangle" w="med" len="med"/>
            </a:ln>
          </p:spPr>
        </p:cxnSp>
        <p:cxnSp>
          <p:nvCxnSpPr>
            <p:cNvPr id="130" name="Google Shape;130;p16"/>
            <p:cNvCxnSpPr>
              <a:stCxn id="117" idx="2"/>
              <a:endCxn id="120" idx="0"/>
            </p:cNvCxnSpPr>
            <p:nvPr/>
          </p:nvCxnSpPr>
          <p:spPr>
            <a:xfrm rot="5400000">
              <a:off x="3403650" y="3392925"/>
              <a:ext cx="474000" cy="1829700"/>
            </a:xfrm>
            <a:prstGeom prst="bentConnector3">
              <a:avLst>
                <a:gd name="adj1" fmla="val 49995"/>
              </a:avLst>
            </a:prstGeom>
            <a:noFill/>
            <a:ln w="19050" cap="flat" cmpd="sng">
              <a:solidFill>
                <a:schemeClr val="dk2"/>
              </a:solidFill>
              <a:prstDash val="solid"/>
              <a:round/>
              <a:headEnd type="none" w="med" len="med"/>
              <a:tailEnd type="triangle" w="med" len="med"/>
            </a:ln>
          </p:spPr>
        </p:cxnSp>
        <p:cxnSp>
          <p:nvCxnSpPr>
            <p:cNvPr id="131" name="Google Shape;131;p16"/>
            <p:cNvCxnSpPr>
              <a:stCxn id="117" idx="2"/>
              <a:endCxn id="122" idx="0"/>
            </p:cNvCxnSpPr>
            <p:nvPr/>
          </p:nvCxnSpPr>
          <p:spPr>
            <a:xfrm rot="-5400000" flipH="1">
              <a:off x="4623450" y="4002825"/>
              <a:ext cx="474000" cy="609900"/>
            </a:xfrm>
            <a:prstGeom prst="bentConnector3">
              <a:avLst>
                <a:gd name="adj1" fmla="val 49995"/>
              </a:avLst>
            </a:prstGeom>
            <a:noFill/>
            <a:ln w="19050" cap="flat" cmpd="sng">
              <a:solidFill>
                <a:schemeClr val="dk2"/>
              </a:solidFill>
              <a:prstDash val="solid"/>
              <a:round/>
              <a:headEnd type="none" w="med" len="med"/>
              <a:tailEnd type="triangle" w="med" len="med"/>
            </a:ln>
          </p:spPr>
        </p:cxnSp>
        <p:cxnSp>
          <p:nvCxnSpPr>
            <p:cNvPr id="132" name="Google Shape;132;p16"/>
            <p:cNvCxnSpPr>
              <a:stCxn id="117" idx="2"/>
              <a:endCxn id="121" idx="0"/>
            </p:cNvCxnSpPr>
            <p:nvPr/>
          </p:nvCxnSpPr>
          <p:spPr>
            <a:xfrm rot="5400000">
              <a:off x="4013550" y="4002825"/>
              <a:ext cx="474000" cy="609900"/>
            </a:xfrm>
            <a:prstGeom prst="bentConnector3">
              <a:avLst>
                <a:gd name="adj1" fmla="val 49995"/>
              </a:avLst>
            </a:prstGeom>
            <a:noFill/>
            <a:ln w="19050" cap="flat" cmpd="sng">
              <a:solidFill>
                <a:schemeClr val="dk2"/>
              </a:solidFill>
              <a:prstDash val="solid"/>
              <a:round/>
              <a:headEnd type="none" w="med" len="med"/>
              <a:tailEnd type="triangle" w="med" len="med"/>
            </a:ln>
          </p:spPr>
        </p:cxnSp>
        <p:cxnSp>
          <p:nvCxnSpPr>
            <p:cNvPr id="133" name="Google Shape;133;p16"/>
            <p:cNvCxnSpPr>
              <a:stCxn id="117" idx="2"/>
              <a:endCxn id="123" idx="0"/>
            </p:cNvCxnSpPr>
            <p:nvPr/>
          </p:nvCxnSpPr>
          <p:spPr>
            <a:xfrm rot="-5400000" flipH="1">
              <a:off x="5233350" y="3392925"/>
              <a:ext cx="474000" cy="1829700"/>
            </a:xfrm>
            <a:prstGeom prst="bentConnector3">
              <a:avLst>
                <a:gd name="adj1" fmla="val 49995"/>
              </a:avLst>
            </a:prstGeom>
            <a:noFill/>
            <a:ln w="19050" cap="flat" cmpd="sng">
              <a:solidFill>
                <a:schemeClr val="dk2"/>
              </a:solidFill>
              <a:prstDash val="solid"/>
              <a:round/>
              <a:headEnd type="none" w="med" len="med"/>
              <a:tailEnd type="triangle" w="med" len="med"/>
            </a:ln>
          </p:spPr>
        </p:cxnSp>
        <p:cxnSp>
          <p:nvCxnSpPr>
            <p:cNvPr id="134" name="Google Shape;134;p16"/>
            <p:cNvCxnSpPr>
              <a:stCxn id="117" idx="2"/>
              <a:endCxn id="124" idx="0"/>
            </p:cNvCxnSpPr>
            <p:nvPr/>
          </p:nvCxnSpPr>
          <p:spPr>
            <a:xfrm rot="-5400000" flipH="1">
              <a:off x="5843250" y="2783025"/>
              <a:ext cx="474000" cy="3049500"/>
            </a:xfrm>
            <a:prstGeom prst="bentConnector3">
              <a:avLst>
                <a:gd name="adj1" fmla="val 49995"/>
              </a:avLst>
            </a:prstGeom>
            <a:noFill/>
            <a:ln w="19050" cap="flat" cmpd="sng">
              <a:solidFill>
                <a:schemeClr val="dk2"/>
              </a:solidFill>
              <a:prstDash val="solid"/>
              <a:round/>
              <a:headEnd type="none" w="med" len="med"/>
              <a:tailEnd type="triangle" w="med" len="med"/>
            </a:ln>
          </p:spPr>
        </p:cxnSp>
      </p:grpSp>
      <p:sp>
        <p:nvSpPr>
          <p:cNvPr id="135" name="Google Shape;135;p16"/>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39"/>
        <p:cNvGrpSpPr/>
        <p:nvPr/>
      </p:nvGrpSpPr>
      <p:grpSpPr>
        <a:xfrm>
          <a:off x="0" y="0"/>
          <a:ext cx="0" cy="0"/>
          <a:chOff x="0" y="0"/>
          <a:chExt cx="0" cy="0"/>
        </a:xfrm>
      </p:grpSpPr>
      <p:pic>
        <p:nvPicPr>
          <p:cNvPr id="140" name="Google Shape;140;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41" name="Google Shape;141;p17"/>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Byte Class</a:t>
            </a:r>
            <a:endParaRPr sz="2000"/>
          </a:p>
        </p:txBody>
      </p:sp>
      <p:sp>
        <p:nvSpPr>
          <p:cNvPr id="142" name="Google Shape;142;p17"/>
          <p:cNvSpPr txBox="1"/>
          <p:nvPr/>
        </p:nvSpPr>
        <p:spPr>
          <a:xfrm>
            <a:off x="645000" y="798716"/>
            <a:ext cx="7854000" cy="12621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Byte class in Java is a wrapper class that wraps (converts) a value of primitive data type into an object. In simple words, a Byte is a wrapper around a byte. An object of Byte class contains a </a:t>
            </a:r>
            <a:r>
              <a:rPr lang="en" b="1"/>
              <a:t>single byte type field</a:t>
            </a:r>
            <a:r>
              <a:rPr lang="en"/>
              <a:t>. In this field, we can store a primitive type byte value. Note that the range of byte is from -128 to +127. Byte class was introduced in </a:t>
            </a:r>
            <a:r>
              <a:rPr lang="en" b="1"/>
              <a:t>JDK 1.1</a:t>
            </a:r>
            <a:r>
              <a:rPr lang="en"/>
              <a:t>. It is present in </a:t>
            </a:r>
            <a:r>
              <a:rPr lang="en" b="1"/>
              <a:t>java.lang.Byte</a:t>
            </a:r>
            <a:r>
              <a:rPr lang="en"/>
              <a:t> package.</a:t>
            </a:r>
            <a:endParaRPr/>
          </a:p>
        </p:txBody>
      </p:sp>
      <p:sp>
        <p:nvSpPr>
          <p:cNvPr id="143" name="Google Shape;143;p17"/>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47"/>
        <p:cNvGrpSpPr/>
        <p:nvPr/>
      </p:nvGrpSpPr>
      <p:grpSpPr>
        <a:xfrm>
          <a:off x="0" y="0"/>
          <a:ext cx="0" cy="0"/>
          <a:chOff x="0" y="0"/>
          <a:chExt cx="0" cy="0"/>
        </a:xfrm>
      </p:grpSpPr>
      <p:pic>
        <p:nvPicPr>
          <p:cNvPr id="148" name="Google Shape;148;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49" name="Google Shape;149;p18"/>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Short Class</a:t>
            </a:r>
            <a:endParaRPr sz="2000"/>
          </a:p>
        </p:txBody>
      </p:sp>
      <p:sp>
        <p:nvSpPr>
          <p:cNvPr id="150" name="Google Shape;150;p18"/>
          <p:cNvSpPr txBox="1"/>
          <p:nvPr/>
        </p:nvSpPr>
        <p:spPr>
          <a:xfrm>
            <a:off x="645000" y="798716"/>
            <a:ext cx="7854000" cy="1046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Short class in Java is a wrapper class that wraps (converts) a value of primitive data type “short” in an object. In simple words, a Short is a wrapper around a short. An object of Short class contains a </a:t>
            </a:r>
            <a:r>
              <a:rPr lang="en" b="1"/>
              <a:t>single field of type short</a:t>
            </a:r>
            <a:r>
              <a:rPr lang="en"/>
              <a:t>. In this field, we can store a short number. Short class was introduced in </a:t>
            </a:r>
            <a:r>
              <a:rPr lang="en" b="1"/>
              <a:t>JDK 1.1</a:t>
            </a:r>
            <a:r>
              <a:rPr lang="en"/>
              <a:t> It is present in </a:t>
            </a:r>
            <a:r>
              <a:rPr lang="en" b="1"/>
              <a:t>java.lang.Short</a:t>
            </a:r>
            <a:r>
              <a:rPr lang="en"/>
              <a:t> package.</a:t>
            </a:r>
            <a:endParaRPr/>
          </a:p>
        </p:txBody>
      </p:sp>
      <p:sp>
        <p:nvSpPr>
          <p:cNvPr id="151" name="Google Shape;151;p18"/>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55"/>
        <p:cNvGrpSpPr/>
        <p:nvPr/>
      </p:nvGrpSpPr>
      <p:grpSpPr>
        <a:xfrm>
          <a:off x="0" y="0"/>
          <a:ext cx="0" cy="0"/>
          <a:chOff x="0" y="0"/>
          <a:chExt cx="0" cy="0"/>
        </a:xfrm>
      </p:grpSpPr>
      <p:pic>
        <p:nvPicPr>
          <p:cNvPr id="156" name="Google Shape;156;p1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57" name="Google Shape;157;p19"/>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Integer Class</a:t>
            </a:r>
            <a:endParaRPr sz="2000"/>
          </a:p>
        </p:txBody>
      </p:sp>
      <p:sp>
        <p:nvSpPr>
          <p:cNvPr id="158" name="Google Shape;158;p19"/>
          <p:cNvSpPr txBox="1"/>
          <p:nvPr/>
        </p:nvSpPr>
        <p:spPr>
          <a:xfrm>
            <a:off x="645000" y="798716"/>
            <a:ext cx="78540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Integer class in Java is a wrapper class that wraps (converts) a value of primitive data type “int” in an object.  In simple words, an Integer is a wrapper around an int. An object of Integer class contains a </a:t>
            </a:r>
            <a:r>
              <a:rPr lang="en" b="1"/>
              <a:t>single field of type int</a:t>
            </a:r>
            <a:r>
              <a:rPr lang="en"/>
              <a:t>. In this field, we can store a primitive int value.</a:t>
            </a:r>
            <a:endParaRPr/>
          </a:p>
          <a:p>
            <a:pPr marL="0" lvl="0" indent="0" algn="l" rtl="0">
              <a:spcBef>
                <a:spcPts val="0"/>
              </a:spcBef>
              <a:spcAft>
                <a:spcPts val="0"/>
              </a:spcAft>
              <a:buNone/>
            </a:pPr>
            <a:r>
              <a:rPr lang="en"/>
              <a:t>Integer class was introduced in </a:t>
            </a:r>
            <a:r>
              <a:rPr lang="en" b="1"/>
              <a:t>JDK 1.0</a:t>
            </a:r>
            <a:r>
              <a:rPr lang="en"/>
              <a:t>. It is present in </a:t>
            </a:r>
            <a:r>
              <a:rPr lang="en" b="1"/>
              <a:t>java.lang.Integer</a:t>
            </a:r>
            <a:r>
              <a:rPr lang="en"/>
              <a:t> package.</a:t>
            </a:r>
            <a:endParaRPr/>
          </a:p>
        </p:txBody>
      </p:sp>
      <p:sp>
        <p:nvSpPr>
          <p:cNvPr id="159" name="Google Shape;159;p19"/>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63"/>
        <p:cNvGrpSpPr/>
        <p:nvPr/>
      </p:nvGrpSpPr>
      <p:grpSpPr>
        <a:xfrm>
          <a:off x="0" y="0"/>
          <a:ext cx="0" cy="0"/>
          <a:chOff x="0" y="0"/>
          <a:chExt cx="0" cy="0"/>
        </a:xfrm>
      </p:grpSpPr>
      <p:pic>
        <p:nvPicPr>
          <p:cNvPr id="164" name="Google Shape;164;p20"/>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65" name="Google Shape;165;p20"/>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Long Class</a:t>
            </a:r>
            <a:endParaRPr sz="2000"/>
          </a:p>
        </p:txBody>
      </p:sp>
      <p:sp>
        <p:nvSpPr>
          <p:cNvPr id="166" name="Google Shape;166;p20"/>
          <p:cNvSpPr txBox="1"/>
          <p:nvPr/>
        </p:nvSpPr>
        <p:spPr>
          <a:xfrm>
            <a:off x="645000" y="798716"/>
            <a:ext cx="7854000" cy="1046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Long class in Java is a wrapper class that wraps (converts) a value of primitive data type “long” in an object. In simple words, an Integer is a wrapper around a long. An object of Long class contains a </a:t>
            </a:r>
            <a:r>
              <a:rPr lang="en" b="1"/>
              <a:t>single field of type long</a:t>
            </a:r>
            <a:r>
              <a:rPr lang="en"/>
              <a:t>. In this field, we can store a primitive long value. Long class was introduced in </a:t>
            </a:r>
            <a:r>
              <a:rPr lang="en" b="1"/>
              <a:t>JDK 1.0</a:t>
            </a:r>
            <a:r>
              <a:rPr lang="en"/>
              <a:t>. It is present in </a:t>
            </a:r>
            <a:r>
              <a:rPr lang="en" b="1"/>
              <a:t>java.lang.Long</a:t>
            </a:r>
            <a:r>
              <a:rPr lang="en"/>
              <a:t> package.</a:t>
            </a:r>
            <a:endParaRPr/>
          </a:p>
        </p:txBody>
      </p:sp>
      <p:sp>
        <p:nvSpPr>
          <p:cNvPr id="167" name="Google Shape;167;p20"/>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71"/>
        <p:cNvGrpSpPr/>
        <p:nvPr/>
      </p:nvGrpSpPr>
      <p:grpSpPr>
        <a:xfrm>
          <a:off x="0" y="0"/>
          <a:ext cx="0" cy="0"/>
          <a:chOff x="0" y="0"/>
          <a:chExt cx="0" cy="0"/>
        </a:xfrm>
      </p:grpSpPr>
      <p:pic>
        <p:nvPicPr>
          <p:cNvPr id="172" name="Google Shape;172;p21"/>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73" name="Google Shape;173;p21"/>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Character Class</a:t>
            </a:r>
            <a:endParaRPr sz="2000"/>
          </a:p>
        </p:txBody>
      </p:sp>
      <p:sp>
        <p:nvSpPr>
          <p:cNvPr id="174" name="Google Shape;174;p21"/>
          <p:cNvSpPr txBox="1"/>
          <p:nvPr/>
        </p:nvSpPr>
        <p:spPr>
          <a:xfrm>
            <a:off x="645000" y="798716"/>
            <a:ext cx="7854000" cy="1046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The Character class wraps a value of the primitive type char in an object. An object of type Character contains a </a:t>
            </a:r>
            <a:r>
              <a:rPr lang="en" b="1"/>
              <a:t>single field whose type is char</a:t>
            </a:r>
            <a:r>
              <a:rPr lang="en"/>
              <a:t> . In addition, this class provides several methods for determining a character's category (lowercase letter, digit, etc.). </a:t>
            </a:r>
            <a:r>
              <a:rPr lang="en">
                <a:solidFill>
                  <a:schemeClr val="dk1"/>
                </a:solidFill>
              </a:rPr>
              <a:t>Character class was introduced in </a:t>
            </a:r>
            <a:r>
              <a:rPr lang="en" b="1">
                <a:solidFill>
                  <a:schemeClr val="dk1"/>
                </a:solidFill>
              </a:rPr>
              <a:t>JDK 1.0</a:t>
            </a:r>
            <a:r>
              <a:rPr lang="en">
                <a:solidFill>
                  <a:schemeClr val="dk1"/>
                </a:solidFill>
              </a:rPr>
              <a:t>. It is present in </a:t>
            </a:r>
            <a:r>
              <a:rPr lang="en" b="1">
                <a:solidFill>
                  <a:schemeClr val="dk1"/>
                </a:solidFill>
              </a:rPr>
              <a:t>java.lang.Character</a:t>
            </a:r>
            <a:r>
              <a:rPr lang="en">
                <a:solidFill>
                  <a:schemeClr val="dk1"/>
                </a:solidFill>
              </a:rPr>
              <a:t> package.</a:t>
            </a:r>
            <a:endParaRPr/>
          </a:p>
        </p:txBody>
      </p:sp>
      <p:grpSp>
        <p:nvGrpSpPr>
          <p:cNvPr id="175" name="Google Shape;175;p21"/>
          <p:cNvGrpSpPr/>
          <p:nvPr/>
        </p:nvGrpSpPr>
        <p:grpSpPr>
          <a:xfrm>
            <a:off x="1283750" y="2571738"/>
            <a:ext cx="6576500" cy="1467825"/>
            <a:chOff x="1283750" y="2295038"/>
            <a:chExt cx="6576500" cy="1467825"/>
          </a:xfrm>
        </p:grpSpPr>
        <p:sp>
          <p:nvSpPr>
            <p:cNvPr id="176" name="Google Shape;176;p21"/>
            <p:cNvSpPr/>
            <p:nvPr/>
          </p:nvSpPr>
          <p:spPr>
            <a:xfrm>
              <a:off x="3553650" y="2295038"/>
              <a:ext cx="2036700" cy="462900"/>
            </a:xfrm>
            <a:prstGeom prst="roundRect">
              <a:avLst>
                <a:gd name="adj" fmla="val 16667"/>
              </a:avLst>
            </a:prstGeom>
            <a:solidFill>
              <a:srgbClr val="351C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Constable Interface</a:t>
              </a:r>
              <a:endParaRPr>
                <a:solidFill>
                  <a:srgbClr val="FFFFFF"/>
                </a:solidFill>
              </a:endParaRPr>
            </a:p>
          </p:txBody>
        </p:sp>
        <p:sp>
          <p:nvSpPr>
            <p:cNvPr id="177" name="Google Shape;177;p21"/>
            <p:cNvSpPr/>
            <p:nvPr/>
          </p:nvSpPr>
          <p:spPr>
            <a:xfrm>
              <a:off x="3553650" y="3299963"/>
              <a:ext cx="2036700" cy="462900"/>
            </a:xfrm>
            <a:prstGeom prst="roundRect">
              <a:avLst>
                <a:gd name="adj" fmla="val 16667"/>
              </a:avLst>
            </a:pr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Character Class</a:t>
              </a:r>
              <a:endParaRPr>
                <a:solidFill>
                  <a:srgbClr val="FFFFFF"/>
                </a:solidFill>
              </a:endParaRPr>
            </a:p>
          </p:txBody>
        </p:sp>
        <p:sp>
          <p:nvSpPr>
            <p:cNvPr id="178" name="Google Shape;178;p21"/>
            <p:cNvSpPr/>
            <p:nvPr/>
          </p:nvSpPr>
          <p:spPr>
            <a:xfrm>
              <a:off x="1283750" y="2295038"/>
              <a:ext cx="2036700" cy="462900"/>
            </a:xfrm>
            <a:prstGeom prst="roundRect">
              <a:avLst>
                <a:gd name="adj" fmla="val 16667"/>
              </a:avLst>
            </a:prstGeom>
            <a:solidFill>
              <a:srgbClr val="99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Serializable Interface</a:t>
              </a:r>
              <a:endParaRPr>
                <a:solidFill>
                  <a:srgbClr val="FFFFFF"/>
                </a:solidFill>
              </a:endParaRPr>
            </a:p>
          </p:txBody>
        </p:sp>
        <p:sp>
          <p:nvSpPr>
            <p:cNvPr id="179" name="Google Shape;179;p21"/>
            <p:cNvSpPr/>
            <p:nvPr/>
          </p:nvSpPr>
          <p:spPr>
            <a:xfrm>
              <a:off x="5823550" y="2295038"/>
              <a:ext cx="2036700" cy="462900"/>
            </a:xfrm>
            <a:prstGeom prst="roundRect">
              <a:avLst>
                <a:gd name="adj" fmla="val 16667"/>
              </a:avLst>
            </a:prstGeom>
            <a:solidFill>
              <a:srgbClr val="BF9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Comparable Interface</a:t>
              </a:r>
              <a:endParaRPr>
                <a:solidFill>
                  <a:srgbClr val="FFFFFF"/>
                </a:solidFill>
              </a:endParaRPr>
            </a:p>
          </p:txBody>
        </p:sp>
        <p:cxnSp>
          <p:nvCxnSpPr>
            <p:cNvPr id="180" name="Google Shape;180;p21"/>
            <p:cNvCxnSpPr>
              <a:stCxn id="176" idx="2"/>
              <a:endCxn id="177" idx="0"/>
            </p:cNvCxnSpPr>
            <p:nvPr/>
          </p:nvCxnSpPr>
          <p:spPr>
            <a:xfrm>
              <a:off x="4572000" y="2757938"/>
              <a:ext cx="0" cy="542100"/>
            </a:xfrm>
            <a:prstGeom prst="straightConnector1">
              <a:avLst/>
            </a:prstGeom>
            <a:noFill/>
            <a:ln w="19050" cap="flat" cmpd="sng">
              <a:solidFill>
                <a:srgbClr val="000000"/>
              </a:solidFill>
              <a:prstDash val="solid"/>
              <a:round/>
              <a:headEnd type="none" w="med" len="med"/>
              <a:tailEnd type="triangle" w="med" len="med"/>
            </a:ln>
          </p:spPr>
        </p:cxnSp>
        <p:cxnSp>
          <p:nvCxnSpPr>
            <p:cNvPr id="181" name="Google Shape;181;p21"/>
            <p:cNvCxnSpPr>
              <a:stCxn id="178" idx="2"/>
              <a:endCxn id="177" idx="1"/>
            </p:cNvCxnSpPr>
            <p:nvPr/>
          </p:nvCxnSpPr>
          <p:spPr>
            <a:xfrm rot="-5400000" flipH="1">
              <a:off x="2541200" y="2518838"/>
              <a:ext cx="773400" cy="1251600"/>
            </a:xfrm>
            <a:prstGeom prst="bentConnector2">
              <a:avLst/>
            </a:prstGeom>
            <a:noFill/>
            <a:ln w="19050" cap="flat" cmpd="sng">
              <a:solidFill>
                <a:schemeClr val="dk2"/>
              </a:solidFill>
              <a:prstDash val="solid"/>
              <a:round/>
              <a:headEnd type="none" w="med" len="med"/>
              <a:tailEnd type="triangle" w="med" len="med"/>
            </a:ln>
          </p:spPr>
        </p:cxnSp>
        <p:cxnSp>
          <p:nvCxnSpPr>
            <p:cNvPr id="182" name="Google Shape;182;p21"/>
            <p:cNvCxnSpPr>
              <a:stCxn id="179" idx="2"/>
              <a:endCxn id="177" idx="3"/>
            </p:cNvCxnSpPr>
            <p:nvPr/>
          </p:nvCxnSpPr>
          <p:spPr>
            <a:xfrm rot="5400000">
              <a:off x="5829400" y="2518838"/>
              <a:ext cx="773400" cy="1251600"/>
            </a:xfrm>
            <a:prstGeom prst="bentConnector2">
              <a:avLst/>
            </a:prstGeom>
            <a:noFill/>
            <a:ln w="19050" cap="flat" cmpd="sng">
              <a:solidFill>
                <a:schemeClr val="dk2"/>
              </a:solidFill>
              <a:prstDash val="solid"/>
              <a:round/>
              <a:headEnd type="none" w="med" len="med"/>
              <a:tailEnd type="triangle" w="med" len="med"/>
            </a:ln>
          </p:spPr>
        </p:cxnSp>
      </p:grpSp>
      <p:sp>
        <p:nvSpPr>
          <p:cNvPr id="183" name="Google Shape;183;p21"/>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87"/>
        <p:cNvGrpSpPr/>
        <p:nvPr/>
      </p:nvGrpSpPr>
      <p:grpSpPr>
        <a:xfrm>
          <a:off x="0" y="0"/>
          <a:ext cx="0" cy="0"/>
          <a:chOff x="0" y="0"/>
          <a:chExt cx="0" cy="0"/>
        </a:xfrm>
      </p:grpSpPr>
      <p:pic>
        <p:nvPicPr>
          <p:cNvPr id="188" name="Google Shape;188;p22"/>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89" name="Google Shape;189;p22"/>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Float Class</a:t>
            </a:r>
            <a:endParaRPr sz="2000"/>
          </a:p>
        </p:txBody>
      </p:sp>
      <p:sp>
        <p:nvSpPr>
          <p:cNvPr id="190" name="Google Shape;190;p22"/>
          <p:cNvSpPr txBox="1"/>
          <p:nvPr/>
        </p:nvSpPr>
        <p:spPr>
          <a:xfrm>
            <a:off x="645000" y="798716"/>
            <a:ext cx="7854000" cy="1046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Float class in Java is a wrapper class that wraps (converts) a value of primitive data type “float” in an object. An object of Float class contains a </a:t>
            </a:r>
            <a:r>
              <a:rPr lang="en" b="1"/>
              <a:t>single float type field</a:t>
            </a:r>
            <a:r>
              <a:rPr lang="en"/>
              <a:t> that store a primitive float number. Float class was introduced in </a:t>
            </a:r>
            <a:r>
              <a:rPr lang="en" b="1"/>
              <a:t>JDK 1.0</a:t>
            </a:r>
            <a:r>
              <a:rPr lang="en"/>
              <a:t>. It is present in </a:t>
            </a:r>
            <a:r>
              <a:rPr lang="en" b="1"/>
              <a:t>java.lang.Float</a:t>
            </a:r>
            <a:r>
              <a:rPr lang="en"/>
              <a:t> package.</a:t>
            </a:r>
            <a:endParaRPr/>
          </a:p>
        </p:txBody>
      </p:sp>
      <p:sp>
        <p:nvSpPr>
          <p:cNvPr id="191" name="Google Shape;191;p22"/>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95"/>
        <p:cNvGrpSpPr/>
        <p:nvPr/>
      </p:nvGrpSpPr>
      <p:grpSpPr>
        <a:xfrm>
          <a:off x="0" y="0"/>
          <a:ext cx="0" cy="0"/>
          <a:chOff x="0" y="0"/>
          <a:chExt cx="0" cy="0"/>
        </a:xfrm>
      </p:grpSpPr>
      <p:pic>
        <p:nvPicPr>
          <p:cNvPr id="196" name="Google Shape;196;p23"/>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97" name="Google Shape;197;p23"/>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Double Class</a:t>
            </a:r>
            <a:endParaRPr sz="2000"/>
          </a:p>
        </p:txBody>
      </p:sp>
      <p:sp>
        <p:nvSpPr>
          <p:cNvPr id="198" name="Google Shape;198;p23"/>
          <p:cNvSpPr txBox="1"/>
          <p:nvPr/>
        </p:nvSpPr>
        <p:spPr>
          <a:xfrm>
            <a:off x="645000" y="798716"/>
            <a:ext cx="7854000" cy="1046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Clr>
                <a:schemeClr val="dk1"/>
              </a:buClr>
              <a:buSzPts val="1100"/>
              <a:buFont typeface="Arial"/>
              <a:buNone/>
            </a:pPr>
            <a:r>
              <a:rPr lang="en"/>
              <a:t>Double class in Java is a wrapper class that wraps (converts) a value of primitive data type “double” in an object. An object of Double class contains a </a:t>
            </a:r>
            <a:r>
              <a:rPr lang="en" b="1"/>
              <a:t>single field of type double</a:t>
            </a:r>
            <a:r>
              <a:rPr lang="en"/>
              <a:t>. In this field, we can store a primitive double number. Double class was introduced in </a:t>
            </a:r>
            <a:r>
              <a:rPr lang="en" b="1"/>
              <a:t>JDK 1.0</a:t>
            </a:r>
            <a:r>
              <a:rPr lang="en"/>
              <a:t>. It is present in </a:t>
            </a:r>
            <a:r>
              <a:rPr lang="en" b="1"/>
              <a:t>java.lang.Double</a:t>
            </a:r>
            <a:r>
              <a:rPr lang="en"/>
              <a:t> package.</a:t>
            </a:r>
            <a:endParaRPr/>
          </a:p>
        </p:txBody>
      </p:sp>
      <p:sp>
        <p:nvSpPr>
          <p:cNvPr id="199" name="Google Shape;199;p23"/>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03"/>
        <p:cNvGrpSpPr/>
        <p:nvPr/>
      </p:nvGrpSpPr>
      <p:grpSpPr>
        <a:xfrm>
          <a:off x="0" y="0"/>
          <a:ext cx="0" cy="0"/>
          <a:chOff x="0" y="0"/>
          <a:chExt cx="0" cy="0"/>
        </a:xfrm>
      </p:grpSpPr>
      <p:pic>
        <p:nvPicPr>
          <p:cNvPr id="204" name="Google Shape;204;p2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205" name="Google Shape;205;p24"/>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Boolean Class</a:t>
            </a:r>
            <a:endParaRPr sz="2000"/>
          </a:p>
        </p:txBody>
      </p:sp>
      <p:sp>
        <p:nvSpPr>
          <p:cNvPr id="206" name="Google Shape;206;p24"/>
          <p:cNvSpPr txBox="1"/>
          <p:nvPr/>
        </p:nvSpPr>
        <p:spPr>
          <a:xfrm>
            <a:off x="645000" y="798716"/>
            <a:ext cx="7854000" cy="1046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Boolean class in Java is a wrapper class that wraps (converts) a primitive “boolean” data type value in an object. An object of Boolean class contains a </a:t>
            </a:r>
            <a:r>
              <a:rPr lang="en" b="1"/>
              <a:t>single boolean type field</a:t>
            </a:r>
            <a:r>
              <a:rPr lang="en"/>
              <a:t> where we can store a primitive boolean value. Boolean class was introduced in </a:t>
            </a:r>
            <a:r>
              <a:rPr lang="en" b="1"/>
              <a:t>JDK 1.0</a:t>
            </a:r>
            <a:r>
              <a:rPr lang="en"/>
              <a:t>. It is present in </a:t>
            </a:r>
            <a:r>
              <a:rPr lang="en" b="1"/>
              <a:t>java.lang.Boolean</a:t>
            </a:r>
            <a:r>
              <a:rPr lang="en"/>
              <a:t> package.</a:t>
            </a:r>
            <a:endParaRPr/>
          </a:p>
        </p:txBody>
      </p:sp>
      <p:sp>
        <p:nvSpPr>
          <p:cNvPr id="207" name="Google Shape;207;p24"/>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11"/>
        <p:cNvGrpSpPr/>
        <p:nvPr/>
      </p:nvGrpSpPr>
      <p:grpSpPr>
        <a:xfrm>
          <a:off x="0" y="0"/>
          <a:ext cx="0" cy="0"/>
          <a:chOff x="0" y="0"/>
          <a:chExt cx="0" cy="0"/>
        </a:xfrm>
      </p:grpSpPr>
      <p:sp>
        <p:nvSpPr>
          <p:cNvPr id="212" name="Google Shape;212;p25"/>
          <p:cNvSpPr txBox="1">
            <a:spLocks noGrp="1"/>
          </p:cNvSpPr>
          <p:nvPr>
            <p:ph type="title"/>
          </p:nvPr>
        </p:nvSpPr>
        <p:spPr>
          <a:xfrm>
            <a:off x="19050" y="2285400"/>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213" name="Google Shape;213;p2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897</Words>
  <Application>Microsoft Office PowerPoint</Application>
  <PresentationFormat>On-screen Show (16:9)</PresentationFormat>
  <Paragraphs>74</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2023-02-23T14:19:55Z</dcterms:modified>
</cp:coreProperties>
</file>