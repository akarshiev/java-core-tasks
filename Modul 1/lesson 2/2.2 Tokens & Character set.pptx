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embeddedFontLst>
    <p:embeddedFont>
      <p:font typeface="Book Antiqua" panose="02040602050305030304" pitchFamily="18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E517651-079D-45E5-8CC4-9399480CB6FE}">
  <a:tblStyle styleId="{4E517651-079D-45E5-8CC4-9399480CB6F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562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491bba5938_0_29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491bba5938_0_29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491bba5938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491bba5938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491bba5938_1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491bba5938_1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5f5e52456ab1a4bf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5f5e52456ab1a4bf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389cb2df3e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389cb2df3e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49595741e2_1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49595741e2_1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389cb2df3e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389cb2df3e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55beef4365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55beef4365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5f5e52456ab1a4bf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5f5e52456ab1a4bf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en.wikipedia.org/wiki/List_of_Java_keywords#:~:text=Because%20of%20this%2C%20programmers%20cannot,identifier%2C%20unlike%20standard%20reserved%20words.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242475" y="1905000"/>
            <a:ext cx="63819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Tokens</a:t>
            </a:r>
            <a:endParaRPr sz="2600" b="1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19050" y="290975"/>
            <a:ext cx="9144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Outline </a:t>
            </a:r>
            <a:endParaRPr sz="2000"/>
          </a:p>
        </p:txBody>
      </p:sp>
      <p:sp>
        <p:nvSpPr>
          <p:cNvPr id="61" name="Google Shape;61;p14"/>
          <p:cNvSpPr txBox="1"/>
          <p:nvPr/>
        </p:nvSpPr>
        <p:spPr>
          <a:xfrm>
            <a:off x="1811600" y="1001725"/>
            <a:ext cx="52437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Tokens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Types of tokens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Character set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Keywords(Reserved words)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Interview Questions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3409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 b="1"/>
              <a:t>Tokens</a:t>
            </a:r>
            <a:endParaRPr sz="2000" b="1"/>
          </a:p>
        </p:txBody>
      </p:sp>
      <p:sp>
        <p:nvSpPr>
          <p:cNvPr id="68" name="Google Shape;68;p15"/>
          <p:cNvSpPr txBox="1"/>
          <p:nvPr/>
        </p:nvSpPr>
        <p:spPr>
          <a:xfrm>
            <a:off x="770825" y="1144050"/>
            <a:ext cx="76377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Tokens are the various elements in the java program that are identified by Java compiler. A token is the smallest individual element (unit) in a program that is meaningful to the compiler.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final int a = 12; // 	Here we have 6 tokens;</a:t>
            </a:r>
            <a:endParaRPr>
              <a:solidFill>
                <a:srgbClr val="1155CC"/>
              </a:solidFill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0" y="375375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 b="1"/>
              <a:t>Character set</a:t>
            </a:r>
            <a:endParaRPr sz="2000" b="1"/>
          </a:p>
        </p:txBody>
      </p:sp>
      <p:sp>
        <p:nvSpPr>
          <p:cNvPr id="75" name="Google Shape;75;p16"/>
          <p:cNvSpPr txBox="1"/>
          <p:nvPr/>
        </p:nvSpPr>
        <p:spPr>
          <a:xfrm>
            <a:off x="770825" y="1144050"/>
            <a:ext cx="7637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 </a:t>
            </a:r>
            <a:r>
              <a:rPr lang="en" b="1"/>
              <a:t>Character sets</a:t>
            </a:r>
            <a:r>
              <a:rPr lang="en"/>
              <a:t> are the smallest units (elements) of Java language that are used to write Java tokens. These characters are defined by the Unicode character set.</a:t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0" y="34780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 b="1"/>
              <a:t>Types of tokens</a:t>
            </a:r>
            <a:endParaRPr sz="2000" b="1"/>
          </a:p>
        </p:txBody>
      </p:sp>
      <p:sp>
        <p:nvSpPr>
          <p:cNvPr id="82" name="Google Shape;82;p17"/>
          <p:cNvSpPr txBox="1"/>
          <p:nvPr/>
        </p:nvSpPr>
        <p:spPr>
          <a:xfrm>
            <a:off x="770825" y="1144050"/>
            <a:ext cx="75768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Token types</a:t>
            </a:r>
            <a:endParaRPr b="1">
              <a:solidFill>
                <a:schemeClr val="dk1"/>
              </a:solidFill>
            </a:endParaRPr>
          </a:p>
          <a:p>
            <a:pPr marL="13716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Keywords(Reserved words)</a:t>
            </a:r>
            <a:endParaRPr>
              <a:solidFill>
                <a:schemeClr val="dk1"/>
              </a:solidFill>
            </a:endParaRPr>
          </a:p>
          <a:p>
            <a:pPr marL="13716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Identifiers</a:t>
            </a:r>
            <a:endParaRPr>
              <a:solidFill>
                <a:schemeClr val="dk1"/>
              </a:solidFill>
            </a:endParaRPr>
          </a:p>
          <a:p>
            <a:pPr marL="13716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Literals</a:t>
            </a:r>
            <a:endParaRPr>
              <a:solidFill>
                <a:schemeClr val="dk1"/>
              </a:solidFill>
            </a:endParaRPr>
          </a:p>
          <a:p>
            <a:pPr marL="13716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Operators</a:t>
            </a:r>
            <a:endParaRPr>
              <a:solidFill>
                <a:schemeClr val="dk1"/>
              </a:solidFill>
            </a:endParaRPr>
          </a:p>
          <a:p>
            <a:pPr marL="13716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Separators</a:t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311700" y="3409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 b="1"/>
              <a:t>Keywords, Reserved keywords</a:t>
            </a:r>
            <a:endParaRPr sz="2200" b="1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000"/>
          </a:p>
        </p:txBody>
      </p:sp>
      <p:pic>
        <p:nvPicPr>
          <p:cNvPr id="89" name="Google Shape;89;p18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8"/>
          <p:cNvSpPr txBox="1"/>
          <p:nvPr/>
        </p:nvSpPr>
        <p:spPr>
          <a:xfrm>
            <a:off x="358850" y="1004775"/>
            <a:ext cx="8473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8"/>
          <p:cNvSpPr txBox="1"/>
          <p:nvPr/>
        </p:nvSpPr>
        <p:spPr>
          <a:xfrm>
            <a:off x="877175" y="1124400"/>
            <a:ext cx="7432200" cy="23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There are 67 words as keywords and these keywords are called reserved keywords.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reserved keywords combine with operators and separators.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Data Type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Access Modifiers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Control Statement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Object and Classes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Modifiers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Exceptions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Package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Miscellaneous keywords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9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7" name="Google Shape;97;p19"/>
          <p:cNvGraphicFramePr/>
          <p:nvPr/>
        </p:nvGraphicFramePr>
        <p:xfrm>
          <a:off x="266700" y="514350"/>
          <a:ext cx="1304100" cy="2804000"/>
        </p:xfrm>
        <a:graphic>
          <a:graphicData uri="http://schemas.openxmlformats.org/drawingml/2006/table">
            <a:tbl>
              <a:tblPr>
                <a:noFill/>
                <a:tableStyleId>{4E517651-079D-45E5-8CC4-9399480CB6FE}</a:tableStyleId>
              </a:tblPr>
              <a:tblGrid>
                <a:gridCol w="1304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05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Data types</a:t>
                      </a:r>
                      <a:endParaRPr sz="1100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byte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short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int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long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float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double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char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8" name="Google Shape;98;p19"/>
          <p:cNvGraphicFramePr/>
          <p:nvPr/>
        </p:nvGraphicFramePr>
        <p:xfrm>
          <a:off x="246000" y="3475905"/>
          <a:ext cx="1304100" cy="1485045"/>
        </p:xfrm>
        <a:graphic>
          <a:graphicData uri="http://schemas.openxmlformats.org/drawingml/2006/table">
            <a:tbl>
              <a:tblPr>
                <a:noFill/>
                <a:tableStyleId>{4E517651-079D-45E5-8CC4-9399480CB6FE}</a:tableStyleId>
              </a:tblPr>
              <a:tblGrid>
                <a:gridCol w="1304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3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Access modifiers</a:t>
                      </a:r>
                      <a:endParaRPr sz="1100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private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protected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public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9" name="Google Shape;99;p19"/>
          <p:cNvGraphicFramePr/>
          <p:nvPr/>
        </p:nvGraphicFramePr>
        <p:xfrm>
          <a:off x="3467100" y="514350"/>
          <a:ext cx="2011100" cy="4446600"/>
        </p:xfrm>
        <a:graphic>
          <a:graphicData uri="http://schemas.openxmlformats.org/drawingml/2006/table">
            <a:tbl>
              <a:tblPr>
                <a:noFill/>
                <a:tableStyleId>{4E517651-079D-45E5-8CC4-9399480CB6FE}</a:tableStyleId>
              </a:tblPr>
              <a:tblGrid>
                <a:gridCol w="201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5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Control statement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else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switch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case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default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for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while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do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continue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break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goto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if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100" name="Google Shape;100;p19"/>
          <p:cNvGraphicFramePr/>
          <p:nvPr/>
        </p:nvGraphicFramePr>
        <p:xfrm>
          <a:off x="5753100" y="514350"/>
          <a:ext cx="2011100" cy="3048000"/>
        </p:xfrm>
        <a:graphic>
          <a:graphicData uri="http://schemas.openxmlformats.org/drawingml/2006/table">
            <a:tbl>
              <a:tblPr>
                <a:noFill/>
                <a:tableStyleId>{4E517651-079D-45E5-8CC4-9399480CB6FE}</a:tableStyleId>
              </a:tblPr>
              <a:tblGrid>
                <a:gridCol w="201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Object and Classes</a:t>
                      </a:r>
                      <a:endParaRPr sz="1100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class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interface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extends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implements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this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super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new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01" name="Google Shape;101;p19"/>
          <p:cNvGraphicFramePr/>
          <p:nvPr/>
        </p:nvGraphicFramePr>
        <p:xfrm>
          <a:off x="1866900" y="514440"/>
          <a:ext cx="1304100" cy="3154410"/>
        </p:xfrm>
        <a:graphic>
          <a:graphicData uri="http://schemas.openxmlformats.org/drawingml/2006/table">
            <a:tbl>
              <a:tblPr>
                <a:noFill/>
                <a:tableStyleId>{4E517651-079D-45E5-8CC4-9399480CB6FE}</a:tableStyleId>
              </a:tblPr>
              <a:tblGrid>
                <a:gridCol w="1304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11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Modifiers</a:t>
                      </a:r>
                      <a:endParaRPr sz="1100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static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abstract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synchronized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volatile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native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transient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1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strictfp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1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final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02" name="Google Shape;102;p19"/>
          <p:cNvGraphicFramePr/>
          <p:nvPr/>
        </p:nvGraphicFramePr>
        <p:xfrm>
          <a:off x="7996900" y="514445"/>
          <a:ext cx="940175" cy="2102940"/>
        </p:xfrm>
        <a:graphic>
          <a:graphicData uri="http://schemas.openxmlformats.org/drawingml/2006/table">
            <a:tbl>
              <a:tblPr>
                <a:noFill/>
                <a:tableStyleId>{4E517651-079D-45E5-8CC4-9399480CB6FE}</a:tableStyleId>
              </a:tblPr>
              <a:tblGrid>
                <a:gridCol w="940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Exceptions</a:t>
                      </a:r>
                      <a:endParaRPr sz="1100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try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catch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finally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throw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throws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3" name="Google Shape;103;p19"/>
          <p:cNvGraphicFramePr/>
          <p:nvPr/>
        </p:nvGraphicFramePr>
        <p:xfrm>
          <a:off x="1856550" y="3812830"/>
          <a:ext cx="1304100" cy="1148205"/>
        </p:xfrm>
        <a:graphic>
          <a:graphicData uri="http://schemas.openxmlformats.org/drawingml/2006/table">
            <a:tbl>
              <a:tblPr>
                <a:noFill/>
                <a:tableStyleId>{4E517651-079D-45E5-8CC4-9399480CB6FE}</a:tableStyleId>
              </a:tblPr>
              <a:tblGrid>
                <a:gridCol w="1304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72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Package</a:t>
                      </a:r>
                      <a:endParaRPr sz="1100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package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import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4" name="Google Shape;104;p19"/>
          <p:cNvGraphicFramePr/>
          <p:nvPr/>
        </p:nvGraphicFramePr>
        <p:xfrm>
          <a:off x="5753100" y="3680875"/>
          <a:ext cx="3183975" cy="1386750"/>
        </p:xfrm>
        <a:graphic>
          <a:graphicData uri="http://schemas.openxmlformats.org/drawingml/2006/table">
            <a:tbl>
              <a:tblPr>
                <a:noFill/>
                <a:tableStyleId>{4E517651-079D-45E5-8CC4-9399480CB6FE}</a:tableStyleId>
              </a:tblPr>
              <a:tblGrid>
                <a:gridCol w="3183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1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Miscellaneous keywords</a:t>
                      </a:r>
                      <a:endParaRPr sz="1100"/>
                    </a:p>
                  </a:txBody>
                  <a:tcPr marL="91425" marR="91425" marT="91425" marB="91425"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Return, goto, constant,instanceof, void, assert, default, enum, var,record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Exports, module, non-sealed, open, opens, permits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5" name="Google Shape;105;p19"/>
          <p:cNvSpPr txBox="1"/>
          <p:nvPr/>
        </p:nvSpPr>
        <p:spPr>
          <a:xfrm>
            <a:off x="6083850" y="97700"/>
            <a:ext cx="2978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>
                <a:solidFill>
                  <a:schemeClr val="hlink"/>
                </a:solidFill>
                <a:hlinkClick r:id="rId4"/>
              </a:rPr>
              <a:t>Full Keywords List</a:t>
            </a:r>
            <a:endParaRPr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>
            <a:spLocks noGrp="1"/>
          </p:cNvSpPr>
          <p:nvPr>
            <p:ph type="title"/>
          </p:nvPr>
        </p:nvSpPr>
        <p:spPr>
          <a:xfrm>
            <a:off x="335300" y="21976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200" b="1" u="sng" dirty="0">
                <a:solidFill>
                  <a:schemeClr val="hlink"/>
                </a:solidFill>
              </a:rPr>
              <a:t>Interview Questions</a:t>
            </a:r>
            <a:endParaRPr dirty="0"/>
          </a:p>
        </p:txBody>
      </p:sp>
      <p:pic>
        <p:nvPicPr>
          <p:cNvPr id="111" name="Google Shape;111;p20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0"/>
          <p:cNvSpPr txBox="1"/>
          <p:nvPr/>
        </p:nvSpPr>
        <p:spPr>
          <a:xfrm>
            <a:off x="358850" y="1004775"/>
            <a:ext cx="8473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>
            <a:spLocks noGrp="1"/>
          </p:cNvSpPr>
          <p:nvPr>
            <p:ph type="title"/>
          </p:nvPr>
        </p:nvSpPr>
        <p:spPr>
          <a:xfrm>
            <a:off x="26975" y="2133000"/>
            <a:ext cx="9117000" cy="9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 b="1"/>
              <a:t>The only thing standing between you and outrageous success is continuous progress.</a:t>
            </a:r>
            <a:endParaRPr sz="2400"/>
          </a:p>
        </p:txBody>
      </p:sp>
      <p:pic>
        <p:nvPicPr>
          <p:cNvPr id="118" name="Google Shape;118;p21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1"/>
          <p:cNvSpPr txBox="1"/>
          <p:nvPr/>
        </p:nvSpPr>
        <p:spPr>
          <a:xfrm>
            <a:off x="358850" y="1004775"/>
            <a:ext cx="8473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</Words>
  <Application>Microsoft Office PowerPoint</Application>
  <PresentationFormat>On-screen Show (16:9)</PresentationFormat>
  <Paragraphs>87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Courier New</vt:lpstr>
      <vt:lpstr>Book Antiqua</vt:lpstr>
      <vt:lpstr>Simple Light</vt:lpstr>
      <vt:lpstr>PowerPoint Presentation</vt:lpstr>
      <vt:lpstr>PowerPoint Presentation</vt:lpstr>
      <vt:lpstr>Tokens</vt:lpstr>
      <vt:lpstr>Character set</vt:lpstr>
      <vt:lpstr>Types of tokens</vt:lpstr>
      <vt:lpstr>Keywords, Reserved keywords </vt:lpstr>
      <vt:lpstr>PowerPoint Presentation</vt:lpstr>
      <vt:lpstr>Interview Questions</vt:lpstr>
      <vt:lpstr>The only thing standing between you and outrageous success is continuous progress.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Пользователь</cp:lastModifiedBy>
  <cp:revision>1</cp:revision>
  <dcterms:modified xsi:type="dcterms:W3CDTF">2023-02-23T14:07:16Z</dcterms:modified>
</cp:coreProperties>
</file>