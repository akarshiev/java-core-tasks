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Book Antiqua" panose="02040602050305030304" pitchFamily="18"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88D63C5-8F4B-4482-9FC8-4775DCFC4257}">
  <a:tblStyle styleId="{A88D63C5-8F4B-4482-9FC8-4775DCFC425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491bba5938_0_29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491bba5938_0_29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4b32c0b0f6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4b32c0b0f6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4b32c0b0f6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4b32c0b0f6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63b9a6963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63b9a6963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4b32c0b0f6_0_1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14b32c0b0f6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63b9a6963c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3b9a6963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63037a6f5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63037a6f5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63037a6f59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63037a6f5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hyperlink" Target="https://home.unicode.org/" TargetMode="External"/><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1.png"/><Relationship Id="rId4" Type="http://schemas.openxmlformats.org/officeDocument/2006/relationships/hyperlink" Target="https://unicode-table.com/e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hyperlink" Target="https://gist.github.com/fnky/458719343aabd01cfb17a3a4f7296797"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hyperlink" Target="https://docs.oracle.com/javase/tutorial/java/data/characters.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sp>
        <p:nvSpPr>
          <p:cNvPr id="54" name="Google Shape;54;p13"/>
          <p:cNvSpPr txBox="1"/>
          <p:nvPr/>
        </p:nvSpPr>
        <p:spPr>
          <a:xfrm>
            <a:off x="816575" y="2191650"/>
            <a:ext cx="77337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solidFill>
                  <a:schemeClr val="dk1"/>
                </a:solidFill>
              </a:rPr>
              <a:t>Unicode Standard</a:t>
            </a:r>
            <a:endParaRPr sz="2600" b="1">
              <a:solidFill>
                <a:schemeClr val="dk1"/>
              </a:solidFill>
            </a:endParaRPr>
          </a:p>
        </p:txBody>
      </p:sp>
      <p:pic>
        <p:nvPicPr>
          <p:cNvPr id="55" name="Google Shape;55;p13"/>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sp>
        <p:nvSpPr>
          <p:cNvPr id="60" name="Google Shape;60;p14"/>
          <p:cNvSpPr txBox="1"/>
          <p:nvPr/>
        </p:nvSpPr>
        <p:spPr>
          <a:xfrm>
            <a:off x="0" y="29097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latin typeface="Book Antiqua"/>
                <a:ea typeface="Book Antiqua"/>
                <a:cs typeface="Book Antiqua"/>
                <a:sym typeface="Book Antiqua"/>
              </a:rPr>
              <a:t>Outline </a:t>
            </a:r>
            <a:endParaRPr sz="2000"/>
          </a:p>
        </p:txBody>
      </p:sp>
      <p:pic>
        <p:nvPicPr>
          <p:cNvPr id="61" name="Google Shape;61;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2" name="Google Shape;62;p14"/>
          <p:cNvSpPr txBox="1"/>
          <p:nvPr/>
        </p:nvSpPr>
        <p:spPr>
          <a:xfrm>
            <a:off x="1849550" y="917400"/>
            <a:ext cx="5243700" cy="17040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1200"/>
              </a:spcBef>
              <a:spcAft>
                <a:spcPts val="0"/>
              </a:spcAft>
              <a:buClr>
                <a:schemeClr val="dk1"/>
              </a:buClr>
              <a:buSzPts val="1400"/>
              <a:buAutoNum type="arabicPeriod"/>
            </a:pPr>
            <a:r>
              <a:rPr lang="en">
                <a:solidFill>
                  <a:schemeClr val="dk1"/>
                </a:solidFill>
              </a:rPr>
              <a:t>Unicode Standard</a:t>
            </a:r>
            <a:endParaRPr>
              <a:solidFill>
                <a:schemeClr val="dk1"/>
              </a:solidFill>
            </a:endParaRPr>
          </a:p>
          <a:p>
            <a:pPr marL="457200" lvl="0" indent="-317500" algn="l" rtl="0">
              <a:lnSpc>
                <a:spcPct val="130000"/>
              </a:lnSpc>
              <a:spcBef>
                <a:spcPts val="0"/>
              </a:spcBef>
              <a:spcAft>
                <a:spcPts val="0"/>
              </a:spcAft>
              <a:buClr>
                <a:schemeClr val="dk1"/>
              </a:buClr>
              <a:buSzPts val="1400"/>
              <a:buAutoNum type="arabicPeriod"/>
            </a:pPr>
            <a:r>
              <a:rPr lang="en">
                <a:solidFill>
                  <a:schemeClr val="dk1"/>
                </a:solidFill>
              </a:rPr>
              <a:t>ANSI escape code</a:t>
            </a:r>
            <a:endParaRPr>
              <a:solidFill>
                <a:schemeClr val="dk1"/>
              </a:solidFill>
            </a:endParaRPr>
          </a:p>
          <a:p>
            <a:pPr marL="457200" lvl="0" indent="-317500" algn="l" rtl="0">
              <a:lnSpc>
                <a:spcPct val="130000"/>
              </a:lnSpc>
              <a:spcBef>
                <a:spcPts val="0"/>
              </a:spcBef>
              <a:spcAft>
                <a:spcPts val="0"/>
              </a:spcAft>
              <a:buClr>
                <a:schemeClr val="dk1"/>
              </a:buClr>
              <a:buSzPts val="1400"/>
              <a:buAutoNum type="arabicPeriod"/>
            </a:pPr>
            <a:r>
              <a:rPr lang="en">
                <a:solidFill>
                  <a:schemeClr val="dk1"/>
                </a:solidFill>
              </a:rPr>
              <a:t>Escape Sequences</a:t>
            </a:r>
            <a:endParaRPr>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en">
                <a:solidFill>
                  <a:schemeClr val="dk1"/>
                </a:solidFill>
              </a:rPr>
              <a:t>Project</a:t>
            </a:r>
            <a:endParaRPr>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en">
                <a:solidFill>
                  <a:schemeClr val="dk1"/>
                </a:solidFill>
              </a:rPr>
              <a:t>Interview Questions</a:t>
            </a:r>
            <a:endParaRPr>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en">
                <a:solidFill>
                  <a:schemeClr val="dk1"/>
                </a:solidFill>
              </a:rPr>
              <a:t>Summary</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6"/>
        <p:cNvGrpSpPr/>
        <p:nvPr/>
      </p:nvGrpSpPr>
      <p:grpSpPr>
        <a:xfrm>
          <a:off x="0" y="0"/>
          <a:ext cx="0" cy="0"/>
          <a:chOff x="0" y="0"/>
          <a:chExt cx="0" cy="0"/>
        </a:xfrm>
      </p:grpSpPr>
      <p:sp>
        <p:nvSpPr>
          <p:cNvPr id="67" name="Google Shape;67;p15"/>
          <p:cNvSpPr txBox="1"/>
          <p:nvPr/>
        </p:nvSpPr>
        <p:spPr>
          <a:xfrm>
            <a:off x="19050" y="306125"/>
            <a:ext cx="91248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chemeClr val="dk1"/>
                </a:solidFill>
              </a:rPr>
              <a:t>Unicode Standard</a:t>
            </a:r>
            <a:endParaRPr/>
          </a:p>
        </p:txBody>
      </p:sp>
      <p:pic>
        <p:nvPicPr>
          <p:cNvPr id="68" name="Google Shape;68;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9" name="Google Shape;69;p15"/>
          <p:cNvSpPr txBox="1"/>
          <p:nvPr/>
        </p:nvSpPr>
        <p:spPr>
          <a:xfrm>
            <a:off x="561600" y="910275"/>
            <a:ext cx="8241900" cy="27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Before Unicode, there were many language standards</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ASCII</a:t>
            </a:r>
            <a:endParaRPr/>
          </a:p>
          <a:p>
            <a:pPr marL="457200" lvl="0" indent="-317500" algn="l" rtl="0">
              <a:spcBef>
                <a:spcPts val="0"/>
              </a:spcBef>
              <a:spcAft>
                <a:spcPts val="0"/>
              </a:spcAft>
              <a:buSzPts val="1400"/>
              <a:buChar char="●"/>
            </a:pPr>
            <a:r>
              <a:rPr lang="en"/>
              <a:t>ISO 8859-1</a:t>
            </a:r>
            <a:endParaRPr/>
          </a:p>
          <a:p>
            <a:pPr marL="457200" lvl="0" indent="-317500" algn="l" rtl="0">
              <a:spcBef>
                <a:spcPts val="0"/>
              </a:spcBef>
              <a:spcAft>
                <a:spcPts val="0"/>
              </a:spcAft>
              <a:buSzPts val="1400"/>
              <a:buChar char="●"/>
            </a:pPr>
            <a:r>
              <a:rPr lang="en"/>
              <a:t>KOI-8</a:t>
            </a:r>
            <a:endParaRPr/>
          </a:p>
          <a:p>
            <a:pPr marL="457200" lvl="0" indent="-317500" algn="l" rtl="0">
              <a:spcBef>
                <a:spcPts val="0"/>
              </a:spcBef>
              <a:spcAft>
                <a:spcPts val="0"/>
              </a:spcAft>
              <a:buSzPts val="1400"/>
              <a:buChar char="●"/>
            </a:pPr>
            <a:r>
              <a:rPr lang="en"/>
              <a:t>GB18030 and BIG-5</a:t>
            </a:r>
            <a:endParaRPr/>
          </a:p>
          <a:p>
            <a:pPr marL="0" lvl="0" indent="0" algn="l" rtl="0">
              <a:spcBef>
                <a:spcPts val="0"/>
              </a:spcBef>
              <a:spcAft>
                <a:spcPts val="0"/>
              </a:spcAft>
              <a:buNone/>
            </a:pPr>
            <a:endParaRPr/>
          </a:p>
          <a:p>
            <a:pPr marL="0" lvl="0" indent="0" algn="l" rtl="0">
              <a:spcBef>
                <a:spcPts val="0"/>
              </a:spcBef>
              <a:spcAft>
                <a:spcPts val="0"/>
              </a:spcAft>
              <a:buNone/>
            </a:pPr>
            <a:r>
              <a:rPr lang="en"/>
              <a:t>Problem</a:t>
            </a:r>
            <a:endParaRPr/>
          </a:p>
          <a:p>
            <a:pPr marL="457200" lvl="0" indent="-317500" algn="l" rtl="0">
              <a:spcBef>
                <a:spcPts val="0"/>
              </a:spcBef>
              <a:spcAft>
                <a:spcPts val="0"/>
              </a:spcAft>
              <a:buSzPts val="1400"/>
              <a:buChar char="●"/>
            </a:pPr>
            <a:r>
              <a:rPr lang="en"/>
              <a:t>A particular code value corresponds to different letters in the various language standards.</a:t>
            </a:r>
            <a:endParaRPr/>
          </a:p>
          <a:p>
            <a:pPr marL="457200" lvl="0" indent="-317500" algn="l" rtl="0">
              <a:spcBef>
                <a:spcPts val="0"/>
              </a:spcBef>
              <a:spcAft>
                <a:spcPts val="0"/>
              </a:spcAft>
              <a:buSzPts val="1400"/>
              <a:buChar char="●"/>
            </a:pPr>
            <a:r>
              <a:rPr lang="en"/>
              <a:t>The encodings for languages with large character sets have variable length.Some common characters are encoded as single bytes, other require two or more byte.</a:t>
            </a:r>
            <a:endParaRPr/>
          </a:p>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3"/>
        <p:cNvGrpSpPr/>
        <p:nvPr/>
      </p:nvGrpSpPr>
      <p:grpSpPr>
        <a:xfrm>
          <a:off x="0" y="0"/>
          <a:ext cx="0" cy="0"/>
          <a:chOff x="0" y="0"/>
          <a:chExt cx="0" cy="0"/>
        </a:xfrm>
      </p:grpSpPr>
      <p:sp>
        <p:nvSpPr>
          <p:cNvPr id="74" name="Google Shape;74;p16"/>
          <p:cNvSpPr txBox="1"/>
          <p:nvPr/>
        </p:nvSpPr>
        <p:spPr>
          <a:xfrm>
            <a:off x="561600" y="910275"/>
            <a:ext cx="8241900" cy="32169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a:t>Unicode, international character-encoding system. The Unicode Standard includes letters, digits, diacritics, punctuation marks, technical symbols, emoji and other symbols, using a uniform encoding scheme. The standard is maintained by the Unicode Consortium. The first version of Unicode was introduced in 1991; the most recent version contains more than 100,000 characters.</a:t>
            </a:r>
            <a:endParaRPr/>
          </a:p>
          <a:p>
            <a:pPr marL="457200" lvl="0" indent="-317500" algn="l" rtl="0">
              <a:spcBef>
                <a:spcPts val="0"/>
              </a:spcBef>
              <a:spcAft>
                <a:spcPts val="0"/>
              </a:spcAft>
              <a:buSzPts val="1400"/>
              <a:buChar char="●"/>
            </a:pPr>
            <a:r>
              <a:rPr lang="en"/>
              <a:t>The Unicode standard uses hexadecimal to express a character. The Unicode standard was initially designed using 16 bits to encode characters because the primary machines were 16-bit PCs.</a:t>
            </a:r>
            <a:endParaRPr/>
          </a:p>
          <a:p>
            <a:pPr marL="457200" lvl="0" indent="-317500" algn="l" rtl="0">
              <a:spcBef>
                <a:spcPts val="0"/>
              </a:spcBef>
              <a:spcAft>
                <a:spcPts val="0"/>
              </a:spcAft>
              <a:buSzPts val="1400"/>
              <a:buChar char="●"/>
            </a:pPr>
            <a:r>
              <a:rPr lang="en"/>
              <a:t>When the specification for the Java language was created, the Unicode standard was accepted and the char primitive was defined as a 16-bit data type, with characters in the hexadecimal range from 0x0000 to 0xFFFF.</a:t>
            </a:r>
            <a:endParaRPr/>
          </a:p>
          <a:p>
            <a:pPr marL="457200" lvl="0" indent="-317500" algn="l" rtl="0">
              <a:spcBef>
                <a:spcPts val="0"/>
              </a:spcBef>
              <a:spcAft>
                <a:spcPts val="0"/>
              </a:spcAft>
              <a:buSzPts val="1400"/>
              <a:buChar char="●"/>
            </a:pPr>
            <a:r>
              <a:rPr lang="en" sz="1500" b="1">
                <a:solidFill>
                  <a:srgbClr val="333333"/>
                </a:solidFill>
              </a:rPr>
              <a:t>Surrogates</a:t>
            </a:r>
            <a:endParaRPr/>
          </a:p>
          <a:p>
            <a:pPr marL="457200" lvl="0" indent="-317500" algn="l" rtl="0">
              <a:spcBef>
                <a:spcPts val="0"/>
              </a:spcBef>
              <a:spcAft>
                <a:spcPts val="0"/>
              </a:spcAft>
              <a:buSzPts val="1400"/>
              <a:buChar char="●"/>
            </a:pPr>
            <a:r>
              <a:rPr lang="en" u="sng">
                <a:solidFill>
                  <a:schemeClr val="hlink"/>
                </a:solidFill>
                <a:hlinkClick r:id="rId3"/>
              </a:rPr>
              <a:t>Unicode home</a:t>
            </a:r>
            <a:endParaRPr/>
          </a:p>
          <a:p>
            <a:pPr marL="457200" lvl="0" indent="-317500" algn="l" rtl="0">
              <a:spcBef>
                <a:spcPts val="0"/>
              </a:spcBef>
              <a:spcAft>
                <a:spcPts val="0"/>
              </a:spcAft>
              <a:buSzPts val="1400"/>
              <a:buChar char="●"/>
            </a:pPr>
            <a:r>
              <a:rPr lang="en" u="sng">
                <a:solidFill>
                  <a:schemeClr val="hlink"/>
                </a:solidFill>
                <a:hlinkClick r:id="rId4"/>
              </a:rPr>
              <a:t>Unicode table</a:t>
            </a:r>
            <a:endParaRPr/>
          </a:p>
        </p:txBody>
      </p:sp>
      <p:sp>
        <p:nvSpPr>
          <p:cNvPr id="75" name="Google Shape;75;p16"/>
          <p:cNvSpPr txBox="1"/>
          <p:nvPr/>
        </p:nvSpPr>
        <p:spPr>
          <a:xfrm>
            <a:off x="150325" y="306125"/>
            <a:ext cx="8565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chemeClr val="dk1"/>
                </a:solidFill>
              </a:rPr>
              <a:t>Unicode Standard</a:t>
            </a:r>
            <a:endParaRPr sz="2200" b="1"/>
          </a:p>
        </p:txBody>
      </p:sp>
      <p:pic>
        <p:nvPicPr>
          <p:cNvPr id="76" name="Google Shape;76;p16"/>
          <p:cNvPicPr preferRelativeResize="0"/>
          <p:nvPr/>
        </p:nvPicPr>
        <p:blipFill rotWithShape="1">
          <a:blip r:embed="rId5">
            <a:alphaModFix/>
          </a:blip>
          <a:srcRect t="33150" b="31095"/>
          <a:stretch/>
        </p:blipFill>
        <p:spPr>
          <a:xfrm>
            <a:off x="19050" y="4525"/>
            <a:ext cx="1304100" cy="466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0"/>
        <p:cNvGrpSpPr/>
        <p:nvPr/>
      </p:nvGrpSpPr>
      <p:grpSpPr>
        <a:xfrm>
          <a:off x="0" y="0"/>
          <a:ext cx="0" cy="0"/>
          <a:chOff x="0" y="0"/>
          <a:chExt cx="0" cy="0"/>
        </a:xfrm>
      </p:grpSpPr>
      <p:sp>
        <p:nvSpPr>
          <p:cNvPr id="81" name="Google Shape;81;p17"/>
          <p:cNvSpPr txBox="1"/>
          <p:nvPr/>
        </p:nvSpPr>
        <p:spPr>
          <a:xfrm>
            <a:off x="150325" y="306125"/>
            <a:ext cx="8565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t>ANSI escape code</a:t>
            </a:r>
            <a:endParaRPr sz="2200" b="1"/>
          </a:p>
        </p:txBody>
      </p:sp>
      <p:pic>
        <p:nvPicPr>
          <p:cNvPr id="82" name="Google Shape;82;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83" name="Google Shape;83;p17"/>
          <p:cNvSpPr txBox="1"/>
          <p:nvPr/>
        </p:nvSpPr>
        <p:spPr>
          <a:xfrm>
            <a:off x="561600" y="910275"/>
            <a:ext cx="8241900" cy="29553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b="1"/>
              <a:t>ANSI</a:t>
            </a:r>
            <a:r>
              <a:rPr lang="en"/>
              <a:t> </a:t>
            </a:r>
            <a:r>
              <a:rPr lang="en" b="1"/>
              <a:t>escape sequence</a:t>
            </a:r>
            <a:r>
              <a:rPr lang="en"/>
              <a:t>s are a standard for in-band signaling to control cursor location, color, font styling, and other options on video text terminals and terminal emulators. Certain sequences of bytes, most starting with an ASCII escape character and a bracket character, are embedded into text. The terminal interprets these sequences as commands, rather than text to display verbatim.</a:t>
            </a:r>
            <a:endParaRPr/>
          </a:p>
          <a:p>
            <a:pPr marL="0" lvl="0" indent="0" algn="l" rtl="0">
              <a:spcBef>
                <a:spcPts val="0"/>
              </a:spcBef>
              <a:spcAft>
                <a:spcPts val="0"/>
              </a:spcAft>
              <a:buNone/>
            </a:pPr>
            <a:endParaRPr/>
          </a:p>
          <a:p>
            <a:pPr marL="0" lvl="0" indent="0" algn="l" rtl="0">
              <a:spcBef>
                <a:spcPts val="0"/>
              </a:spcBef>
              <a:spcAft>
                <a:spcPts val="0"/>
              </a:spcAft>
              <a:buNone/>
            </a:pPr>
            <a:r>
              <a:rPr lang="en" sz="1100">
                <a:latin typeface="Courier New"/>
                <a:ea typeface="Courier New"/>
                <a:cs typeface="Courier New"/>
                <a:sym typeface="Courier New"/>
              </a:rPr>
              <a:t>ANSI_RESET  = "\u001B[0m"</a:t>
            </a:r>
            <a:endParaRPr sz="1100">
              <a:latin typeface="Courier New"/>
              <a:ea typeface="Courier New"/>
              <a:cs typeface="Courier New"/>
              <a:sym typeface="Courier New"/>
            </a:endParaRPr>
          </a:p>
          <a:p>
            <a:pPr marL="0" lvl="0" indent="0" algn="l" rtl="0">
              <a:spcBef>
                <a:spcPts val="0"/>
              </a:spcBef>
              <a:spcAft>
                <a:spcPts val="0"/>
              </a:spcAft>
              <a:buNone/>
            </a:pPr>
            <a:r>
              <a:rPr lang="en" sz="1100">
                <a:latin typeface="Courier New"/>
                <a:ea typeface="Courier New"/>
                <a:cs typeface="Courier New"/>
                <a:sym typeface="Courier New"/>
              </a:rPr>
              <a:t>ANSI_BLACK  = "\u001B[30m"</a:t>
            </a:r>
            <a:endParaRPr sz="1100">
              <a:latin typeface="Courier New"/>
              <a:ea typeface="Courier New"/>
              <a:cs typeface="Courier New"/>
              <a:sym typeface="Courier New"/>
            </a:endParaRPr>
          </a:p>
          <a:p>
            <a:pPr marL="0" lvl="0" indent="0" algn="l" rtl="0">
              <a:spcBef>
                <a:spcPts val="0"/>
              </a:spcBef>
              <a:spcAft>
                <a:spcPts val="0"/>
              </a:spcAft>
              <a:buNone/>
            </a:pPr>
            <a:r>
              <a:rPr lang="en" sz="1100">
                <a:latin typeface="Courier New"/>
                <a:ea typeface="Courier New"/>
                <a:cs typeface="Courier New"/>
                <a:sym typeface="Courier New"/>
              </a:rPr>
              <a:t>ANSI_RED    = "\u001B[31m"</a:t>
            </a:r>
            <a:endParaRPr sz="1100">
              <a:latin typeface="Courier New"/>
              <a:ea typeface="Courier New"/>
              <a:cs typeface="Courier New"/>
              <a:sym typeface="Courier New"/>
            </a:endParaRPr>
          </a:p>
          <a:p>
            <a:pPr marL="0" lvl="0" indent="0" algn="l" rtl="0">
              <a:spcBef>
                <a:spcPts val="0"/>
              </a:spcBef>
              <a:spcAft>
                <a:spcPts val="0"/>
              </a:spcAft>
              <a:buNone/>
            </a:pPr>
            <a:r>
              <a:rPr lang="en" sz="1100">
                <a:latin typeface="Courier New"/>
                <a:ea typeface="Courier New"/>
                <a:cs typeface="Courier New"/>
                <a:sym typeface="Courier New"/>
              </a:rPr>
              <a:t>ANSI_GREEN  = "\u001B[32m"</a:t>
            </a:r>
            <a:endParaRPr sz="1100">
              <a:latin typeface="Courier New"/>
              <a:ea typeface="Courier New"/>
              <a:cs typeface="Courier New"/>
              <a:sym typeface="Courier New"/>
            </a:endParaRPr>
          </a:p>
          <a:p>
            <a:pPr marL="0" lvl="0" indent="0" algn="l" rtl="0">
              <a:spcBef>
                <a:spcPts val="0"/>
              </a:spcBef>
              <a:spcAft>
                <a:spcPts val="0"/>
              </a:spcAft>
              <a:buNone/>
            </a:pPr>
            <a:r>
              <a:rPr lang="en" sz="1100">
                <a:latin typeface="Courier New"/>
                <a:ea typeface="Courier New"/>
                <a:cs typeface="Courier New"/>
                <a:sym typeface="Courier New"/>
              </a:rPr>
              <a:t>ANSI_YELLOW = "\u001B[33m"</a:t>
            </a:r>
            <a:endParaRPr sz="1100">
              <a:latin typeface="Courier New"/>
              <a:ea typeface="Courier New"/>
              <a:cs typeface="Courier New"/>
              <a:sym typeface="Courier New"/>
            </a:endParaRPr>
          </a:p>
          <a:p>
            <a:pPr marL="0" lvl="0" indent="0" algn="l" rtl="0">
              <a:spcBef>
                <a:spcPts val="0"/>
              </a:spcBef>
              <a:spcAft>
                <a:spcPts val="0"/>
              </a:spcAft>
              <a:buNone/>
            </a:pPr>
            <a:r>
              <a:rPr lang="en" sz="1100">
                <a:latin typeface="Courier New"/>
                <a:ea typeface="Courier New"/>
                <a:cs typeface="Courier New"/>
                <a:sym typeface="Courier New"/>
              </a:rPr>
              <a:t>ANSI_BLUE   = "\u001B[34m"</a:t>
            </a:r>
            <a:endParaRPr sz="1100">
              <a:latin typeface="Courier New"/>
              <a:ea typeface="Courier New"/>
              <a:cs typeface="Courier New"/>
              <a:sym typeface="Courier New"/>
            </a:endParaRPr>
          </a:p>
          <a:p>
            <a:pPr marL="0" lvl="0" indent="0" algn="l" rtl="0">
              <a:spcBef>
                <a:spcPts val="0"/>
              </a:spcBef>
              <a:spcAft>
                <a:spcPts val="0"/>
              </a:spcAft>
              <a:buNone/>
            </a:pPr>
            <a:r>
              <a:rPr lang="en" sz="1100">
                <a:latin typeface="Courier New"/>
                <a:ea typeface="Courier New"/>
                <a:cs typeface="Courier New"/>
                <a:sym typeface="Courier New"/>
              </a:rPr>
              <a:t>ANSI_PURPLE = "\u001B[35m"</a:t>
            </a:r>
            <a:endParaRPr sz="1100">
              <a:latin typeface="Courier New"/>
              <a:ea typeface="Courier New"/>
              <a:cs typeface="Courier New"/>
              <a:sym typeface="Courier New"/>
            </a:endParaRPr>
          </a:p>
          <a:p>
            <a:pPr marL="0" lvl="0" indent="0" algn="l" rtl="0">
              <a:spcBef>
                <a:spcPts val="0"/>
              </a:spcBef>
              <a:spcAft>
                <a:spcPts val="0"/>
              </a:spcAft>
              <a:buNone/>
            </a:pPr>
            <a:r>
              <a:rPr lang="en" sz="1100">
                <a:latin typeface="Courier New"/>
                <a:ea typeface="Courier New"/>
                <a:cs typeface="Courier New"/>
                <a:sym typeface="Courier New"/>
              </a:rPr>
              <a:t>ANSI_CYAN   = "\u001B[36m"</a:t>
            </a:r>
            <a:endParaRPr sz="1100">
              <a:latin typeface="Courier New"/>
              <a:ea typeface="Courier New"/>
              <a:cs typeface="Courier New"/>
              <a:sym typeface="Courier New"/>
            </a:endParaRPr>
          </a:p>
          <a:p>
            <a:pPr marL="0" lvl="0" indent="0" algn="l" rtl="0">
              <a:spcBef>
                <a:spcPts val="0"/>
              </a:spcBef>
              <a:spcAft>
                <a:spcPts val="0"/>
              </a:spcAft>
              <a:buNone/>
            </a:pPr>
            <a:r>
              <a:rPr lang="en" sz="1100">
                <a:latin typeface="Courier New"/>
                <a:ea typeface="Courier New"/>
                <a:cs typeface="Courier New"/>
                <a:sym typeface="Courier New"/>
              </a:rPr>
              <a:t>ANSI_WHITE  = "\u001B[37m"</a:t>
            </a:r>
            <a:endParaRPr sz="1100">
              <a:latin typeface="Courier New"/>
              <a:ea typeface="Courier New"/>
              <a:cs typeface="Courier New"/>
              <a:sym typeface="Courier New"/>
            </a:endParaRPr>
          </a:p>
          <a:p>
            <a:pPr marL="0" lvl="0" indent="0" algn="l" rtl="0">
              <a:spcBef>
                <a:spcPts val="0"/>
              </a:spcBef>
              <a:spcAft>
                <a:spcPts val="0"/>
              </a:spcAft>
              <a:buNone/>
            </a:pPr>
            <a:endParaRPr sz="1100">
              <a:latin typeface="Courier New"/>
              <a:ea typeface="Courier New"/>
              <a:cs typeface="Courier New"/>
              <a:sym typeface="Courier New"/>
            </a:endParaRPr>
          </a:p>
        </p:txBody>
      </p:sp>
      <p:sp>
        <p:nvSpPr>
          <p:cNvPr id="84" name="Google Shape;84;p17"/>
          <p:cNvSpPr txBox="1"/>
          <p:nvPr/>
        </p:nvSpPr>
        <p:spPr>
          <a:xfrm>
            <a:off x="6918100" y="4459725"/>
            <a:ext cx="2192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u="sng">
                <a:solidFill>
                  <a:schemeClr val="hlink"/>
                </a:solidFill>
                <a:hlinkClick r:id="rId4"/>
              </a:rPr>
              <a:t>Github Link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8"/>
        <p:cNvGrpSpPr/>
        <p:nvPr/>
      </p:nvGrpSpPr>
      <p:grpSpPr>
        <a:xfrm>
          <a:off x="0" y="0"/>
          <a:ext cx="0" cy="0"/>
          <a:chOff x="0" y="0"/>
          <a:chExt cx="0" cy="0"/>
        </a:xfrm>
      </p:grpSpPr>
      <p:sp>
        <p:nvSpPr>
          <p:cNvPr id="89" name="Google Shape;89;p18"/>
          <p:cNvSpPr txBox="1"/>
          <p:nvPr/>
        </p:nvSpPr>
        <p:spPr>
          <a:xfrm>
            <a:off x="150325" y="306125"/>
            <a:ext cx="8565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t>Escape Sequences</a:t>
            </a:r>
            <a:endParaRPr sz="2200" b="1"/>
          </a:p>
        </p:txBody>
      </p:sp>
      <p:pic>
        <p:nvPicPr>
          <p:cNvPr id="90" name="Google Shape;90;p1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91" name="Google Shape;91;p18"/>
          <p:cNvSpPr txBox="1"/>
          <p:nvPr/>
        </p:nvSpPr>
        <p:spPr>
          <a:xfrm>
            <a:off x="561600" y="910275"/>
            <a:ext cx="8241900" cy="648000"/>
          </a:xfrm>
          <a:prstGeom prst="rect">
            <a:avLst/>
          </a:prstGeom>
          <a:noFill/>
          <a:ln>
            <a:noFill/>
          </a:ln>
        </p:spPr>
        <p:txBody>
          <a:bodyPr spcFirstLastPara="1" wrap="square" lIns="91425" tIns="91425" rIns="91425" bIns="91425" anchor="t" anchorCtr="0">
            <a:spAutoFit/>
          </a:bodyPr>
          <a:lstStyle/>
          <a:p>
            <a:pPr marL="0" lvl="0" indent="457200" algn="l" rtl="0">
              <a:lnSpc>
                <a:spcPct val="115000"/>
              </a:lnSpc>
              <a:spcBef>
                <a:spcPts val="1000"/>
              </a:spcBef>
              <a:spcAft>
                <a:spcPts val="1000"/>
              </a:spcAft>
              <a:buNone/>
            </a:pPr>
            <a:r>
              <a:rPr lang="en">
                <a:solidFill>
                  <a:schemeClr val="dk1"/>
                </a:solidFill>
              </a:rPr>
              <a:t>A character preceded by a backslash (\) is an </a:t>
            </a:r>
            <a:r>
              <a:rPr lang="en" i="1">
                <a:solidFill>
                  <a:schemeClr val="dk1"/>
                </a:solidFill>
              </a:rPr>
              <a:t>escape sequence</a:t>
            </a:r>
            <a:r>
              <a:rPr lang="en">
                <a:solidFill>
                  <a:schemeClr val="dk1"/>
                </a:solidFill>
              </a:rPr>
              <a:t> and has special meaning to the compiler.</a:t>
            </a:r>
            <a:endParaRPr b="1"/>
          </a:p>
        </p:txBody>
      </p:sp>
      <p:sp>
        <p:nvSpPr>
          <p:cNvPr id="92" name="Google Shape;92;p18"/>
          <p:cNvSpPr txBox="1"/>
          <p:nvPr/>
        </p:nvSpPr>
        <p:spPr>
          <a:xfrm>
            <a:off x="6918100" y="4459725"/>
            <a:ext cx="2192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u="sng">
                <a:solidFill>
                  <a:schemeClr val="hlink"/>
                </a:solidFill>
                <a:hlinkClick r:id="rId4"/>
              </a:rPr>
              <a:t>Oracle Documentation</a:t>
            </a:r>
            <a:endParaRPr/>
          </a:p>
        </p:txBody>
      </p:sp>
      <p:graphicFrame>
        <p:nvGraphicFramePr>
          <p:cNvPr id="93" name="Google Shape;93;p18"/>
          <p:cNvGraphicFramePr/>
          <p:nvPr/>
        </p:nvGraphicFramePr>
        <p:xfrm>
          <a:off x="1028700" y="1657350"/>
          <a:ext cx="3000000" cy="3000000"/>
        </p:xfrm>
        <a:graphic>
          <a:graphicData uri="http://schemas.openxmlformats.org/drawingml/2006/table">
            <a:tbl>
              <a:tblPr>
                <a:noFill/>
                <a:tableStyleId>{A88D63C5-8F4B-4482-9FC8-4775DCFC4257}</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a:t>\t</a:t>
                      </a:r>
                      <a:endParaRPr/>
                    </a:p>
                  </a:txBody>
                  <a:tcPr marL="91425" marR="91425" marT="91425" marB="91425"/>
                </a:tc>
                <a:tc>
                  <a:txBody>
                    <a:bodyPr/>
                    <a:lstStyle/>
                    <a:p>
                      <a:pPr marL="0" lvl="0" indent="0" algn="l" rtl="0">
                        <a:spcBef>
                          <a:spcPts val="0"/>
                        </a:spcBef>
                        <a:spcAft>
                          <a:spcPts val="0"/>
                        </a:spcAft>
                        <a:buNone/>
                      </a:pPr>
                      <a:r>
                        <a:rPr lang="en"/>
                        <a:t>Insert a tab in the text at this point.</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\n</a:t>
                      </a:r>
                      <a:endParaRPr/>
                    </a:p>
                  </a:txBody>
                  <a:tcPr marL="91425" marR="91425" marT="91425" marB="91425"/>
                </a:tc>
                <a:tc>
                  <a:txBody>
                    <a:bodyPr/>
                    <a:lstStyle/>
                    <a:p>
                      <a:pPr marL="0" lvl="0" indent="0" algn="l" rtl="0">
                        <a:spcBef>
                          <a:spcPts val="0"/>
                        </a:spcBef>
                        <a:spcAft>
                          <a:spcPts val="0"/>
                        </a:spcAft>
                        <a:buNone/>
                      </a:pPr>
                      <a:r>
                        <a:rPr lang="en"/>
                        <a:t>Insert a newline in the text at this point.</a:t>
                      </a:r>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19050" y="2285400"/>
            <a:ext cx="9144000" cy="5727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2000" b="1" u="sng">
                <a:solidFill>
                  <a:schemeClr val="hlink"/>
                </a:solidFill>
              </a:rPr>
              <a:t>Interview Questions</a:t>
            </a:r>
            <a:endParaRPr sz="2000" dirty="0"/>
          </a:p>
        </p:txBody>
      </p:sp>
      <p:pic>
        <p:nvPicPr>
          <p:cNvPr id="99" name="Google Shape;99;p19"/>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3"/>
        <p:cNvGrpSpPr/>
        <p:nvPr/>
      </p:nvGrpSpPr>
      <p:grpSpPr>
        <a:xfrm>
          <a:off x="0" y="0"/>
          <a:ext cx="0" cy="0"/>
          <a:chOff x="0" y="0"/>
          <a:chExt cx="0" cy="0"/>
        </a:xfrm>
      </p:grpSpPr>
      <p:pic>
        <p:nvPicPr>
          <p:cNvPr id="104" name="Google Shape;104;p20"/>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05" name="Google Shape;105;p20"/>
          <p:cNvSpPr txBox="1"/>
          <p:nvPr/>
        </p:nvSpPr>
        <p:spPr>
          <a:xfrm>
            <a:off x="0" y="2129475"/>
            <a:ext cx="91440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b="1"/>
              <a:t>Hard work beats talent when talent doesn’t work hard.</a:t>
            </a:r>
            <a:endParaRPr sz="24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423</Words>
  <Application>Microsoft Office PowerPoint</Application>
  <PresentationFormat>On-screen Show (16:9)</PresentationFormat>
  <Paragraphs>48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Courier New</vt:lpstr>
      <vt:lpstr>Book Antiqua</vt:lpstr>
      <vt:lpstr>Simple Light</vt:lpstr>
      <vt:lpstr>PowerPoint Presentation</vt:lpstr>
      <vt:lpstr>PowerPoint Presentation</vt:lpstr>
      <vt:lpstr>PowerPoint Presentation</vt:lpstr>
      <vt:lpstr>PowerPoint Presentation</vt:lpstr>
      <vt:lpstr>PowerPoint Presentation</vt:lpstr>
      <vt:lpstr>PowerPoint Presentation</vt:lpstr>
      <vt:lpstr>Interview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2023-02-23T14:09:02Z</dcterms:modified>
</cp:coreProperties>
</file>