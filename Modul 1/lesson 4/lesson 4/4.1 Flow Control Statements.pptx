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Book Antiqua" panose="02040602050305030304" pitchFamily="18" charset="0"/>
      <p:regular r:id="rId21"/>
      <p:bold r:id="rId22"/>
      <p:italic r:id="rId23"/>
      <p:boldItalic r:id="rId24"/>
    </p:embeddedFont>
    <p:embeddedFont>
      <p:font typeface="Source Code Pro SemiBold" panose="020B0609030403020204" pitchFamily="49"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304FF5-F1A9-4CB7-A6E1-B77415C4B99A}">
  <a:tblStyle styleId="{A7304FF5-F1A9-4CB7-A6E1-B77415C4B9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91bba5938_0_29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491bba5938_0_29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4b32c0b0f6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4b32c0b0f6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4b32c0b0f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4b32c0b0f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4b32c0b0f6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4b32c0b0f6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4b32c0b0f6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4b32c0b0f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62eb97c0b0_1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62eb97c0b0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4b32c0b0f6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4b32c0b0f6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4b32c0b0f6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4b32c0b0f6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63b857e3b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63b857e3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4b32c0b0f6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14b32c0b0f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63b06bd06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163b06bd0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63b06bd06b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63b06bd06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63b06bd06b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63b06bd06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4b32c0b0f6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4b32c0b0f6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63bfd99585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63bfd99585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4b32c0b0f6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4b32c0b0f6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4b32c0b0f6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4b32c0b0f6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62eb97c0b0_1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62eb97c0b0_1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0" y="2191650"/>
            <a:ext cx="91440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solidFill>
                  <a:schemeClr val="dk1"/>
                </a:solidFill>
              </a:rPr>
              <a:t>Execution Flow and Flow Control Statements</a:t>
            </a:r>
            <a:endParaRPr sz="2600" b="1">
              <a:solidFill>
                <a:schemeClr val="dk1"/>
              </a:solidFill>
            </a:endParaRPr>
          </a:p>
        </p:txBody>
      </p:sp>
      <p:pic>
        <p:nvPicPr>
          <p:cNvPr id="55" name="Google Shape;55;p1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p:nvPr/>
        </p:nvSpPr>
        <p:spPr>
          <a:xfrm>
            <a:off x="0" y="29097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latin typeface="Book Antiqua"/>
                <a:ea typeface="Book Antiqua"/>
                <a:cs typeface="Book Antiqua"/>
                <a:sym typeface="Book Antiqua"/>
              </a:rPr>
              <a:t>Outline </a:t>
            </a:r>
            <a:endParaRPr sz="2000"/>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2" name="Google Shape;62;p14"/>
          <p:cNvSpPr txBox="1"/>
          <p:nvPr/>
        </p:nvSpPr>
        <p:spPr>
          <a:xfrm>
            <a:off x="1849550" y="917400"/>
            <a:ext cx="5243700" cy="33741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Clr>
                <a:schemeClr val="dk1"/>
              </a:buClr>
              <a:buSzPts val="1400"/>
              <a:buAutoNum type="arabicPeriod"/>
            </a:pPr>
            <a:r>
              <a:rPr lang="en">
                <a:solidFill>
                  <a:schemeClr val="dk1"/>
                </a:solidFill>
              </a:rPr>
              <a:t>Execution flow</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Flow Control Statements</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If, If else and nested if</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Switch case</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Loops</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do while </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while loop</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for loop</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Break, continue</a:t>
            </a:r>
            <a:endParaRPr>
              <a:solidFill>
                <a:schemeClr val="dk1"/>
              </a:solidFill>
            </a:endParaRPr>
          </a:p>
          <a:p>
            <a:pPr marL="914400" lvl="1" indent="-317500" algn="l" rtl="0">
              <a:lnSpc>
                <a:spcPct val="115000"/>
              </a:lnSpc>
              <a:spcBef>
                <a:spcPts val="0"/>
              </a:spcBef>
              <a:spcAft>
                <a:spcPts val="0"/>
              </a:spcAft>
              <a:buClr>
                <a:schemeClr val="dk1"/>
              </a:buClr>
              <a:buSzPts val="1400"/>
              <a:buChar char="○"/>
            </a:pPr>
            <a:r>
              <a:rPr lang="en">
                <a:solidFill>
                  <a:schemeClr val="dk1"/>
                </a:solidFill>
              </a:rPr>
              <a:t>Infinite loops</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Project</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Interview Questions</a:t>
            </a:r>
            <a:endParaRPr>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
                <a:solidFill>
                  <a:schemeClr val="dk1"/>
                </a:solidFill>
              </a:rPr>
              <a:t>Summary</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sp>
        <p:nvSpPr>
          <p:cNvPr id="67" name="Google Shape;67;p15"/>
          <p:cNvSpPr txBox="1"/>
          <p:nvPr/>
        </p:nvSpPr>
        <p:spPr>
          <a:xfrm>
            <a:off x="0" y="3823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Execution Flow</a:t>
            </a:r>
            <a:endParaRPr sz="2000"/>
          </a:p>
        </p:txBody>
      </p:sp>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txBox="1"/>
          <p:nvPr/>
        </p:nvSpPr>
        <p:spPr>
          <a:xfrm>
            <a:off x="666575" y="779850"/>
            <a:ext cx="7856700" cy="6156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In a given block, the program is executed sequentially one statement at a time starting from the first statement at the top and proceeding toward the bottom. </a:t>
            </a:r>
            <a:endParaRPr/>
          </a:p>
        </p:txBody>
      </p:sp>
      <p:grpSp>
        <p:nvGrpSpPr>
          <p:cNvPr id="70" name="Google Shape;70;p15"/>
          <p:cNvGrpSpPr/>
          <p:nvPr/>
        </p:nvGrpSpPr>
        <p:grpSpPr>
          <a:xfrm>
            <a:off x="589925" y="1905133"/>
            <a:ext cx="2160600" cy="2932524"/>
            <a:chOff x="742325" y="1295533"/>
            <a:chExt cx="2160600" cy="2932524"/>
          </a:xfrm>
        </p:grpSpPr>
        <p:sp>
          <p:nvSpPr>
            <p:cNvPr id="71" name="Google Shape;71;p15"/>
            <p:cNvSpPr/>
            <p:nvPr/>
          </p:nvSpPr>
          <p:spPr>
            <a:xfrm>
              <a:off x="742325" y="1295533"/>
              <a:ext cx="2160600" cy="460800"/>
            </a:xfrm>
            <a:prstGeom prst="rect">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rPr>
                <a:t>Sequential execution</a:t>
              </a:r>
              <a:endParaRPr sz="1100" b="1">
                <a:solidFill>
                  <a:schemeClr val="lt1"/>
                </a:solidFill>
              </a:endParaRPr>
            </a:p>
          </p:txBody>
        </p:sp>
        <p:sp>
          <p:nvSpPr>
            <p:cNvPr id="72" name="Google Shape;72;p15"/>
            <p:cNvSpPr/>
            <p:nvPr/>
          </p:nvSpPr>
          <p:spPr>
            <a:xfrm>
              <a:off x="742325" y="2119441"/>
              <a:ext cx="2160600" cy="4608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t>Statement 1</a:t>
              </a:r>
              <a:endParaRPr sz="1100" b="1"/>
            </a:p>
          </p:txBody>
        </p:sp>
        <p:sp>
          <p:nvSpPr>
            <p:cNvPr id="73" name="Google Shape;73;p15"/>
            <p:cNvSpPr/>
            <p:nvPr/>
          </p:nvSpPr>
          <p:spPr>
            <a:xfrm>
              <a:off x="742325" y="3767257"/>
              <a:ext cx="2160600" cy="4608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t>Statement n</a:t>
              </a:r>
              <a:endParaRPr sz="1100" b="1"/>
            </a:p>
          </p:txBody>
        </p:sp>
        <p:sp>
          <p:nvSpPr>
            <p:cNvPr id="74" name="Google Shape;74;p15"/>
            <p:cNvSpPr/>
            <p:nvPr/>
          </p:nvSpPr>
          <p:spPr>
            <a:xfrm>
              <a:off x="742325" y="2943349"/>
              <a:ext cx="2160600" cy="4608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t>…..</a:t>
              </a:r>
              <a:endParaRPr sz="1100" b="1"/>
            </a:p>
          </p:txBody>
        </p:sp>
        <p:cxnSp>
          <p:nvCxnSpPr>
            <p:cNvPr id="75" name="Google Shape;75;p15"/>
            <p:cNvCxnSpPr>
              <a:stCxn id="71" idx="2"/>
              <a:endCxn id="72" idx="0"/>
            </p:cNvCxnSpPr>
            <p:nvPr/>
          </p:nvCxnSpPr>
          <p:spPr>
            <a:xfrm>
              <a:off x="1822625" y="1756333"/>
              <a:ext cx="0" cy="363000"/>
            </a:xfrm>
            <a:prstGeom prst="straightConnector1">
              <a:avLst/>
            </a:prstGeom>
            <a:noFill/>
            <a:ln w="9525" cap="flat" cmpd="sng">
              <a:solidFill>
                <a:srgbClr val="000000"/>
              </a:solidFill>
              <a:prstDash val="solid"/>
              <a:round/>
              <a:headEnd type="none" w="med" len="med"/>
              <a:tailEnd type="triangle" w="med" len="med"/>
            </a:ln>
          </p:spPr>
        </p:cxnSp>
        <p:cxnSp>
          <p:nvCxnSpPr>
            <p:cNvPr id="76" name="Google Shape;76;p15"/>
            <p:cNvCxnSpPr>
              <a:stCxn id="72" idx="2"/>
              <a:endCxn id="74" idx="0"/>
            </p:cNvCxnSpPr>
            <p:nvPr/>
          </p:nvCxnSpPr>
          <p:spPr>
            <a:xfrm>
              <a:off x="1822625" y="2580241"/>
              <a:ext cx="0" cy="363000"/>
            </a:xfrm>
            <a:prstGeom prst="straightConnector1">
              <a:avLst/>
            </a:prstGeom>
            <a:noFill/>
            <a:ln w="9525" cap="flat" cmpd="sng">
              <a:solidFill>
                <a:srgbClr val="000000"/>
              </a:solidFill>
              <a:prstDash val="solid"/>
              <a:round/>
              <a:headEnd type="none" w="med" len="med"/>
              <a:tailEnd type="triangle" w="med" len="med"/>
            </a:ln>
          </p:spPr>
        </p:cxnSp>
        <p:cxnSp>
          <p:nvCxnSpPr>
            <p:cNvPr id="77" name="Google Shape;77;p15"/>
            <p:cNvCxnSpPr>
              <a:stCxn id="74" idx="2"/>
              <a:endCxn id="73" idx="0"/>
            </p:cNvCxnSpPr>
            <p:nvPr/>
          </p:nvCxnSpPr>
          <p:spPr>
            <a:xfrm>
              <a:off x="1822625" y="3404149"/>
              <a:ext cx="0" cy="363000"/>
            </a:xfrm>
            <a:prstGeom prst="straightConnector1">
              <a:avLst/>
            </a:prstGeom>
            <a:noFill/>
            <a:ln w="9525" cap="flat" cmpd="sng">
              <a:solidFill>
                <a:srgbClr val="000000"/>
              </a:solidFill>
              <a:prstDash val="solid"/>
              <a:round/>
              <a:headEnd type="none" w="med" len="med"/>
              <a:tailEnd type="triangle" w="med" len="med"/>
            </a:ln>
          </p:spPr>
        </p:cxnSp>
      </p:grpSp>
      <p:sp>
        <p:nvSpPr>
          <p:cNvPr id="78" name="Google Shape;78;p15"/>
          <p:cNvSpPr txBox="1"/>
          <p:nvPr/>
        </p:nvSpPr>
        <p:spPr>
          <a:xfrm>
            <a:off x="666575" y="1241525"/>
            <a:ext cx="7856700" cy="4002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solidFill>
                  <a:schemeClr val="dk1"/>
                </a:solidFill>
              </a:rPr>
              <a:t>There are </a:t>
            </a:r>
            <a:r>
              <a:rPr lang="en" b="1">
                <a:solidFill>
                  <a:schemeClr val="dk1"/>
                </a:solidFill>
              </a:rPr>
              <a:t>three type of execution flows</a:t>
            </a:r>
            <a:r>
              <a:rPr lang="en">
                <a:solidFill>
                  <a:schemeClr val="dk1"/>
                </a:solidFill>
              </a:rPr>
              <a:t> in java</a:t>
            </a:r>
            <a:endParaRPr/>
          </a:p>
        </p:txBody>
      </p:sp>
      <p:grpSp>
        <p:nvGrpSpPr>
          <p:cNvPr id="79" name="Google Shape;79;p15"/>
          <p:cNvGrpSpPr/>
          <p:nvPr/>
        </p:nvGrpSpPr>
        <p:grpSpPr>
          <a:xfrm>
            <a:off x="2945825" y="1905133"/>
            <a:ext cx="3307800" cy="3091917"/>
            <a:chOff x="2945825" y="1905133"/>
            <a:chExt cx="3307800" cy="3091917"/>
          </a:xfrm>
        </p:grpSpPr>
        <p:grpSp>
          <p:nvGrpSpPr>
            <p:cNvPr id="80" name="Google Shape;80;p15"/>
            <p:cNvGrpSpPr/>
            <p:nvPr/>
          </p:nvGrpSpPr>
          <p:grpSpPr>
            <a:xfrm>
              <a:off x="2945825" y="1905133"/>
              <a:ext cx="3307800" cy="3091917"/>
              <a:chOff x="2945825" y="1905133"/>
              <a:chExt cx="3307800" cy="3091917"/>
            </a:xfrm>
          </p:grpSpPr>
          <p:grpSp>
            <p:nvGrpSpPr>
              <p:cNvPr id="81" name="Google Shape;81;p15"/>
              <p:cNvGrpSpPr/>
              <p:nvPr/>
            </p:nvGrpSpPr>
            <p:grpSpPr>
              <a:xfrm>
                <a:off x="2945825" y="2726875"/>
                <a:ext cx="3307800" cy="2270175"/>
                <a:chOff x="298575" y="415025"/>
                <a:chExt cx="3307800" cy="2270175"/>
              </a:xfrm>
            </p:grpSpPr>
            <p:grpSp>
              <p:nvGrpSpPr>
                <p:cNvPr id="82" name="Google Shape;82;p15"/>
                <p:cNvGrpSpPr/>
                <p:nvPr/>
              </p:nvGrpSpPr>
              <p:grpSpPr>
                <a:xfrm>
                  <a:off x="298575" y="415025"/>
                  <a:ext cx="3307800" cy="1687950"/>
                  <a:chOff x="298575" y="415025"/>
                  <a:chExt cx="3307800" cy="1687950"/>
                </a:xfrm>
              </p:grpSpPr>
              <p:sp>
                <p:nvSpPr>
                  <p:cNvPr id="83" name="Google Shape;83;p15"/>
                  <p:cNvSpPr/>
                  <p:nvPr/>
                </p:nvSpPr>
                <p:spPr>
                  <a:xfrm>
                    <a:off x="1392500" y="415025"/>
                    <a:ext cx="1194000" cy="1143000"/>
                  </a:xfrm>
                  <a:prstGeom prst="diamond">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84" name="Google Shape;84;p15"/>
                  <p:cNvSpPr txBox="1"/>
                  <p:nvPr/>
                </p:nvSpPr>
                <p:spPr>
                  <a:xfrm>
                    <a:off x="1478600" y="817175"/>
                    <a:ext cx="10218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85" name="Google Shape;85;p15"/>
                  <p:cNvSpPr/>
                  <p:nvPr/>
                </p:nvSpPr>
                <p:spPr>
                  <a:xfrm>
                    <a:off x="298575" y="1795775"/>
                    <a:ext cx="1021800" cy="3066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else code</a:t>
                    </a:r>
                    <a:endParaRPr sz="1000" b="1"/>
                  </a:p>
                </p:txBody>
              </p:sp>
              <p:sp>
                <p:nvSpPr>
                  <p:cNvPr id="86" name="Google Shape;86;p15"/>
                  <p:cNvSpPr/>
                  <p:nvPr/>
                </p:nvSpPr>
                <p:spPr>
                  <a:xfrm>
                    <a:off x="2584575" y="1795775"/>
                    <a:ext cx="1021800" cy="3066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conditional code</a:t>
                    </a:r>
                    <a:endParaRPr sz="1000" b="1"/>
                  </a:p>
                </p:txBody>
              </p:sp>
              <p:cxnSp>
                <p:nvCxnSpPr>
                  <p:cNvPr id="87" name="Google Shape;87;p15"/>
                  <p:cNvCxnSpPr>
                    <a:stCxn id="83" idx="1"/>
                    <a:endCxn id="85" idx="0"/>
                  </p:cNvCxnSpPr>
                  <p:nvPr/>
                </p:nvCxnSpPr>
                <p:spPr>
                  <a:xfrm flipH="1">
                    <a:off x="809600" y="986525"/>
                    <a:ext cx="582900" cy="809400"/>
                  </a:xfrm>
                  <a:prstGeom prst="bentConnector2">
                    <a:avLst/>
                  </a:prstGeom>
                  <a:noFill/>
                  <a:ln w="19050" cap="flat" cmpd="sng">
                    <a:solidFill>
                      <a:srgbClr val="000000"/>
                    </a:solidFill>
                    <a:prstDash val="solid"/>
                    <a:round/>
                    <a:headEnd type="none" w="med" len="med"/>
                    <a:tailEnd type="triangle" w="med" len="med"/>
                  </a:ln>
                </p:spPr>
              </p:cxnSp>
              <p:cxnSp>
                <p:nvCxnSpPr>
                  <p:cNvPr id="88" name="Google Shape;88;p15"/>
                  <p:cNvCxnSpPr>
                    <a:stCxn id="83" idx="3"/>
                    <a:endCxn id="86" idx="0"/>
                  </p:cNvCxnSpPr>
                  <p:nvPr/>
                </p:nvCxnSpPr>
                <p:spPr>
                  <a:xfrm>
                    <a:off x="2586500" y="986525"/>
                    <a:ext cx="509100" cy="809400"/>
                  </a:xfrm>
                  <a:prstGeom prst="bentConnector2">
                    <a:avLst/>
                  </a:prstGeom>
                  <a:noFill/>
                  <a:ln w="19050" cap="flat" cmpd="sng">
                    <a:solidFill>
                      <a:srgbClr val="000000"/>
                    </a:solidFill>
                    <a:prstDash val="solid"/>
                    <a:round/>
                    <a:headEnd type="none" w="med" len="med"/>
                    <a:tailEnd type="triangle" w="med" len="med"/>
                  </a:ln>
                </p:spPr>
              </p:cxnSp>
              <p:cxnSp>
                <p:nvCxnSpPr>
                  <p:cNvPr id="89" name="Google Shape;89;p15"/>
                  <p:cNvCxnSpPr>
                    <a:stCxn id="85" idx="2"/>
                    <a:endCxn id="86" idx="2"/>
                  </p:cNvCxnSpPr>
                  <p:nvPr/>
                </p:nvCxnSpPr>
                <p:spPr>
                  <a:xfrm rot="-5400000" flipH="1">
                    <a:off x="1952175" y="959675"/>
                    <a:ext cx="600" cy="2286000"/>
                  </a:xfrm>
                  <a:prstGeom prst="bentConnector3">
                    <a:avLst>
                      <a:gd name="adj1" fmla="val 39687500"/>
                    </a:avLst>
                  </a:prstGeom>
                  <a:noFill/>
                  <a:ln w="19050" cap="flat" cmpd="sng">
                    <a:solidFill>
                      <a:srgbClr val="000000"/>
                    </a:solidFill>
                    <a:prstDash val="solid"/>
                    <a:round/>
                    <a:headEnd type="none" w="med" len="med"/>
                    <a:tailEnd type="triangle" w="med" len="med"/>
                  </a:ln>
                </p:spPr>
              </p:cxnSp>
              <p:sp>
                <p:nvSpPr>
                  <p:cNvPr id="90" name="Google Shape;90;p15"/>
                  <p:cNvSpPr txBox="1"/>
                  <p:nvPr/>
                </p:nvSpPr>
                <p:spPr>
                  <a:xfrm>
                    <a:off x="781300" y="665950"/>
                    <a:ext cx="735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91" name="Google Shape;91;p15"/>
                  <p:cNvSpPr txBox="1"/>
                  <p:nvPr/>
                </p:nvSpPr>
                <p:spPr>
                  <a:xfrm>
                    <a:off x="2610100" y="665950"/>
                    <a:ext cx="735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grpSp>
            <p:cxnSp>
              <p:nvCxnSpPr>
                <p:cNvPr id="92" name="Google Shape;92;p15"/>
                <p:cNvCxnSpPr/>
                <p:nvPr/>
              </p:nvCxnSpPr>
              <p:spPr>
                <a:xfrm>
                  <a:off x="1952475" y="2340500"/>
                  <a:ext cx="0" cy="344700"/>
                </a:xfrm>
                <a:prstGeom prst="straightConnector1">
                  <a:avLst/>
                </a:prstGeom>
                <a:noFill/>
                <a:ln w="19050" cap="flat" cmpd="sng">
                  <a:solidFill>
                    <a:srgbClr val="000000"/>
                  </a:solidFill>
                  <a:prstDash val="solid"/>
                  <a:round/>
                  <a:headEnd type="none" w="med" len="med"/>
                  <a:tailEnd type="triangle" w="med" len="med"/>
                </a:ln>
              </p:spPr>
            </p:cxnSp>
          </p:grpSp>
          <p:sp>
            <p:nvSpPr>
              <p:cNvPr id="93" name="Google Shape;93;p15"/>
              <p:cNvSpPr/>
              <p:nvPr/>
            </p:nvSpPr>
            <p:spPr>
              <a:xfrm>
                <a:off x="3561725" y="1905133"/>
                <a:ext cx="2160600" cy="460800"/>
              </a:xfrm>
              <a:prstGeom prst="rect">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rPr>
                  <a:t>Conditional execution</a:t>
                </a:r>
                <a:endParaRPr sz="1100" b="1">
                  <a:solidFill>
                    <a:schemeClr val="lt1"/>
                  </a:solidFill>
                </a:endParaRPr>
              </a:p>
            </p:txBody>
          </p:sp>
        </p:grpSp>
        <p:cxnSp>
          <p:nvCxnSpPr>
            <p:cNvPr id="94" name="Google Shape;94;p15"/>
            <p:cNvCxnSpPr>
              <a:stCxn id="93" idx="2"/>
              <a:endCxn id="83" idx="0"/>
            </p:cNvCxnSpPr>
            <p:nvPr/>
          </p:nvCxnSpPr>
          <p:spPr>
            <a:xfrm flipH="1">
              <a:off x="4636625" y="2365933"/>
              <a:ext cx="5400" cy="360900"/>
            </a:xfrm>
            <a:prstGeom prst="straightConnector1">
              <a:avLst/>
            </a:prstGeom>
            <a:noFill/>
            <a:ln w="19050" cap="flat" cmpd="sng">
              <a:solidFill>
                <a:schemeClr val="dk2"/>
              </a:solidFill>
              <a:prstDash val="solid"/>
              <a:round/>
              <a:headEnd type="none" w="med" len="med"/>
              <a:tailEnd type="triangle" w="med" len="med"/>
            </a:ln>
          </p:spPr>
        </p:cxnSp>
      </p:grpSp>
      <p:grpSp>
        <p:nvGrpSpPr>
          <p:cNvPr id="95" name="Google Shape;95;p15"/>
          <p:cNvGrpSpPr/>
          <p:nvPr/>
        </p:nvGrpSpPr>
        <p:grpSpPr>
          <a:xfrm>
            <a:off x="6304925" y="1905133"/>
            <a:ext cx="2509401" cy="2911206"/>
            <a:chOff x="6304925" y="1905133"/>
            <a:chExt cx="2509401" cy="2911206"/>
          </a:xfrm>
        </p:grpSpPr>
        <p:grpSp>
          <p:nvGrpSpPr>
            <p:cNvPr id="96" name="Google Shape;96;p15"/>
            <p:cNvGrpSpPr/>
            <p:nvPr/>
          </p:nvGrpSpPr>
          <p:grpSpPr>
            <a:xfrm>
              <a:off x="6429900" y="2307547"/>
              <a:ext cx="2384426" cy="2508792"/>
              <a:chOff x="580825" y="117850"/>
              <a:chExt cx="2290075" cy="2412300"/>
            </a:xfrm>
          </p:grpSpPr>
          <p:sp>
            <p:nvSpPr>
              <p:cNvPr id="97" name="Google Shape;97;p15"/>
              <p:cNvSpPr/>
              <p:nvPr/>
            </p:nvSpPr>
            <p:spPr>
              <a:xfrm>
                <a:off x="580825" y="940750"/>
                <a:ext cx="1194000" cy="1143000"/>
              </a:xfrm>
              <a:prstGeom prst="diamond">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98" name="Google Shape;98;p15"/>
              <p:cNvSpPr txBox="1"/>
              <p:nvPr/>
            </p:nvSpPr>
            <p:spPr>
              <a:xfrm>
                <a:off x="666925" y="1342900"/>
                <a:ext cx="1021800" cy="32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cxnSp>
            <p:nvCxnSpPr>
              <p:cNvPr id="99" name="Google Shape;99;p15"/>
              <p:cNvCxnSpPr>
                <a:endCxn id="97" idx="0"/>
              </p:cNvCxnSpPr>
              <p:nvPr/>
            </p:nvCxnSpPr>
            <p:spPr>
              <a:xfrm>
                <a:off x="1174825" y="117850"/>
                <a:ext cx="3000" cy="822900"/>
              </a:xfrm>
              <a:prstGeom prst="straightConnector1">
                <a:avLst/>
              </a:prstGeom>
              <a:noFill/>
              <a:ln w="19050" cap="flat" cmpd="sng">
                <a:solidFill>
                  <a:schemeClr val="dk1"/>
                </a:solidFill>
                <a:prstDash val="solid"/>
                <a:round/>
                <a:headEnd type="oval" w="med" len="med"/>
                <a:tailEnd type="triangle" w="med" len="med"/>
              </a:ln>
            </p:spPr>
          </p:cxnSp>
          <p:sp>
            <p:nvSpPr>
              <p:cNvPr id="100" name="Google Shape;100;p15"/>
              <p:cNvSpPr/>
              <p:nvPr/>
            </p:nvSpPr>
            <p:spPr>
              <a:xfrm>
                <a:off x="1849100" y="645100"/>
                <a:ext cx="1021800" cy="3066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conditional code</a:t>
                </a:r>
                <a:endParaRPr sz="1000" b="1"/>
              </a:p>
            </p:txBody>
          </p:sp>
          <p:cxnSp>
            <p:nvCxnSpPr>
              <p:cNvPr id="101" name="Google Shape;101;p15"/>
              <p:cNvCxnSpPr>
                <a:stCxn id="97" idx="3"/>
                <a:endCxn id="100" idx="2"/>
              </p:cNvCxnSpPr>
              <p:nvPr/>
            </p:nvCxnSpPr>
            <p:spPr>
              <a:xfrm rot="10800000" flipH="1">
                <a:off x="1774825" y="951550"/>
                <a:ext cx="585300" cy="560700"/>
              </a:xfrm>
              <a:prstGeom prst="bentConnector2">
                <a:avLst/>
              </a:prstGeom>
              <a:noFill/>
              <a:ln w="19050" cap="flat" cmpd="sng">
                <a:solidFill>
                  <a:srgbClr val="000000"/>
                </a:solidFill>
                <a:prstDash val="solid"/>
                <a:round/>
                <a:headEnd type="none" w="med" len="med"/>
                <a:tailEnd type="triangle" w="med" len="med"/>
              </a:ln>
            </p:spPr>
          </p:cxnSp>
          <p:sp>
            <p:nvSpPr>
              <p:cNvPr id="102" name="Google Shape;102;p15"/>
              <p:cNvSpPr txBox="1"/>
              <p:nvPr/>
            </p:nvSpPr>
            <p:spPr>
              <a:xfrm>
                <a:off x="1194075" y="2142200"/>
                <a:ext cx="509100" cy="32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103" name="Google Shape;103;p15"/>
              <p:cNvSpPr txBox="1"/>
              <p:nvPr/>
            </p:nvSpPr>
            <p:spPr>
              <a:xfrm>
                <a:off x="1798425" y="1191675"/>
                <a:ext cx="735300" cy="32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cxnSp>
            <p:nvCxnSpPr>
              <p:cNvPr id="104" name="Google Shape;104;p15"/>
              <p:cNvCxnSpPr>
                <a:stCxn id="100" idx="0"/>
              </p:cNvCxnSpPr>
              <p:nvPr/>
            </p:nvCxnSpPr>
            <p:spPr>
              <a:xfrm rot="5400000" flipH="1">
                <a:off x="1689050" y="-25850"/>
                <a:ext cx="161700" cy="1180200"/>
              </a:xfrm>
              <a:prstGeom prst="bentConnector2">
                <a:avLst/>
              </a:prstGeom>
              <a:noFill/>
              <a:ln w="19050" cap="flat" cmpd="sng">
                <a:solidFill>
                  <a:srgbClr val="000000"/>
                </a:solidFill>
                <a:prstDash val="solid"/>
                <a:round/>
                <a:headEnd type="none" w="med" len="med"/>
                <a:tailEnd type="triangle" w="med" len="med"/>
              </a:ln>
            </p:spPr>
          </p:cxnSp>
          <p:cxnSp>
            <p:nvCxnSpPr>
              <p:cNvPr id="105" name="Google Shape;105;p15"/>
              <p:cNvCxnSpPr>
                <a:endCxn id="97" idx="2"/>
              </p:cNvCxnSpPr>
              <p:nvPr/>
            </p:nvCxnSpPr>
            <p:spPr>
              <a:xfrm rot="10800000" flipH="1">
                <a:off x="1177225" y="2083750"/>
                <a:ext cx="600" cy="446400"/>
              </a:xfrm>
              <a:prstGeom prst="straightConnector1">
                <a:avLst/>
              </a:prstGeom>
              <a:noFill/>
              <a:ln w="19050" cap="flat" cmpd="sng">
                <a:solidFill>
                  <a:schemeClr val="dk1"/>
                </a:solidFill>
                <a:prstDash val="solid"/>
                <a:round/>
                <a:headEnd type="oval" w="med" len="med"/>
                <a:tailEnd type="triangle" w="med" len="med"/>
              </a:ln>
            </p:spPr>
          </p:cxnSp>
        </p:grpSp>
        <p:sp>
          <p:nvSpPr>
            <p:cNvPr id="106" name="Google Shape;106;p15"/>
            <p:cNvSpPr/>
            <p:nvPr/>
          </p:nvSpPr>
          <p:spPr>
            <a:xfrm>
              <a:off x="6304925" y="1905133"/>
              <a:ext cx="2160600" cy="460800"/>
            </a:xfrm>
            <a:prstGeom prst="rect">
              <a:avLst/>
            </a:prstGeom>
            <a:solidFill>
              <a:srgbClr val="3C78D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rPr>
                <a:t>Repetition execution</a:t>
              </a:r>
              <a:endParaRPr sz="1100" b="1">
                <a:solidFill>
                  <a:schemeClr val="lt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10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10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fade">
                                      <p:cBhvr>
                                        <p:cTn id="17" dur="1000"/>
                                        <p:tgtEl>
                                          <p:spTgt spid="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fade">
                                      <p:cBhvr>
                                        <p:cTn id="22" dur="1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0"/>
        <p:cNvGrpSpPr/>
        <p:nvPr/>
      </p:nvGrpSpPr>
      <p:grpSpPr>
        <a:xfrm>
          <a:off x="0" y="0"/>
          <a:ext cx="0" cy="0"/>
          <a:chOff x="0" y="0"/>
          <a:chExt cx="0" cy="0"/>
        </a:xfrm>
      </p:grpSpPr>
      <p:sp>
        <p:nvSpPr>
          <p:cNvPr id="111" name="Google Shape;111;p16"/>
          <p:cNvSpPr txBox="1"/>
          <p:nvPr/>
        </p:nvSpPr>
        <p:spPr>
          <a:xfrm>
            <a:off x="0" y="306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2000" b="1">
                <a:solidFill>
                  <a:schemeClr val="dk1"/>
                </a:solidFill>
              </a:rPr>
              <a:t>Flow Control Statements</a:t>
            </a:r>
            <a:endParaRPr sz="2000"/>
          </a:p>
        </p:txBody>
      </p:sp>
      <p:pic>
        <p:nvPicPr>
          <p:cNvPr id="112" name="Google Shape;112;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3" name="Google Shape;113;p16"/>
          <p:cNvSpPr txBox="1"/>
          <p:nvPr/>
        </p:nvSpPr>
        <p:spPr>
          <a:xfrm>
            <a:off x="578550" y="703650"/>
            <a:ext cx="7986900" cy="8313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Flow control statements in Java are those statements that change the flow of execution and provide better control to the programmer on the flow of execution in the program. Control statements in java programming are used to write better and complex programs.</a:t>
            </a:r>
            <a:endParaRPr/>
          </a:p>
        </p:txBody>
      </p:sp>
      <p:grpSp>
        <p:nvGrpSpPr>
          <p:cNvPr id="114" name="Google Shape;114;p16"/>
          <p:cNvGrpSpPr/>
          <p:nvPr/>
        </p:nvGrpSpPr>
        <p:grpSpPr>
          <a:xfrm>
            <a:off x="2777413" y="1535300"/>
            <a:ext cx="3523025" cy="987300"/>
            <a:chOff x="2777413" y="1611500"/>
            <a:chExt cx="3523025" cy="987300"/>
          </a:xfrm>
        </p:grpSpPr>
        <p:cxnSp>
          <p:nvCxnSpPr>
            <p:cNvPr id="115" name="Google Shape;115;p16"/>
            <p:cNvCxnSpPr>
              <a:stCxn id="116" idx="2"/>
              <a:endCxn id="117" idx="0"/>
            </p:cNvCxnSpPr>
            <p:nvPr/>
          </p:nvCxnSpPr>
          <p:spPr>
            <a:xfrm rot="-5400000" flipH="1">
              <a:off x="5150388" y="1448750"/>
              <a:ext cx="574800" cy="1725300"/>
            </a:xfrm>
            <a:prstGeom prst="bentConnector3">
              <a:avLst>
                <a:gd name="adj1" fmla="val 49993"/>
              </a:avLst>
            </a:prstGeom>
            <a:noFill/>
            <a:ln w="19050" cap="flat" cmpd="sng">
              <a:solidFill>
                <a:srgbClr val="000000"/>
              </a:solidFill>
              <a:prstDash val="solid"/>
              <a:round/>
              <a:headEnd type="diamond" w="med" len="med"/>
              <a:tailEnd type="diamond" w="med" len="med"/>
            </a:ln>
          </p:spPr>
        </p:cxnSp>
        <p:cxnSp>
          <p:nvCxnSpPr>
            <p:cNvPr id="118" name="Google Shape;118;p16"/>
            <p:cNvCxnSpPr>
              <a:stCxn id="119" idx="0"/>
              <a:endCxn id="116" idx="2"/>
            </p:cNvCxnSpPr>
            <p:nvPr/>
          </p:nvCxnSpPr>
          <p:spPr>
            <a:xfrm rot="-5400000">
              <a:off x="3388813" y="1412525"/>
              <a:ext cx="574800" cy="1797600"/>
            </a:xfrm>
            <a:prstGeom prst="bentConnector3">
              <a:avLst>
                <a:gd name="adj1" fmla="val 49993"/>
              </a:avLst>
            </a:prstGeom>
            <a:noFill/>
            <a:ln w="19050" cap="flat" cmpd="sng">
              <a:solidFill>
                <a:srgbClr val="000000"/>
              </a:solidFill>
              <a:prstDash val="solid"/>
              <a:round/>
              <a:headEnd type="diamond" w="med" len="med"/>
              <a:tailEnd type="diamond" w="med" len="med"/>
            </a:ln>
          </p:spPr>
        </p:cxnSp>
        <p:sp>
          <p:nvSpPr>
            <p:cNvPr id="116" name="Google Shape;116;p16"/>
            <p:cNvSpPr txBox="1"/>
            <p:nvPr/>
          </p:nvSpPr>
          <p:spPr>
            <a:xfrm>
              <a:off x="3088938" y="1611500"/>
              <a:ext cx="2972400" cy="4125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Flow </a:t>
              </a:r>
              <a:r>
                <a:rPr lang="en" sz="1000" b="1">
                  <a:solidFill>
                    <a:schemeClr val="lt1"/>
                  </a:solidFill>
                </a:rPr>
                <a:t>Control</a:t>
              </a:r>
              <a:r>
                <a:rPr lang="en" sz="1000" b="1">
                  <a:solidFill>
                    <a:srgbClr val="FFFFFF"/>
                  </a:solidFill>
                </a:rPr>
                <a:t> Statements</a:t>
              </a:r>
              <a:endParaRPr sz="1000" b="1">
                <a:solidFill>
                  <a:srgbClr val="FFFFFF"/>
                </a:solidFill>
              </a:endParaRPr>
            </a:p>
          </p:txBody>
        </p:sp>
      </p:grpSp>
      <p:sp>
        <p:nvSpPr>
          <p:cNvPr id="119" name="Google Shape;119;p16"/>
          <p:cNvSpPr txBox="1"/>
          <p:nvPr/>
        </p:nvSpPr>
        <p:spPr>
          <a:xfrm>
            <a:off x="1936063" y="2522525"/>
            <a:ext cx="1682700" cy="367500"/>
          </a:xfrm>
          <a:prstGeom prst="rect">
            <a:avLst/>
          </a:prstGeom>
          <a:solidFill>
            <a:srgbClr val="741B4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Conditional Statements</a:t>
            </a:r>
            <a:endParaRPr sz="1000" b="1">
              <a:solidFill>
                <a:srgbClr val="FFFFFF"/>
              </a:solidFill>
            </a:endParaRPr>
          </a:p>
        </p:txBody>
      </p:sp>
      <p:sp>
        <p:nvSpPr>
          <p:cNvPr id="117" name="Google Shape;117;p16"/>
          <p:cNvSpPr txBox="1"/>
          <p:nvPr/>
        </p:nvSpPr>
        <p:spPr>
          <a:xfrm>
            <a:off x="5392638" y="2522525"/>
            <a:ext cx="1815300" cy="367500"/>
          </a:xfrm>
          <a:prstGeom prst="rect">
            <a:avLst/>
          </a:prstGeom>
          <a:solidFill>
            <a:srgbClr val="741B4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Unconditional Statements</a:t>
            </a:r>
            <a:endParaRPr sz="1000" b="1">
              <a:solidFill>
                <a:srgbClr val="FFFFFF"/>
              </a:solidFill>
            </a:endParaRPr>
          </a:p>
        </p:txBody>
      </p:sp>
      <p:grpSp>
        <p:nvGrpSpPr>
          <p:cNvPr id="120" name="Google Shape;120;p16"/>
          <p:cNvGrpSpPr/>
          <p:nvPr/>
        </p:nvGrpSpPr>
        <p:grpSpPr>
          <a:xfrm>
            <a:off x="1936114" y="3036626"/>
            <a:ext cx="1682718" cy="1996666"/>
            <a:chOff x="3105754" y="4309129"/>
            <a:chExt cx="1428575" cy="1571065"/>
          </a:xfrm>
        </p:grpSpPr>
        <p:sp>
          <p:nvSpPr>
            <p:cNvPr id="121" name="Google Shape;121;p16"/>
            <p:cNvSpPr txBox="1"/>
            <p:nvPr/>
          </p:nvSpPr>
          <p:spPr>
            <a:xfrm>
              <a:off x="3117714" y="4309129"/>
              <a:ext cx="1416600" cy="266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if else</a:t>
              </a:r>
              <a:endParaRPr sz="1000"/>
            </a:p>
          </p:txBody>
        </p:sp>
        <p:sp>
          <p:nvSpPr>
            <p:cNvPr id="122" name="Google Shape;122;p16"/>
            <p:cNvSpPr txBox="1"/>
            <p:nvPr/>
          </p:nvSpPr>
          <p:spPr>
            <a:xfrm>
              <a:off x="3117729" y="4635300"/>
              <a:ext cx="1416600" cy="266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do-while</a:t>
              </a:r>
              <a:endParaRPr sz="1000"/>
            </a:p>
          </p:txBody>
        </p:sp>
        <p:sp>
          <p:nvSpPr>
            <p:cNvPr id="123" name="Google Shape;123;p16"/>
            <p:cNvSpPr txBox="1"/>
            <p:nvPr/>
          </p:nvSpPr>
          <p:spPr>
            <a:xfrm>
              <a:off x="3117724" y="5287632"/>
              <a:ext cx="1416600" cy="266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for loop</a:t>
              </a:r>
              <a:endParaRPr sz="1000"/>
            </a:p>
          </p:txBody>
        </p:sp>
        <p:sp>
          <p:nvSpPr>
            <p:cNvPr id="124" name="Google Shape;124;p16"/>
            <p:cNvSpPr txBox="1"/>
            <p:nvPr/>
          </p:nvSpPr>
          <p:spPr>
            <a:xfrm>
              <a:off x="3117719" y="4961471"/>
              <a:ext cx="1416600" cy="266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while loop</a:t>
              </a:r>
              <a:endParaRPr sz="1000"/>
            </a:p>
          </p:txBody>
        </p:sp>
        <p:sp>
          <p:nvSpPr>
            <p:cNvPr id="125" name="Google Shape;125;p16"/>
            <p:cNvSpPr txBox="1"/>
            <p:nvPr/>
          </p:nvSpPr>
          <p:spPr>
            <a:xfrm>
              <a:off x="3105754" y="5613794"/>
              <a:ext cx="1416600" cy="266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switch</a:t>
              </a:r>
              <a:endParaRPr sz="1000"/>
            </a:p>
          </p:txBody>
        </p:sp>
      </p:grpSp>
      <p:grpSp>
        <p:nvGrpSpPr>
          <p:cNvPr id="126" name="Google Shape;126;p16"/>
          <p:cNvGrpSpPr/>
          <p:nvPr/>
        </p:nvGrpSpPr>
        <p:grpSpPr>
          <a:xfrm>
            <a:off x="5393087" y="3035859"/>
            <a:ext cx="1815378" cy="1168245"/>
            <a:chOff x="6859313" y="4030200"/>
            <a:chExt cx="1877719" cy="1157825"/>
          </a:xfrm>
        </p:grpSpPr>
        <p:sp>
          <p:nvSpPr>
            <p:cNvPr id="127" name="Google Shape;127;p16"/>
            <p:cNvSpPr txBox="1"/>
            <p:nvPr/>
          </p:nvSpPr>
          <p:spPr>
            <a:xfrm>
              <a:off x="6859313" y="4030200"/>
              <a:ext cx="1877700" cy="3357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break</a:t>
              </a:r>
              <a:endParaRPr sz="1000"/>
            </a:p>
          </p:txBody>
        </p:sp>
        <p:sp>
          <p:nvSpPr>
            <p:cNvPr id="128" name="Google Shape;128;p16"/>
            <p:cNvSpPr txBox="1"/>
            <p:nvPr/>
          </p:nvSpPr>
          <p:spPr>
            <a:xfrm>
              <a:off x="6859331" y="4441263"/>
              <a:ext cx="1877700" cy="3357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continue</a:t>
              </a:r>
              <a:endParaRPr sz="1000"/>
            </a:p>
          </p:txBody>
        </p:sp>
        <p:sp>
          <p:nvSpPr>
            <p:cNvPr id="129" name="Google Shape;129;p16"/>
            <p:cNvSpPr txBox="1"/>
            <p:nvPr/>
          </p:nvSpPr>
          <p:spPr>
            <a:xfrm>
              <a:off x="6859319" y="4852325"/>
              <a:ext cx="1877700" cy="3357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t>return</a:t>
              </a:r>
              <a:endParaRPr sz="1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10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1000"/>
                                        <p:tgtEl>
                                          <p:spTgt spid="1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
                                        </p:tgtEl>
                                        <p:attrNameLst>
                                          <p:attrName>style.visibility</p:attrName>
                                        </p:attrNameLst>
                                      </p:cBhvr>
                                      <p:to>
                                        <p:strVal val="visible"/>
                                      </p:to>
                                    </p:set>
                                    <p:animEffect transition="in" filter="fade">
                                      <p:cBhvr>
                                        <p:cTn id="17" dur="1000"/>
                                        <p:tgtEl>
                                          <p:spTgt spid="1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10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6"/>
                                        </p:tgtEl>
                                        <p:attrNameLst>
                                          <p:attrName>style.visibility</p:attrName>
                                        </p:attrNameLst>
                                      </p:cBhvr>
                                      <p:to>
                                        <p:strVal val="visible"/>
                                      </p:to>
                                    </p:set>
                                    <p:animEffect transition="in" filter="fade">
                                      <p:cBhvr>
                                        <p:cTn id="27" dur="10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3"/>
        <p:cNvGrpSpPr/>
        <p:nvPr/>
      </p:nvGrpSpPr>
      <p:grpSpPr>
        <a:xfrm>
          <a:off x="0" y="0"/>
          <a:ext cx="0" cy="0"/>
          <a:chOff x="0" y="0"/>
          <a:chExt cx="0" cy="0"/>
        </a:xfrm>
      </p:grpSpPr>
      <p:sp>
        <p:nvSpPr>
          <p:cNvPr id="134" name="Google Shape;134;p17"/>
          <p:cNvSpPr txBox="1"/>
          <p:nvPr/>
        </p:nvSpPr>
        <p:spPr>
          <a:xfrm>
            <a:off x="0" y="306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if</a:t>
            </a:r>
            <a:endParaRPr sz="2000"/>
          </a:p>
        </p:txBody>
      </p:sp>
      <p:pic>
        <p:nvPicPr>
          <p:cNvPr id="135" name="Google Shape;135;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136" name="Google Shape;136;p17"/>
          <p:cNvGrpSpPr/>
          <p:nvPr/>
        </p:nvGrpSpPr>
        <p:grpSpPr>
          <a:xfrm>
            <a:off x="2006809" y="791525"/>
            <a:ext cx="5130378" cy="3670275"/>
            <a:chOff x="3252422" y="493800"/>
            <a:chExt cx="5130378" cy="3670275"/>
          </a:xfrm>
        </p:grpSpPr>
        <p:grpSp>
          <p:nvGrpSpPr>
            <p:cNvPr id="137" name="Google Shape;137;p17"/>
            <p:cNvGrpSpPr/>
            <p:nvPr/>
          </p:nvGrpSpPr>
          <p:grpSpPr>
            <a:xfrm>
              <a:off x="3252422" y="493800"/>
              <a:ext cx="5130378" cy="3335175"/>
              <a:chOff x="3252422" y="722400"/>
              <a:chExt cx="5130378" cy="3335175"/>
            </a:xfrm>
          </p:grpSpPr>
          <p:sp>
            <p:nvSpPr>
              <p:cNvPr id="138" name="Google Shape;138;p17"/>
              <p:cNvSpPr/>
              <p:nvPr/>
            </p:nvSpPr>
            <p:spPr>
              <a:xfrm>
                <a:off x="3507675" y="1170000"/>
                <a:ext cx="1929000" cy="17142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39" name="Google Shape;139;p17"/>
              <p:cNvSpPr txBox="1"/>
              <p:nvPr/>
            </p:nvSpPr>
            <p:spPr>
              <a:xfrm>
                <a:off x="3252422" y="1768442"/>
                <a:ext cx="23967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cxnSp>
            <p:nvCxnSpPr>
              <p:cNvPr id="140" name="Google Shape;140;p17"/>
              <p:cNvCxnSpPr>
                <a:endCxn id="138" idx="0"/>
              </p:cNvCxnSpPr>
              <p:nvPr/>
            </p:nvCxnSpPr>
            <p:spPr>
              <a:xfrm>
                <a:off x="4471875" y="722400"/>
                <a:ext cx="300" cy="447600"/>
              </a:xfrm>
              <a:prstGeom prst="straightConnector1">
                <a:avLst/>
              </a:prstGeom>
              <a:noFill/>
              <a:ln w="19050" cap="flat" cmpd="sng">
                <a:solidFill>
                  <a:srgbClr val="000000"/>
                </a:solidFill>
                <a:prstDash val="dash"/>
                <a:round/>
                <a:headEnd type="oval" w="med" len="med"/>
                <a:tailEnd type="triangle" w="med" len="med"/>
              </a:ln>
            </p:spPr>
          </p:cxnSp>
          <p:sp>
            <p:nvSpPr>
              <p:cNvPr id="141" name="Google Shape;141;p17"/>
              <p:cNvSpPr/>
              <p:nvPr/>
            </p:nvSpPr>
            <p:spPr>
              <a:xfrm>
                <a:off x="5986100" y="3124276"/>
                <a:ext cx="2396700" cy="4998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conditional code</a:t>
                </a:r>
                <a:endParaRPr sz="1000" b="1"/>
              </a:p>
            </p:txBody>
          </p:sp>
          <p:cxnSp>
            <p:nvCxnSpPr>
              <p:cNvPr id="142" name="Google Shape;142;p17"/>
              <p:cNvCxnSpPr>
                <a:stCxn id="138" idx="3"/>
                <a:endCxn id="141" idx="0"/>
              </p:cNvCxnSpPr>
              <p:nvPr/>
            </p:nvCxnSpPr>
            <p:spPr>
              <a:xfrm>
                <a:off x="5436675" y="2027100"/>
                <a:ext cx="1747800" cy="1097100"/>
              </a:xfrm>
              <a:prstGeom prst="bentConnector2">
                <a:avLst/>
              </a:prstGeom>
              <a:noFill/>
              <a:ln w="19050" cap="flat" cmpd="sng">
                <a:solidFill>
                  <a:srgbClr val="000000"/>
                </a:solidFill>
                <a:prstDash val="solid"/>
                <a:round/>
                <a:headEnd type="none" w="med" len="med"/>
                <a:tailEnd type="triangle" w="med" len="med"/>
              </a:ln>
            </p:spPr>
          </p:cxnSp>
          <p:sp>
            <p:nvSpPr>
              <p:cNvPr id="143" name="Google Shape;143;p17"/>
              <p:cNvSpPr txBox="1"/>
              <p:nvPr/>
            </p:nvSpPr>
            <p:spPr>
              <a:xfrm>
                <a:off x="5727627" y="1464475"/>
                <a:ext cx="564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144" name="Google Shape;144;p17"/>
              <p:cNvSpPr txBox="1"/>
              <p:nvPr/>
            </p:nvSpPr>
            <p:spPr>
              <a:xfrm>
                <a:off x="3822624" y="2836075"/>
                <a:ext cx="7329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false</a:t>
                </a:r>
                <a:endParaRPr sz="1000" b="1"/>
              </a:p>
            </p:txBody>
          </p:sp>
          <p:sp>
            <p:nvSpPr>
              <p:cNvPr id="145" name="Google Shape;145;p17"/>
              <p:cNvSpPr txBox="1"/>
              <p:nvPr/>
            </p:nvSpPr>
            <p:spPr>
              <a:xfrm>
                <a:off x="3325275" y="3124200"/>
                <a:ext cx="2293800" cy="499800"/>
              </a:xfrm>
              <a:prstGeom prst="rect">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Continue flow</a:t>
                </a:r>
                <a:endParaRPr sz="1000" b="1"/>
              </a:p>
            </p:txBody>
          </p:sp>
          <p:cxnSp>
            <p:nvCxnSpPr>
              <p:cNvPr id="146" name="Google Shape;146;p17"/>
              <p:cNvCxnSpPr>
                <a:stCxn id="138" idx="2"/>
                <a:endCxn id="145" idx="0"/>
              </p:cNvCxnSpPr>
              <p:nvPr/>
            </p:nvCxnSpPr>
            <p:spPr>
              <a:xfrm rot="-5400000" flipH="1">
                <a:off x="4352475" y="3003900"/>
                <a:ext cx="240000" cy="600"/>
              </a:xfrm>
              <a:prstGeom prst="bentConnector3">
                <a:avLst>
                  <a:gd name="adj1" fmla="val 50000"/>
                </a:avLst>
              </a:prstGeom>
              <a:noFill/>
              <a:ln w="19050" cap="flat" cmpd="sng">
                <a:solidFill>
                  <a:srgbClr val="000000"/>
                </a:solidFill>
                <a:prstDash val="solid"/>
                <a:round/>
                <a:headEnd type="none" w="med" len="med"/>
                <a:tailEnd type="none" w="med" len="med"/>
              </a:ln>
            </p:spPr>
          </p:cxnSp>
          <p:cxnSp>
            <p:nvCxnSpPr>
              <p:cNvPr id="147" name="Google Shape;147;p17"/>
              <p:cNvCxnSpPr>
                <a:stCxn id="141" idx="2"/>
              </p:cNvCxnSpPr>
              <p:nvPr/>
            </p:nvCxnSpPr>
            <p:spPr>
              <a:xfrm rot="5400000">
                <a:off x="5647100" y="2463226"/>
                <a:ext cx="376500" cy="2698200"/>
              </a:xfrm>
              <a:prstGeom prst="bentConnector2">
                <a:avLst/>
              </a:prstGeom>
              <a:noFill/>
              <a:ln w="19050" cap="flat" cmpd="sng">
                <a:solidFill>
                  <a:srgbClr val="000000"/>
                </a:solidFill>
                <a:prstDash val="solid"/>
                <a:round/>
                <a:headEnd type="none" w="med" len="med"/>
                <a:tailEnd type="triangle" w="med" len="med"/>
              </a:ln>
            </p:spPr>
          </p:cxnSp>
          <p:cxnSp>
            <p:nvCxnSpPr>
              <p:cNvPr id="148" name="Google Shape;148;p17"/>
              <p:cNvCxnSpPr/>
              <p:nvPr/>
            </p:nvCxnSpPr>
            <p:spPr>
              <a:xfrm>
                <a:off x="4474875" y="3638475"/>
                <a:ext cx="2700" cy="419100"/>
              </a:xfrm>
              <a:prstGeom prst="straightConnector1">
                <a:avLst/>
              </a:prstGeom>
              <a:noFill/>
              <a:ln w="19050" cap="flat" cmpd="sng">
                <a:solidFill>
                  <a:srgbClr val="000000"/>
                </a:solidFill>
                <a:prstDash val="solid"/>
                <a:round/>
                <a:headEnd type="none" w="med" len="med"/>
                <a:tailEnd type="none" w="med" len="med"/>
              </a:ln>
            </p:spPr>
          </p:cxnSp>
        </p:grpSp>
        <p:cxnSp>
          <p:nvCxnSpPr>
            <p:cNvPr id="149" name="Google Shape;149;p17"/>
            <p:cNvCxnSpPr/>
            <p:nvPr/>
          </p:nvCxnSpPr>
          <p:spPr>
            <a:xfrm flipH="1">
              <a:off x="4466175" y="3790875"/>
              <a:ext cx="8700" cy="373200"/>
            </a:xfrm>
            <a:prstGeom prst="straightConnector1">
              <a:avLst/>
            </a:prstGeom>
            <a:noFill/>
            <a:ln w="19050" cap="flat" cmpd="sng">
              <a:solidFill>
                <a:srgbClr val="000000"/>
              </a:solidFill>
              <a:prstDash val="dash"/>
              <a:round/>
              <a:headEnd type="none" w="med" len="med"/>
              <a:tailEnd type="none" w="med" len="med"/>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3"/>
        <p:cNvGrpSpPr/>
        <p:nvPr/>
      </p:nvGrpSpPr>
      <p:grpSpPr>
        <a:xfrm>
          <a:off x="0" y="0"/>
          <a:ext cx="0" cy="0"/>
          <a:chOff x="0" y="0"/>
          <a:chExt cx="0" cy="0"/>
        </a:xfrm>
      </p:grpSpPr>
      <p:sp>
        <p:nvSpPr>
          <p:cNvPr id="154" name="Google Shape;154;p18"/>
          <p:cNvSpPr txBox="1"/>
          <p:nvPr/>
        </p:nvSpPr>
        <p:spPr>
          <a:xfrm>
            <a:off x="0" y="3005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if-else</a:t>
            </a:r>
            <a:endParaRPr sz="2000"/>
          </a:p>
        </p:txBody>
      </p:sp>
      <p:pic>
        <p:nvPicPr>
          <p:cNvPr id="155" name="Google Shape;155;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156" name="Google Shape;156;p18"/>
          <p:cNvGrpSpPr/>
          <p:nvPr/>
        </p:nvGrpSpPr>
        <p:grpSpPr>
          <a:xfrm>
            <a:off x="2118000" y="793118"/>
            <a:ext cx="4974287" cy="4175582"/>
            <a:chOff x="2194200" y="793118"/>
            <a:chExt cx="4974287" cy="4175582"/>
          </a:xfrm>
        </p:grpSpPr>
        <p:sp>
          <p:nvSpPr>
            <p:cNvPr id="157" name="Google Shape;157;p18"/>
            <p:cNvSpPr txBox="1"/>
            <p:nvPr/>
          </p:nvSpPr>
          <p:spPr>
            <a:xfrm>
              <a:off x="3579570" y="4117408"/>
              <a:ext cx="2223900" cy="466500"/>
            </a:xfrm>
            <a:prstGeom prst="rect">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Continue flow</a:t>
              </a:r>
              <a:endParaRPr sz="1000" b="1"/>
            </a:p>
          </p:txBody>
        </p:sp>
        <p:sp>
          <p:nvSpPr>
            <p:cNvPr id="158" name="Google Shape;158;p18"/>
            <p:cNvSpPr/>
            <p:nvPr/>
          </p:nvSpPr>
          <p:spPr>
            <a:xfrm>
              <a:off x="2441685" y="1210718"/>
              <a:ext cx="1870200" cy="15996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59" name="Google Shape;159;p18"/>
            <p:cNvSpPr txBox="1"/>
            <p:nvPr/>
          </p:nvSpPr>
          <p:spPr>
            <a:xfrm>
              <a:off x="2194200" y="1769140"/>
              <a:ext cx="23238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cxnSp>
          <p:nvCxnSpPr>
            <p:cNvPr id="160" name="Google Shape;160;p18"/>
            <p:cNvCxnSpPr>
              <a:endCxn id="158" idx="0"/>
            </p:cNvCxnSpPr>
            <p:nvPr/>
          </p:nvCxnSpPr>
          <p:spPr>
            <a:xfrm>
              <a:off x="3376485" y="793118"/>
              <a:ext cx="300" cy="417600"/>
            </a:xfrm>
            <a:prstGeom prst="straightConnector1">
              <a:avLst/>
            </a:prstGeom>
            <a:noFill/>
            <a:ln w="19050" cap="flat" cmpd="sng">
              <a:solidFill>
                <a:srgbClr val="000000"/>
              </a:solidFill>
              <a:prstDash val="dash"/>
              <a:round/>
              <a:headEnd type="oval" w="med" len="med"/>
              <a:tailEnd type="triangle" w="med" len="med"/>
            </a:ln>
          </p:spPr>
        </p:cxnSp>
        <p:sp>
          <p:nvSpPr>
            <p:cNvPr id="161" name="Google Shape;161;p18"/>
            <p:cNvSpPr/>
            <p:nvPr/>
          </p:nvSpPr>
          <p:spPr>
            <a:xfrm>
              <a:off x="4844687" y="3034306"/>
              <a:ext cx="2323800" cy="4665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conditional code</a:t>
              </a:r>
              <a:endParaRPr sz="1000" b="1"/>
            </a:p>
          </p:txBody>
        </p:sp>
        <p:cxnSp>
          <p:nvCxnSpPr>
            <p:cNvPr id="162" name="Google Shape;162;p18"/>
            <p:cNvCxnSpPr>
              <a:stCxn id="158" idx="3"/>
              <a:endCxn id="161" idx="0"/>
            </p:cNvCxnSpPr>
            <p:nvPr/>
          </p:nvCxnSpPr>
          <p:spPr>
            <a:xfrm>
              <a:off x="4311885" y="2010518"/>
              <a:ext cx="1694700" cy="1023900"/>
            </a:xfrm>
            <a:prstGeom prst="bentConnector2">
              <a:avLst/>
            </a:prstGeom>
            <a:noFill/>
            <a:ln w="19050" cap="flat" cmpd="sng">
              <a:solidFill>
                <a:srgbClr val="000000"/>
              </a:solidFill>
              <a:prstDash val="solid"/>
              <a:round/>
              <a:headEnd type="none" w="med" len="med"/>
              <a:tailEnd type="triangle" w="med" len="med"/>
            </a:ln>
          </p:spPr>
        </p:cxnSp>
        <p:sp>
          <p:nvSpPr>
            <p:cNvPr id="163" name="Google Shape;163;p18"/>
            <p:cNvSpPr txBox="1"/>
            <p:nvPr/>
          </p:nvSpPr>
          <p:spPr>
            <a:xfrm>
              <a:off x="4594080" y="1485500"/>
              <a:ext cx="547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164" name="Google Shape;164;p18"/>
            <p:cNvSpPr txBox="1"/>
            <p:nvPr/>
          </p:nvSpPr>
          <p:spPr>
            <a:xfrm>
              <a:off x="2747050" y="2765377"/>
              <a:ext cx="7107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false</a:t>
              </a:r>
              <a:endParaRPr sz="1000" b="1"/>
            </a:p>
          </p:txBody>
        </p:sp>
        <p:sp>
          <p:nvSpPr>
            <p:cNvPr id="165" name="Google Shape;165;p18"/>
            <p:cNvSpPr txBox="1"/>
            <p:nvPr/>
          </p:nvSpPr>
          <p:spPr>
            <a:xfrm>
              <a:off x="2264691" y="3034304"/>
              <a:ext cx="2223900" cy="4665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Else statement</a:t>
              </a:r>
              <a:endParaRPr sz="1000" b="1"/>
            </a:p>
          </p:txBody>
        </p:sp>
        <p:cxnSp>
          <p:nvCxnSpPr>
            <p:cNvPr id="166" name="Google Shape;166;p18"/>
            <p:cNvCxnSpPr>
              <a:stCxn id="158" idx="2"/>
              <a:endCxn id="165" idx="0"/>
            </p:cNvCxnSpPr>
            <p:nvPr/>
          </p:nvCxnSpPr>
          <p:spPr>
            <a:xfrm rot="-5400000" flipH="1">
              <a:off x="3265035" y="2922068"/>
              <a:ext cx="224100" cy="600"/>
            </a:xfrm>
            <a:prstGeom prst="bentConnector3">
              <a:avLst>
                <a:gd name="adj1" fmla="val 50016"/>
              </a:avLst>
            </a:prstGeom>
            <a:noFill/>
            <a:ln w="19050" cap="flat" cmpd="sng">
              <a:solidFill>
                <a:srgbClr val="000000"/>
              </a:solidFill>
              <a:prstDash val="solid"/>
              <a:round/>
              <a:headEnd type="none" w="med" len="med"/>
              <a:tailEnd type="none" w="med" len="med"/>
            </a:ln>
          </p:spPr>
        </p:cxnSp>
        <p:cxnSp>
          <p:nvCxnSpPr>
            <p:cNvPr id="167" name="Google Shape;167;p18"/>
            <p:cNvCxnSpPr>
              <a:stCxn id="165" idx="2"/>
              <a:endCxn id="161" idx="2"/>
            </p:cNvCxnSpPr>
            <p:nvPr/>
          </p:nvCxnSpPr>
          <p:spPr>
            <a:xfrm rot="-5400000" flipH="1">
              <a:off x="4691241" y="2186204"/>
              <a:ext cx="600" cy="2629800"/>
            </a:xfrm>
            <a:prstGeom prst="bentConnector3">
              <a:avLst>
                <a:gd name="adj1" fmla="val 39687733"/>
              </a:avLst>
            </a:prstGeom>
            <a:noFill/>
            <a:ln w="19050" cap="flat" cmpd="sng">
              <a:solidFill>
                <a:srgbClr val="000000"/>
              </a:solidFill>
              <a:prstDash val="solid"/>
              <a:round/>
              <a:headEnd type="none" w="med" len="med"/>
              <a:tailEnd type="none" w="med" len="med"/>
            </a:ln>
          </p:spPr>
        </p:cxnSp>
        <p:cxnSp>
          <p:nvCxnSpPr>
            <p:cNvPr id="168" name="Google Shape;168;p18"/>
            <p:cNvCxnSpPr>
              <a:stCxn id="157" idx="0"/>
            </p:cNvCxnSpPr>
            <p:nvPr/>
          </p:nvCxnSpPr>
          <p:spPr>
            <a:xfrm rot="10800000" flipH="1">
              <a:off x="4691520" y="3732508"/>
              <a:ext cx="5700" cy="384900"/>
            </a:xfrm>
            <a:prstGeom prst="straightConnector1">
              <a:avLst/>
            </a:prstGeom>
            <a:noFill/>
            <a:ln w="19050" cap="flat" cmpd="sng">
              <a:solidFill>
                <a:srgbClr val="000000"/>
              </a:solidFill>
              <a:prstDash val="dash"/>
              <a:round/>
              <a:headEnd type="none" w="med" len="med"/>
              <a:tailEnd type="none" w="med" len="med"/>
            </a:ln>
          </p:spPr>
        </p:cxnSp>
        <p:cxnSp>
          <p:nvCxnSpPr>
            <p:cNvPr id="169" name="Google Shape;169;p18"/>
            <p:cNvCxnSpPr/>
            <p:nvPr/>
          </p:nvCxnSpPr>
          <p:spPr>
            <a:xfrm rot="10800000" flipH="1">
              <a:off x="4688659" y="4583800"/>
              <a:ext cx="5700" cy="384900"/>
            </a:xfrm>
            <a:prstGeom prst="straightConnector1">
              <a:avLst/>
            </a:prstGeom>
            <a:noFill/>
            <a:ln w="19050" cap="flat" cmpd="sng">
              <a:solidFill>
                <a:srgbClr val="000000"/>
              </a:solidFill>
              <a:prstDash val="dash"/>
              <a:round/>
              <a:headEnd type="none" w="med" len="med"/>
              <a:tailEnd type="non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3"/>
        <p:cNvGrpSpPr/>
        <p:nvPr/>
      </p:nvGrpSpPr>
      <p:grpSpPr>
        <a:xfrm>
          <a:off x="0" y="0"/>
          <a:ext cx="0" cy="0"/>
          <a:chOff x="0" y="0"/>
          <a:chExt cx="0" cy="0"/>
        </a:xfrm>
      </p:grpSpPr>
      <p:pic>
        <p:nvPicPr>
          <p:cNvPr id="174" name="Google Shape;174;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75" name="Google Shape;175;p19"/>
          <p:cNvSpPr txBox="1"/>
          <p:nvPr/>
        </p:nvSpPr>
        <p:spPr>
          <a:xfrm>
            <a:off x="19050" y="382325"/>
            <a:ext cx="9096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nested if</a:t>
            </a:r>
            <a:endParaRPr sz="2000"/>
          </a:p>
        </p:txBody>
      </p:sp>
      <p:grpSp>
        <p:nvGrpSpPr>
          <p:cNvPr id="176" name="Google Shape;176;p19"/>
          <p:cNvGrpSpPr/>
          <p:nvPr/>
        </p:nvGrpSpPr>
        <p:grpSpPr>
          <a:xfrm>
            <a:off x="1063763" y="692012"/>
            <a:ext cx="7041336" cy="4439774"/>
            <a:chOff x="2455922" y="243984"/>
            <a:chExt cx="10478178" cy="8227898"/>
          </a:xfrm>
        </p:grpSpPr>
        <p:cxnSp>
          <p:nvCxnSpPr>
            <p:cNvPr id="177" name="Google Shape;177;p19"/>
            <p:cNvCxnSpPr>
              <a:endCxn id="178" idx="0"/>
            </p:cNvCxnSpPr>
            <p:nvPr/>
          </p:nvCxnSpPr>
          <p:spPr>
            <a:xfrm>
              <a:off x="3675675" y="243984"/>
              <a:ext cx="0" cy="784800"/>
            </a:xfrm>
            <a:prstGeom prst="straightConnector1">
              <a:avLst/>
            </a:prstGeom>
            <a:noFill/>
            <a:ln w="19050" cap="flat" cmpd="sng">
              <a:solidFill>
                <a:srgbClr val="000000"/>
              </a:solidFill>
              <a:prstDash val="solid"/>
              <a:round/>
              <a:headEnd type="oval" w="med" len="med"/>
              <a:tailEnd type="triangle" w="med" len="med"/>
            </a:ln>
          </p:spPr>
        </p:cxnSp>
        <p:sp>
          <p:nvSpPr>
            <p:cNvPr id="179" name="Google Shape;179;p19"/>
            <p:cNvSpPr/>
            <p:nvPr/>
          </p:nvSpPr>
          <p:spPr>
            <a:xfrm>
              <a:off x="3557173" y="8252582"/>
              <a:ext cx="237000" cy="219300"/>
            </a:xfrm>
            <a:prstGeom prst="ellipse">
              <a:avLst/>
            </a:prstGeom>
            <a:solidFill>
              <a:srgbClr val="CC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 name="Google Shape;180;p19"/>
            <p:cNvGrpSpPr/>
            <p:nvPr/>
          </p:nvGrpSpPr>
          <p:grpSpPr>
            <a:xfrm>
              <a:off x="2455922" y="1028784"/>
              <a:ext cx="2396700" cy="3150816"/>
              <a:chOff x="2490422" y="1028784"/>
              <a:chExt cx="2396700" cy="3150816"/>
            </a:xfrm>
          </p:grpSpPr>
          <p:sp>
            <p:nvSpPr>
              <p:cNvPr id="178" name="Google Shape;178;p19"/>
              <p:cNvSpPr/>
              <p:nvPr/>
            </p:nvSpPr>
            <p:spPr>
              <a:xfrm>
                <a:off x="2745675" y="1028784"/>
                <a:ext cx="1929000" cy="17142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81" name="Google Shape;181;p19"/>
              <p:cNvSpPr txBox="1"/>
              <p:nvPr/>
            </p:nvSpPr>
            <p:spPr>
              <a:xfrm>
                <a:off x="2490422" y="1768442"/>
                <a:ext cx="2396700" cy="627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182" name="Google Shape;182;p19"/>
              <p:cNvSpPr/>
              <p:nvPr/>
            </p:nvSpPr>
            <p:spPr>
              <a:xfrm>
                <a:off x="2628675" y="3615301"/>
                <a:ext cx="2163000" cy="5643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Statement 1</a:t>
                </a:r>
                <a:endParaRPr sz="1000" b="1"/>
              </a:p>
            </p:txBody>
          </p:sp>
          <p:cxnSp>
            <p:nvCxnSpPr>
              <p:cNvPr id="183" name="Google Shape;183;p19"/>
              <p:cNvCxnSpPr>
                <a:stCxn id="178" idx="2"/>
                <a:endCxn id="182" idx="0"/>
              </p:cNvCxnSpPr>
              <p:nvPr/>
            </p:nvCxnSpPr>
            <p:spPr>
              <a:xfrm rot="-5400000" flipH="1">
                <a:off x="3274275" y="3178884"/>
                <a:ext cx="872400" cy="600"/>
              </a:xfrm>
              <a:prstGeom prst="bentConnector3">
                <a:avLst>
                  <a:gd name="adj1" fmla="val 49995"/>
                </a:avLst>
              </a:prstGeom>
              <a:noFill/>
              <a:ln w="19050" cap="flat" cmpd="sng">
                <a:solidFill>
                  <a:srgbClr val="000000"/>
                </a:solidFill>
                <a:prstDash val="solid"/>
                <a:round/>
                <a:headEnd type="none" w="med" len="med"/>
                <a:tailEnd type="none" w="med" len="med"/>
              </a:ln>
            </p:spPr>
          </p:cxnSp>
        </p:grpSp>
        <p:cxnSp>
          <p:nvCxnSpPr>
            <p:cNvPr id="184" name="Google Shape;184;p19"/>
            <p:cNvCxnSpPr/>
            <p:nvPr/>
          </p:nvCxnSpPr>
          <p:spPr>
            <a:xfrm rot="-5400000">
              <a:off x="4617925" y="2029125"/>
              <a:ext cx="42600" cy="600"/>
            </a:xfrm>
            <a:prstGeom prst="bentConnector3">
              <a:avLst>
                <a:gd name="adj1" fmla="val 50000"/>
              </a:avLst>
            </a:prstGeom>
            <a:noFill/>
            <a:ln w="9525" cap="flat" cmpd="sng">
              <a:solidFill>
                <a:srgbClr val="000000"/>
              </a:solidFill>
              <a:prstDash val="solid"/>
              <a:round/>
              <a:headEnd type="none" w="med" len="med"/>
              <a:tailEnd type="none" w="med" len="med"/>
            </a:ln>
          </p:spPr>
        </p:cxnSp>
        <p:grpSp>
          <p:nvGrpSpPr>
            <p:cNvPr id="185" name="Google Shape;185;p19"/>
            <p:cNvGrpSpPr/>
            <p:nvPr/>
          </p:nvGrpSpPr>
          <p:grpSpPr>
            <a:xfrm>
              <a:off x="4665722" y="2236800"/>
              <a:ext cx="2396700" cy="3009600"/>
              <a:chOff x="2490422" y="1170000"/>
              <a:chExt cx="2396700" cy="3009600"/>
            </a:xfrm>
          </p:grpSpPr>
          <p:sp>
            <p:nvSpPr>
              <p:cNvPr id="186" name="Google Shape;186;p19"/>
              <p:cNvSpPr/>
              <p:nvPr/>
            </p:nvSpPr>
            <p:spPr>
              <a:xfrm>
                <a:off x="2745675" y="1170000"/>
                <a:ext cx="1929000" cy="17142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87" name="Google Shape;187;p19"/>
              <p:cNvSpPr txBox="1"/>
              <p:nvPr/>
            </p:nvSpPr>
            <p:spPr>
              <a:xfrm>
                <a:off x="2490422" y="1768442"/>
                <a:ext cx="2396700" cy="627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188" name="Google Shape;188;p19"/>
              <p:cNvSpPr/>
              <p:nvPr/>
            </p:nvSpPr>
            <p:spPr>
              <a:xfrm>
                <a:off x="2628675" y="3615301"/>
                <a:ext cx="2163000" cy="5643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Statement 2</a:t>
                </a:r>
                <a:endParaRPr sz="1000" b="1"/>
              </a:p>
            </p:txBody>
          </p:sp>
          <p:cxnSp>
            <p:nvCxnSpPr>
              <p:cNvPr id="189" name="Google Shape;189;p19"/>
              <p:cNvCxnSpPr>
                <a:stCxn id="186" idx="2"/>
                <a:endCxn id="188" idx="0"/>
              </p:cNvCxnSpPr>
              <p:nvPr/>
            </p:nvCxnSpPr>
            <p:spPr>
              <a:xfrm rot="-5400000" flipH="1">
                <a:off x="3344925" y="3249450"/>
                <a:ext cx="731100" cy="600"/>
              </a:xfrm>
              <a:prstGeom prst="bentConnector3">
                <a:avLst>
                  <a:gd name="adj1" fmla="val 50000"/>
                </a:avLst>
              </a:prstGeom>
              <a:noFill/>
              <a:ln w="19050" cap="flat" cmpd="sng">
                <a:solidFill>
                  <a:srgbClr val="000000"/>
                </a:solidFill>
                <a:prstDash val="solid"/>
                <a:round/>
                <a:headEnd type="none" w="med" len="med"/>
                <a:tailEnd type="none" w="med" len="med"/>
              </a:ln>
            </p:spPr>
          </p:cxnSp>
        </p:grpSp>
        <p:cxnSp>
          <p:nvCxnSpPr>
            <p:cNvPr id="190" name="Google Shape;190;p19"/>
            <p:cNvCxnSpPr/>
            <p:nvPr/>
          </p:nvCxnSpPr>
          <p:spPr>
            <a:xfrm rot="-5400000">
              <a:off x="6827725" y="3095925"/>
              <a:ext cx="42600" cy="600"/>
            </a:xfrm>
            <a:prstGeom prst="bentConnector3">
              <a:avLst>
                <a:gd name="adj1" fmla="val 50000"/>
              </a:avLst>
            </a:prstGeom>
            <a:noFill/>
            <a:ln w="9525" cap="flat" cmpd="sng">
              <a:solidFill>
                <a:srgbClr val="000000"/>
              </a:solidFill>
              <a:prstDash val="solid"/>
              <a:round/>
              <a:headEnd type="none" w="med" len="med"/>
              <a:tailEnd type="none" w="med" len="med"/>
            </a:ln>
          </p:spPr>
        </p:cxnSp>
        <p:grpSp>
          <p:nvGrpSpPr>
            <p:cNvPr id="191" name="Google Shape;191;p19"/>
            <p:cNvGrpSpPr/>
            <p:nvPr/>
          </p:nvGrpSpPr>
          <p:grpSpPr>
            <a:xfrm>
              <a:off x="6875522" y="3586032"/>
              <a:ext cx="2396700" cy="2727169"/>
              <a:chOff x="2490422" y="1452432"/>
              <a:chExt cx="2396700" cy="2727169"/>
            </a:xfrm>
          </p:grpSpPr>
          <p:sp>
            <p:nvSpPr>
              <p:cNvPr id="192" name="Google Shape;192;p19"/>
              <p:cNvSpPr/>
              <p:nvPr/>
            </p:nvSpPr>
            <p:spPr>
              <a:xfrm>
                <a:off x="2745675" y="1452432"/>
                <a:ext cx="1929000" cy="17142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193" name="Google Shape;193;p19"/>
              <p:cNvSpPr txBox="1"/>
              <p:nvPr/>
            </p:nvSpPr>
            <p:spPr>
              <a:xfrm>
                <a:off x="2490422" y="1768442"/>
                <a:ext cx="2396700" cy="627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194" name="Google Shape;194;p19"/>
              <p:cNvSpPr/>
              <p:nvPr/>
            </p:nvSpPr>
            <p:spPr>
              <a:xfrm>
                <a:off x="2628675" y="3615301"/>
                <a:ext cx="2163000" cy="5643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Statement 3</a:t>
                </a:r>
                <a:endParaRPr sz="1000" b="1"/>
              </a:p>
            </p:txBody>
          </p:sp>
          <p:cxnSp>
            <p:nvCxnSpPr>
              <p:cNvPr id="195" name="Google Shape;195;p19"/>
              <p:cNvCxnSpPr>
                <a:stCxn id="192" idx="2"/>
                <a:endCxn id="194" idx="0"/>
              </p:cNvCxnSpPr>
              <p:nvPr/>
            </p:nvCxnSpPr>
            <p:spPr>
              <a:xfrm rot="-5400000" flipH="1">
                <a:off x="3486075" y="3390732"/>
                <a:ext cx="448800" cy="600"/>
              </a:xfrm>
              <a:prstGeom prst="bentConnector3">
                <a:avLst>
                  <a:gd name="adj1" fmla="val 49985"/>
                </a:avLst>
              </a:prstGeom>
              <a:noFill/>
              <a:ln w="19050" cap="flat" cmpd="sng">
                <a:solidFill>
                  <a:srgbClr val="000000"/>
                </a:solidFill>
                <a:prstDash val="solid"/>
                <a:round/>
                <a:headEnd type="none" w="med" len="med"/>
                <a:tailEnd type="triangle" w="med" len="med"/>
              </a:ln>
            </p:spPr>
          </p:cxnSp>
        </p:grpSp>
        <p:cxnSp>
          <p:nvCxnSpPr>
            <p:cNvPr id="196" name="Google Shape;196;p19"/>
            <p:cNvCxnSpPr/>
            <p:nvPr/>
          </p:nvCxnSpPr>
          <p:spPr>
            <a:xfrm rot="-5400000">
              <a:off x="9037525" y="4162725"/>
              <a:ext cx="42600" cy="600"/>
            </a:xfrm>
            <a:prstGeom prst="bentConnector3">
              <a:avLst>
                <a:gd name="adj1" fmla="val 50000"/>
              </a:avLst>
            </a:prstGeom>
            <a:noFill/>
            <a:ln w="9525" cap="flat" cmpd="sng">
              <a:solidFill>
                <a:srgbClr val="000000"/>
              </a:solidFill>
              <a:prstDash val="solid"/>
              <a:round/>
              <a:headEnd type="none" w="med" len="med"/>
              <a:tailEnd type="none" w="med" len="med"/>
            </a:ln>
          </p:spPr>
        </p:cxnSp>
        <p:cxnSp>
          <p:nvCxnSpPr>
            <p:cNvPr id="197" name="Google Shape;197;p19"/>
            <p:cNvCxnSpPr>
              <a:endCxn id="186" idx="0"/>
            </p:cNvCxnSpPr>
            <p:nvPr/>
          </p:nvCxnSpPr>
          <p:spPr>
            <a:xfrm>
              <a:off x="4642275" y="1916700"/>
              <a:ext cx="1243200" cy="320100"/>
            </a:xfrm>
            <a:prstGeom prst="bentConnector2">
              <a:avLst/>
            </a:prstGeom>
            <a:noFill/>
            <a:ln w="19050" cap="flat" cmpd="sng">
              <a:solidFill>
                <a:srgbClr val="000000"/>
              </a:solidFill>
              <a:prstDash val="solid"/>
              <a:round/>
              <a:headEnd type="none" w="med" len="med"/>
              <a:tailEnd type="triangle" w="med" len="med"/>
            </a:ln>
          </p:spPr>
        </p:cxnSp>
        <p:cxnSp>
          <p:nvCxnSpPr>
            <p:cNvPr id="198" name="Google Shape;198;p19"/>
            <p:cNvCxnSpPr>
              <a:endCxn id="192" idx="0"/>
            </p:cNvCxnSpPr>
            <p:nvPr/>
          </p:nvCxnSpPr>
          <p:spPr>
            <a:xfrm>
              <a:off x="6836475" y="3106332"/>
              <a:ext cx="1258800" cy="479700"/>
            </a:xfrm>
            <a:prstGeom prst="bentConnector2">
              <a:avLst/>
            </a:prstGeom>
            <a:noFill/>
            <a:ln w="19050" cap="flat" cmpd="sng">
              <a:solidFill>
                <a:srgbClr val="000000"/>
              </a:solidFill>
              <a:prstDash val="solid"/>
              <a:round/>
              <a:headEnd type="none" w="med" len="med"/>
              <a:tailEnd type="triangle" w="med" len="med"/>
            </a:ln>
          </p:spPr>
        </p:cxnSp>
        <p:sp>
          <p:nvSpPr>
            <p:cNvPr id="199" name="Google Shape;199;p19"/>
            <p:cNvSpPr/>
            <p:nvPr/>
          </p:nvSpPr>
          <p:spPr>
            <a:xfrm>
              <a:off x="10199950" y="4787038"/>
              <a:ext cx="1929000" cy="17142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200" name="Google Shape;200;p19"/>
            <p:cNvSpPr txBox="1"/>
            <p:nvPr/>
          </p:nvSpPr>
          <p:spPr>
            <a:xfrm>
              <a:off x="9966097" y="5342905"/>
              <a:ext cx="2396700" cy="627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201" name="Google Shape;201;p19"/>
            <p:cNvSpPr/>
            <p:nvPr/>
          </p:nvSpPr>
          <p:spPr>
            <a:xfrm>
              <a:off x="8256500" y="6638391"/>
              <a:ext cx="2163000" cy="5643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Statement 4</a:t>
              </a:r>
              <a:endParaRPr sz="1000" b="1"/>
            </a:p>
          </p:txBody>
        </p:sp>
        <p:cxnSp>
          <p:nvCxnSpPr>
            <p:cNvPr id="202" name="Google Shape;202;p19"/>
            <p:cNvCxnSpPr/>
            <p:nvPr/>
          </p:nvCxnSpPr>
          <p:spPr>
            <a:xfrm rot="-5400000">
              <a:off x="12085525" y="5153325"/>
              <a:ext cx="42600" cy="600"/>
            </a:xfrm>
            <a:prstGeom prst="bentConnector3">
              <a:avLst>
                <a:gd name="adj1" fmla="val 50000"/>
              </a:avLst>
            </a:prstGeom>
            <a:noFill/>
            <a:ln w="9525" cap="flat" cmpd="sng">
              <a:solidFill>
                <a:srgbClr val="000000"/>
              </a:solidFill>
              <a:prstDash val="solid"/>
              <a:round/>
              <a:headEnd type="none" w="med" len="med"/>
              <a:tailEnd type="none" w="med" len="med"/>
            </a:ln>
          </p:spPr>
        </p:cxnSp>
        <p:sp>
          <p:nvSpPr>
            <p:cNvPr id="203" name="Google Shape;203;p19"/>
            <p:cNvSpPr/>
            <p:nvPr/>
          </p:nvSpPr>
          <p:spPr>
            <a:xfrm>
              <a:off x="10771100" y="6638391"/>
              <a:ext cx="2163000" cy="5643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Statement 5</a:t>
              </a:r>
              <a:endParaRPr sz="1000" b="1"/>
            </a:p>
          </p:txBody>
        </p:sp>
        <p:cxnSp>
          <p:nvCxnSpPr>
            <p:cNvPr id="204" name="Google Shape;204;p19"/>
            <p:cNvCxnSpPr>
              <a:endCxn id="199" idx="0"/>
            </p:cNvCxnSpPr>
            <p:nvPr/>
          </p:nvCxnSpPr>
          <p:spPr>
            <a:xfrm>
              <a:off x="9062350" y="4453438"/>
              <a:ext cx="2102100" cy="333600"/>
            </a:xfrm>
            <a:prstGeom prst="bentConnector2">
              <a:avLst/>
            </a:prstGeom>
            <a:noFill/>
            <a:ln w="19050" cap="flat" cmpd="sng">
              <a:solidFill>
                <a:srgbClr val="000000"/>
              </a:solidFill>
              <a:prstDash val="solid"/>
              <a:round/>
              <a:headEnd type="none" w="med" len="med"/>
              <a:tailEnd type="triangle" w="med" len="med"/>
            </a:ln>
          </p:spPr>
        </p:cxnSp>
        <p:sp>
          <p:nvSpPr>
            <p:cNvPr id="205" name="Google Shape;205;p19"/>
            <p:cNvSpPr txBox="1"/>
            <p:nvPr/>
          </p:nvSpPr>
          <p:spPr>
            <a:xfrm>
              <a:off x="4602607" y="1303503"/>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206" name="Google Shape;206;p19"/>
            <p:cNvSpPr txBox="1"/>
            <p:nvPr/>
          </p:nvSpPr>
          <p:spPr>
            <a:xfrm>
              <a:off x="6849600" y="2511519"/>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207" name="Google Shape;207;p19"/>
            <p:cNvSpPr txBox="1"/>
            <p:nvPr/>
          </p:nvSpPr>
          <p:spPr>
            <a:xfrm>
              <a:off x="9059400" y="3860750"/>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208" name="Google Shape;208;p19"/>
            <p:cNvSpPr txBox="1"/>
            <p:nvPr/>
          </p:nvSpPr>
          <p:spPr>
            <a:xfrm>
              <a:off x="12140964" y="5884597"/>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209" name="Google Shape;209;p19"/>
            <p:cNvSpPr txBox="1"/>
            <p:nvPr/>
          </p:nvSpPr>
          <p:spPr>
            <a:xfrm>
              <a:off x="9364200" y="5613350"/>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210" name="Google Shape;210;p19"/>
            <p:cNvSpPr txBox="1"/>
            <p:nvPr/>
          </p:nvSpPr>
          <p:spPr>
            <a:xfrm>
              <a:off x="8068800" y="5156150"/>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211" name="Google Shape;211;p19"/>
            <p:cNvSpPr txBox="1"/>
            <p:nvPr/>
          </p:nvSpPr>
          <p:spPr>
            <a:xfrm>
              <a:off x="5859000" y="4165550"/>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212" name="Google Shape;212;p19"/>
            <p:cNvSpPr txBox="1"/>
            <p:nvPr/>
          </p:nvSpPr>
          <p:spPr>
            <a:xfrm>
              <a:off x="3649200" y="3098750"/>
              <a:ext cx="741000" cy="62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cxnSp>
          <p:nvCxnSpPr>
            <p:cNvPr id="213" name="Google Shape;213;p19"/>
            <p:cNvCxnSpPr>
              <a:stCxn id="182" idx="2"/>
              <a:endCxn id="179" idx="0"/>
            </p:cNvCxnSpPr>
            <p:nvPr/>
          </p:nvCxnSpPr>
          <p:spPr>
            <a:xfrm rot="-5400000" flipH="1">
              <a:off x="1639425" y="6215851"/>
              <a:ext cx="4073100" cy="600"/>
            </a:xfrm>
            <a:prstGeom prst="bentConnector3">
              <a:avLst>
                <a:gd name="adj1" fmla="val 49999"/>
              </a:avLst>
            </a:prstGeom>
            <a:noFill/>
            <a:ln w="19050" cap="flat" cmpd="sng">
              <a:solidFill>
                <a:srgbClr val="000000"/>
              </a:solidFill>
              <a:prstDash val="solid"/>
              <a:round/>
              <a:headEnd type="none" w="med" len="med"/>
              <a:tailEnd type="triangle" w="med" len="med"/>
            </a:ln>
          </p:spPr>
        </p:cxnSp>
        <p:cxnSp>
          <p:nvCxnSpPr>
            <p:cNvPr id="214" name="Google Shape;214;p19"/>
            <p:cNvCxnSpPr>
              <a:stCxn id="203" idx="2"/>
            </p:cNvCxnSpPr>
            <p:nvPr/>
          </p:nvCxnSpPr>
          <p:spPr>
            <a:xfrm rot="5400000">
              <a:off x="7464200" y="3415191"/>
              <a:ext cx="600900" cy="8175900"/>
            </a:xfrm>
            <a:prstGeom prst="bentConnector2">
              <a:avLst/>
            </a:prstGeom>
            <a:noFill/>
            <a:ln w="19050" cap="flat" cmpd="sng">
              <a:solidFill>
                <a:srgbClr val="000000"/>
              </a:solidFill>
              <a:prstDash val="solid"/>
              <a:round/>
              <a:headEnd type="none" w="med" len="med"/>
              <a:tailEnd type="triangle" w="med" len="med"/>
            </a:ln>
          </p:spPr>
        </p:cxnSp>
        <p:cxnSp>
          <p:nvCxnSpPr>
            <p:cNvPr id="215" name="Google Shape;215;p19"/>
            <p:cNvCxnSpPr>
              <a:stCxn id="201" idx="2"/>
            </p:cNvCxnSpPr>
            <p:nvPr/>
          </p:nvCxnSpPr>
          <p:spPr>
            <a:xfrm rot="5400000">
              <a:off x="6304850" y="4566141"/>
              <a:ext cx="396600" cy="5669700"/>
            </a:xfrm>
            <a:prstGeom prst="bentConnector2">
              <a:avLst/>
            </a:prstGeom>
            <a:noFill/>
            <a:ln w="19050" cap="flat" cmpd="sng">
              <a:solidFill>
                <a:srgbClr val="000000"/>
              </a:solidFill>
              <a:prstDash val="solid"/>
              <a:round/>
              <a:headEnd type="none" w="med" len="med"/>
              <a:tailEnd type="triangle" w="med" len="med"/>
            </a:ln>
          </p:spPr>
        </p:cxnSp>
        <p:cxnSp>
          <p:nvCxnSpPr>
            <p:cNvPr id="216" name="Google Shape;216;p19"/>
            <p:cNvCxnSpPr>
              <a:stCxn id="194" idx="2"/>
            </p:cNvCxnSpPr>
            <p:nvPr/>
          </p:nvCxnSpPr>
          <p:spPr>
            <a:xfrm rot="5400000">
              <a:off x="5645775" y="4369801"/>
              <a:ext cx="506100" cy="4392900"/>
            </a:xfrm>
            <a:prstGeom prst="bentConnector2">
              <a:avLst/>
            </a:prstGeom>
            <a:noFill/>
            <a:ln w="19050" cap="flat" cmpd="sng">
              <a:solidFill>
                <a:srgbClr val="000000"/>
              </a:solidFill>
              <a:prstDash val="solid"/>
              <a:round/>
              <a:headEnd type="none" w="med" len="med"/>
              <a:tailEnd type="triangle" w="med" len="med"/>
            </a:ln>
          </p:spPr>
        </p:cxnSp>
        <p:cxnSp>
          <p:nvCxnSpPr>
            <p:cNvPr id="217" name="Google Shape;217;p19"/>
            <p:cNvCxnSpPr>
              <a:stCxn id="188" idx="2"/>
            </p:cNvCxnSpPr>
            <p:nvPr/>
          </p:nvCxnSpPr>
          <p:spPr>
            <a:xfrm rot="5400000">
              <a:off x="4658775" y="4264201"/>
              <a:ext cx="244500" cy="2208900"/>
            </a:xfrm>
            <a:prstGeom prst="bentConnector2">
              <a:avLst/>
            </a:prstGeom>
            <a:noFill/>
            <a:ln w="19050" cap="flat" cmpd="sng">
              <a:solidFill>
                <a:srgbClr val="000000"/>
              </a:solidFill>
              <a:prstDash val="solid"/>
              <a:round/>
              <a:headEnd type="none" w="med" len="med"/>
              <a:tailEnd type="triangle" w="med" len="med"/>
            </a:ln>
          </p:spPr>
        </p:cxnSp>
      </p:grpSp>
      <p:cxnSp>
        <p:nvCxnSpPr>
          <p:cNvPr id="218" name="Google Shape;218;p19"/>
          <p:cNvCxnSpPr>
            <a:endCxn id="201" idx="0"/>
          </p:cNvCxnSpPr>
          <p:nvPr/>
        </p:nvCxnSpPr>
        <p:spPr>
          <a:xfrm flipH="1">
            <a:off x="5688520" y="3612334"/>
            <a:ext cx="583800" cy="530100"/>
          </a:xfrm>
          <a:prstGeom prst="bentConnector2">
            <a:avLst/>
          </a:prstGeom>
          <a:noFill/>
          <a:ln w="19050" cap="flat" cmpd="sng">
            <a:solidFill>
              <a:schemeClr val="dk1"/>
            </a:solidFill>
            <a:prstDash val="solid"/>
            <a:round/>
            <a:headEnd type="none" w="med" len="med"/>
            <a:tailEnd type="triangle" w="med" len="med"/>
          </a:ln>
        </p:spPr>
      </p:cxnSp>
      <p:cxnSp>
        <p:nvCxnSpPr>
          <p:cNvPr id="219" name="Google Shape;219;p19"/>
          <p:cNvCxnSpPr>
            <a:endCxn id="203" idx="0"/>
          </p:cNvCxnSpPr>
          <p:nvPr/>
        </p:nvCxnSpPr>
        <p:spPr>
          <a:xfrm rot="5400000">
            <a:off x="7205831" y="3784834"/>
            <a:ext cx="530100" cy="185100"/>
          </a:xfrm>
          <a:prstGeom prst="bentConnector3">
            <a:avLst>
              <a:gd name="adj1" fmla="val 50000"/>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23"/>
        <p:cNvGrpSpPr/>
        <p:nvPr/>
      </p:nvGrpSpPr>
      <p:grpSpPr>
        <a:xfrm>
          <a:off x="0" y="0"/>
          <a:ext cx="0" cy="0"/>
          <a:chOff x="0" y="0"/>
          <a:chExt cx="0" cy="0"/>
        </a:xfrm>
      </p:grpSpPr>
      <p:sp>
        <p:nvSpPr>
          <p:cNvPr id="224" name="Google Shape;224;p20"/>
          <p:cNvSpPr txBox="1"/>
          <p:nvPr/>
        </p:nvSpPr>
        <p:spPr>
          <a:xfrm>
            <a:off x="1503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switch case</a:t>
            </a:r>
            <a:endParaRPr sz="2000"/>
          </a:p>
        </p:txBody>
      </p:sp>
      <p:pic>
        <p:nvPicPr>
          <p:cNvPr id="225" name="Google Shape;225;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226" name="Google Shape;226;p20"/>
          <p:cNvSpPr txBox="1"/>
          <p:nvPr/>
        </p:nvSpPr>
        <p:spPr>
          <a:xfrm>
            <a:off x="19050" y="4728125"/>
            <a:ext cx="9144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rPr>
              <a:t>Note: </a:t>
            </a:r>
            <a:r>
              <a:rPr lang="en" sz="1200">
                <a:solidFill>
                  <a:srgbClr val="FF0000"/>
                </a:solidFill>
              </a:rPr>
              <a:t>Value can not be long, float, double, boolean.</a:t>
            </a:r>
            <a:endParaRPr/>
          </a:p>
        </p:txBody>
      </p:sp>
      <p:grpSp>
        <p:nvGrpSpPr>
          <p:cNvPr id="227" name="Google Shape;227;p20"/>
          <p:cNvGrpSpPr/>
          <p:nvPr/>
        </p:nvGrpSpPr>
        <p:grpSpPr>
          <a:xfrm>
            <a:off x="2028823" y="678591"/>
            <a:ext cx="4550189" cy="4163814"/>
            <a:chOff x="996775" y="434550"/>
            <a:chExt cx="5963550" cy="5626775"/>
          </a:xfrm>
        </p:grpSpPr>
        <p:sp>
          <p:nvSpPr>
            <p:cNvPr id="228" name="Google Shape;228;p20"/>
            <p:cNvSpPr/>
            <p:nvPr/>
          </p:nvSpPr>
          <p:spPr>
            <a:xfrm>
              <a:off x="4067650" y="2492375"/>
              <a:ext cx="1847400" cy="4299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case 1</a:t>
              </a:r>
              <a:endParaRPr sz="1000" b="1"/>
            </a:p>
          </p:txBody>
        </p:sp>
        <p:sp>
          <p:nvSpPr>
            <p:cNvPr id="229" name="Google Shape;229;p20"/>
            <p:cNvSpPr/>
            <p:nvPr/>
          </p:nvSpPr>
          <p:spPr>
            <a:xfrm>
              <a:off x="996775" y="951150"/>
              <a:ext cx="1521000" cy="12264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switch</a:t>
              </a:r>
              <a:endParaRPr sz="1000" b="1"/>
            </a:p>
            <a:p>
              <a:pPr marL="0" lvl="0" indent="0" algn="ctr" rtl="0">
                <a:spcBef>
                  <a:spcPts val="0"/>
                </a:spcBef>
                <a:spcAft>
                  <a:spcPts val="0"/>
                </a:spcAft>
                <a:buNone/>
              </a:pPr>
              <a:r>
                <a:rPr lang="en" sz="1000" b="1"/>
                <a:t>condition</a:t>
              </a:r>
              <a:endParaRPr sz="1000"/>
            </a:p>
          </p:txBody>
        </p:sp>
        <p:sp>
          <p:nvSpPr>
            <p:cNvPr id="230" name="Google Shape;230;p20"/>
            <p:cNvSpPr/>
            <p:nvPr/>
          </p:nvSpPr>
          <p:spPr>
            <a:xfrm>
              <a:off x="4067650" y="3749675"/>
              <a:ext cx="1847400" cy="4299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a:t>
              </a:r>
              <a:endParaRPr sz="1000" b="1"/>
            </a:p>
          </p:txBody>
        </p:sp>
        <p:sp>
          <p:nvSpPr>
            <p:cNvPr id="231" name="Google Shape;231;p20"/>
            <p:cNvSpPr/>
            <p:nvPr/>
          </p:nvSpPr>
          <p:spPr>
            <a:xfrm>
              <a:off x="4067650" y="3121025"/>
              <a:ext cx="1847400" cy="4299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case 2</a:t>
              </a:r>
              <a:endParaRPr sz="1000" b="1"/>
            </a:p>
          </p:txBody>
        </p:sp>
        <p:sp>
          <p:nvSpPr>
            <p:cNvPr id="232" name="Google Shape;232;p20"/>
            <p:cNvSpPr/>
            <p:nvPr/>
          </p:nvSpPr>
          <p:spPr>
            <a:xfrm>
              <a:off x="4067650" y="4378325"/>
              <a:ext cx="1847400" cy="4299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case n</a:t>
              </a:r>
              <a:endParaRPr sz="1000" b="1"/>
            </a:p>
          </p:txBody>
        </p:sp>
        <p:sp>
          <p:nvSpPr>
            <p:cNvPr id="233" name="Google Shape;233;p20"/>
            <p:cNvSpPr/>
            <p:nvPr/>
          </p:nvSpPr>
          <p:spPr>
            <a:xfrm>
              <a:off x="4067650" y="5006975"/>
              <a:ext cx="1847400" cy="429900"/>
            </a:xfrm>
            <a:prstGeom prst="rect">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default</a:t>
              </a:r>
              <a:endParaRPr sz="1000" b="1"/>
            </a:p>
          </p:txBody>
        </p:sp>
        <p:cxnSp>
          <p:nvCxnSpPr>
            <p:cNvPr id="234" name="Google Shape;234;p20"/>
            <p:cNvCxnSpPr>
              <a:stCxn id="229" idx="2"/>
              <a:endCxn id="233" idx="1"/>
            </p:cNvCxnSpPr>
            <p:nvPr/>
          </p:nvCxnSpPr>
          <p:spPr>
            <a:xfrm rot="-5400000" flipH="1">
              <a:off x="1390225" y="2544600"/>
              <a:ext cx="3044400" cy="2310300"/>
            </a:xfrm>
            <a:prstGeom prst="bentConnector2">
              <a:avLst/>
            </a:prstGeom>
            <a:noFill/>
            <a:ln w="19050" cap="flat" cmpd="sng">
              <a:solidFill>
                <a:srgbClr val="000000"/>
              </a:solidFill>
              <a:prstDash val="solid"/>
              <a:round/>
              <a:headEnd type="none" w="med" len="med"/>
              <a:tailEnd type="triangle" w="med" len="med"/>
            </a:ln>
          </p:spPr>
        </p:cxnSp>
        <p:cxnSp>
          <p:nvCxnSpPr>
            <p:cNvPr id="235" name="Google Shape;235;p20"/>
            <p:cNvCxnSpPr>
              <a:stCxn id="229" idx="2"/>
              <a:endCxn id="232" idx="1"/>
            </p:cNvCxnSpPr>
            <p:nvPr/>
          </p:nvCxnSpPr>
          <p:spPr>
            <a:xfrm rot="-5400000" flipH="1">
              <a:off x="1704625" y="2230200"/>
              <a:ext cx="2415600" cy="2310300"/>
            </a:xfrm>
            <a:prstGeom prst="bentConnector2">
              <a:avLst/>
            </a:prstGeom>
            <a:noFill/>
            <a:ln w="19050" cap="flat" cmpd="sng">
              <a:solidFill>
                <a:srgbClr val="000000"/>
              </a:solidFill>
              <a:prstDash val="solid"/>
              <a:round/>
              <a:headEnd type="none" w="med" len="med"/>
              <a:tailEnd type="triangle" w="med" len="med"/>
            </a:ln>
          </p:spPr>
        </p:cxnSp>
        <p:cxnSp>
          <p:nvCxnSpPr>
            <p:cNvPr id="236" name="Google Shape;236;p20"/>
            <p:cNvCxnSpPr>
              <a:stCxn id="229" idx="2"/>
              <a:endCxn id="230" idx="1"/>
            </p:cNvCxnSpPr>
            <p:nvPr/>
          </p:nvCxnSpPr>
          <p:spPr>
            <a:xfrm rot="-5400000" flipH="1">
              <a:off x="2018875" y="1915950"/>
              <a:ext cx="1787100" cy="2310300"/>
            </a:xfrm>
            <a:prstGeom prst="bentConnector2">
              <a:avLst/>
            </a:prstGeom>
            <a:noFill/>
            <a:ln w="19050" cap="flat" cmpd="sng">
              <a:solidFill>
                <a:srgbClr val="000000"/>
              </a:solidFill>
              <a:prstDash val="lgDash"/>
              <a:round/>
              <a:headEnd type="none" w="med" len="med"/>
              <a:tailEnd type="triangle" w="med" len="med"/>
            </a:ln>
          </p:spPr>
        </p:cxnSp>
        <p:cxnSp>
          <p:nvCxnSpPr>
            <p:cNvPr id="237" name="Google Shape;237;p20"/>
            <p:cNvCxnSpPr>
              <a:stCxn id="229" idx="2"/>
              <a:endCxn id="231" idx="1"/>
            </p:cNvCxnSpPr>
            <p:nvPr/>
          </p:nvCxnSpPr>
          <p:spPr>
            <a:xfrm rot="-5400000" flipH="1">
              <a:off x="2333275" y="1601550"/>
              <a:ext cx="1158300" cy="2310300"/>
            </a:xfrm>
            <a:prstGeom prst="bentConnector2">
              <a:avLst/>
            </a:prstGeom>
            <a:noFill/>
            <a:ln w="19050" cap="flat" cmpd="sng">
              <a:solidFill>
                <a:srgbClr val="000000"/>
              </a:solidFill>
              <a:prstDash val="solid"/>
              <a:round/>
              <a:headEnd type="none" w="med" len="med"/>
              <a:tailEnd type="triangle" w="med" len="med"/>
            </a:ln>
          </p:spPr>
        </p:cxnSp>
        <p:cxnSp>
          <p:nvCxnSpPr>
            <p:cNvPr id="238" name="Google Shape;238;p20"/>
            <p:cNvCxnSpPr>
              <a:stCxn id="229" idx="2"/>
              <a:endCxn id="228" idx="1"/>
            </p:cNvCxnSpPr>
            <p:nvPr/>
          </p:nvCxnSpPr>
          <p:spPr>
            <a:xfrm rot="-5400000" flipH="1">
              <a:off x="2647525" y="1287300"/>
              <a:ext cx="529800" cy="2310300"/>
            </a:xfrm>
            <a:prstGeom prst="bentConnector2">
              <a:avLst/>
            </a:prstGeom>
            <a:noFill/>
            <a:ln w="19050" cap="flat" cmpd="sng">
              <a:solidFill>
                <a:srgbClr val="000000"/>
              </a:solidFill>
              <a:prstDash val="solid"/>
              <a:round/>
              <a:headEnd type="none" w="med" len="med"/>
              <a:tailEnd type="triangle" w="med" len="med"/>
            </a:ln>
          </p:spPr>
        </p:cxnSp>
        <p:sp>
          <p:nvSpPr>
            <p:cNvPr id="239" name="Google Shape;239;p20"/>
            <p:cNvSpPr txBox="1"/>
            <p:nvPr/>
          </p:nvSpPr>
          <p:spPr>
            <a:xfrm>
              <a:off x="2164209" y="2313210"/>
              <a:ext cx="1709100" cy="43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Source Code Pro SemiBold"/>
                  <a:ea typeface="Source Code Pro SemiBold"/>
                  <a:cs typeface="Source Code Pro SemiBold"/>
                  <a:sym typeface="Source Code Pro SemiBold"/>
                </a:rPr>
                <a:t>Match for case 1</a:t>
              </a:r>
              <a:endParaRPr sz="900">
                <a:latin typeface="Source Code Pro SemiBold"/>
                <a:ea typeface="Source Code Pro SemiBold"/>
                <a:cs typeface="Source Code Pro SemiBold"/>
                <a:sym typeface="Source Code Pro SemiBold"/>
              </a:endParaRPr>
            </a:p>
          </p:txBody>
        </p:sp>
        <p:sp>
          <p:nvSpPr>
            <p:cNvPr id="240" name="Google Shape;240;p20"/>
            <p:cNvSpPr txBox="1"/>
            <p:nvPr/>
          </p:nvSpPr>
          <p:spPr>
            <a:xfrm>
              <a:off x="2164209" y="2974291"/>
              <a:ext cx="1709100" cy="43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Source Code Pro SemiBold"/>
                  <a:ea typeface="Source Code Pro SemiBold"/>
                  <a:cs typeface="Source Code Pro SemiBold"/>
                  <a:sym typeface="Source Code Pro SemiBold"/>
                </a:rPr>
                <a:t>Match for case 2</a:t>
              </a:r>
              <a:endParaRPr sz="900">
                <a:latin typeface="Source Code Pro SemiBold"/>
                <a:ea typeface="Source Code Pro SemiBold"/>
                <a:cs typeface="Source Code Pro SemiBold"/>
                <a:sym typeface="Source Code Pro SemiBold"/>
              </a:endParaRPr>
            </a:p>
          </p:txBody>
        </p:sp>
        <p:sp>
          <p:nvSpPr>
            <p:cNvPr id="241" name="Google Shape;241;p20"/>
            <p:cNvSpPr txBox="1"/>
            <p:nvPr/>
          </p:nvSpPr>
          <p:spPr>
            <a:xfrm>
              <a:off x="2322018" y="3550916"/>
              <a:ext cx="1393500" cy="43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Source Code Pro SemiBold"/>
                  <a:ea typeface="Source Code Pro SemiBold"/>
                  <a:cs typeface="Source Code Pro SemiBold"/>
                  <a:sym typeface="Source Code Pro SemiBold"/>
                </a:rPr>
                <a:t>. . . . . . </a:t>
              </a:r>
              <a:endParaRPr sz="900">
                <a:latin typeface="Source Code Pro SemiBold"/>
                <a:ea typeface="Source Code Pro SemiBold"/>
                <a:cs typeface="Source Code Pro SemiBold"/>
                <a:sym typeface="Source Code Pro SemiBold"/>
              </a:endParaRPr>
            </a:p>
          </p:txBody>
        </p:sp>
        <p:sp>
          <p:nvSpPr>
            <p:cNvPr id="242" name="Google Shape;242;p20"/>
            <p:cNvSpPr txBox="1"/>
            <p:nvPr/>
          </p:nvSpPr>
          <p:spPr>
            <a:xfrm>
              <a:off x="2164275" y="4218210"/>
              <a:ext cx="1709100" cy="43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Source Code Pro SemiBold"/>
                  <a:ea typeface="Source Code Pro SemiBold"/>
                  <a:cs typeface="Source Code Pro SemiBold"/>
                  <a:sym typeface="Source Code Pro SemiBold"/>
                </a:rPr>
                <a:t>Match for case n</a:t>
              </a:r>
              <a:endParaRPr sz="900">
                <a:latin typeface="Source Code Pro SemiBold"/>
                <a:ea typeface="Source Code Pro SemiBold"/>
                <a:cs typeface="Source Code Pro SemiBold"/>
                <a:sym typeface="Source Code Pro SemiBold"/>
              </a:endParaRPr>
            </a:p>
          </p:txBody>
        </p:sp>
        <p:sp>
          <p:nvSpPr>
            <p:cNvPr id="243" name="Google Shape;243;p20"/>
            <p:cNvSpPr txBox="1"/>
            <p:nvPr/>
          </p:nvSpPr>
          <p:spPr>
            <a:xfrm>
              <a:off x="2118305" y="4831251"/>
              <a:ext cx="1890000" cy="43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Source Code Pro SemiBold"/>
                  <a:ea typeface="Source Code Pro SemiBold"/>
                  <a:cs typeface="Source Code Pro SemiBold"/>
                  <a:sym typeface="Source Code Pro SemiBold"/>
                </a:rPr>
                <a:t>no match(default)</a:t>
              </a:r>
              <a:endParaRPr sz="900">
                <a:latin typeface="Source Code Pro SemiBold"/>
                <a:ea typeface="Source Code Pro SemiBold"/>
                <a:cs typeface="Source Code Pro SemiBold"/>
                <a:sym typeface="Source Code Pro SemiBold"/>
              </a:endParaRPr>
            </a:p>
          </p:txBody>
        </p:sp>
        <p:cxnSp>
          <p:nvCxnSpPr>
            <p:cNvPr id="244" name="Google Shape;244;p20"/>
            <p:cNvCxnSpPr>
              <a:stCxn id="229" idx="0"/>
            </p:cNvCxnSpPr>
            <p:nvPr/>
          </p:nvCxnSpPr>
          <p:spPr>
            <a:xfrm rot="10800000">
              <a:off x="1753075" y="434550"/>
              <a:ext cx="4200" cy="516600"/>
            </a:xfrm>
            <a:prstGeom prst="straightConnector1">
              <a:avLst/>
            </a:prstGeom>
            <a:noFill/>
            <a:ln w="19050" cap="flat" cmpd="sng">
              <a:solidFill>
                <a:srgbClr val="000000"/>
              </a:solidFill>
              <a:prstDash val="dash"/>
              <a:round/>
              <a:headEnd type="none" w="med" len="med"/>
              <a:tailEnd type="none" w="med" len="med"/>
            </a:ln>
          </p:spPr>
        </p:cxnSp>
        <p:cxnSp>
          <p:nvCxnSpPr>
            <p:cNvPr id="245" name="Google Shape;245;p20"/>
            <p:cNvCxnSpPr>
              <a:stCxn id="228" idx="3"/>
            </p:cNvCxnSpPr>
            <p:nvPr/>
          </p:nvCxnSpPr>
          <p:spPr>
            <a:xfrm>
              <a:off x="5915050" y="2707325"/>
              <a:ext cx="1037700" cy="3354000"/>
            </a:xfrm>
            <a:prstGeom prst="bentConnector2">
              <a:avLst/>
            </a:prstGeom>
            <a:noFill/>
            <a:ln w="19050" cap="flat" cmpd="sng">
              <a:solidFill>
                <a:srgbClr val="000000"/>
              </a:solidFill>
              <a:prstDash val="solid"/>
              <a:round/>
              <a:headEnd type="none" w="med" len="med"/>
              <a:tailEnd type="triangle" w="med" len="med"/>
            </a:ln>
          </p:spPr>
        </p:cxnSp>
        <p:cxnSp>
          <p:nvCxnSpPr>
            <p:cNvPr id="246" name="Google Shape;246;p20"/>
            <p:cNvCxnSpPr>
              <a:stCxn id="231" idx="3"/>
            </p:cNvCxnSpPr>
            <p:nvPr/>
          </p:nvCxnSpPr>
          <p:spPr>
            <a:xfrm>
              <a:off x="5915050" y="3335975"/>
              <a:ext cx="1037700" cy="5700"/>
            </a:xfrm>
            <a:prstGeom prst="straightConnector1">
              <a:avLst/>
            </a:prstGeom>
            <a:noFill/>
            <a:ln w="19050" cap="flat" cmpd="sng">
              <a:solidFill>
                <a:srgbClr val="000000"/>
              </a:solidFill>
              <a:prstDash val="solid"/>
              <a:round/>
              <a:headEnd type="none" w="med" len="med"/>
              <a:tailEnd type="triangle" w="med" len="med"/>
            </a:ln>
          </p:spPr>
        </p:cxnSp>
        <p:cxnSp>
          <p:nvCxnSpPr>
            <p:cNvPr id="247" name="Google Shape;247;p20"/>
            <p:cNvCxnSpPr>
              <a:stCxn id="230" idx="3"/>
            </p:cNvCxnSpPr>
            <p:nvPr/>
          </p:nvCxnSpPr>
          <p:spPr>
            <a:xfrm>
              <a:off x="5915050" y="3964625"/>
              <a:ext cx="1045200" cy="6300"/>
            </a:xfrm>
            <a:prstGeom prst="straightConnector1">
              <a:avLst/>
            </a:prstGeom>
            <a:noFill/>
            <a:ln w="19050" cap="flat" cmpd="sng">
              <a:solidFill>
                <a:srgbClr val="000000"/>
              </a:solidFill>
              <a:prstDash val="solid"/>
              <a:round/>
              <a:headEnd type="none" w="med" len="med"/>
              <a:tailEnd type="triangle" w="med" len="med"/>
            </a:ln>
          </p:spPr>
        </p:cxnSp>
        <p:cxnSp>
          <p:nvCxnSpPr>
            <p:cNvPr id="248" name="Google Shape;248;p20"/>
            <p:cNvCxnSpPr/>
            <p:nvPr/>
          </p:nvCxnSpPr>
          <p:spPr>
            <a:xfrm>
              <a:off x="5915125" y="4591700"/>
              <a:ext cx="1045200" cy="6300"/>
            </a:xfrm>
            <a:prstGeom prst="straightConnector1">
              <a:avLst/>
            </a:prstGeom>
            <a:noFill/>
            <a:ln w="19050" cap="flat" cmpd="sng">
              <a:solidFill>
                <a:srgbClr val="000000"/>
              </a:solidFill>
              <a:prstDash val="solid"/>
              <a:round/>
              <a:headEnd type="none" w="med" len="med"/>
              <a:tailEnd type="triangle" w="med" len="med"/>
            </a:ln>
          </p:spPr>
        </p:cxnSp>
        <p:cxnSp>
          <p:nvCxnSpPr>
            <p:cNvPr id="249" name="Google Shape;249;p20"/>
            <p:cNvCxnSpPr/>
            <p:nvPr/>
          </p:nvCxnSpPr>
          <p:spPr>
            <a:xfrm>
              <a:off x="5915050" y="5218775"/>
              <a:ext cx="1045200" cy="6300"/>
            </a:xfrm>
            <a:prstGeom prst="straightConnector1">
              <a:avLst/>
            </a:prstGeom>
            <a:noFill/>
            <a:ln w="19050" cap="flat" cmpd="sng">
              <a:solidFill>
                <a:srgbClr val="00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53"/>
        <p:cNvGrpSpPr/>
        <p:nvPr/>
      </p:nvGrpSpPr>
      <p:grpSpPr>
        <a:xfrm>
          <a:off x="0" y="0"/>
          <a:ext cx="0" cy="0"/>
          <a:chOff x="0" y="0"/>
          <a:chExt cx="0" cy="0"/>
        </a:xfrm>
      </p:grpSpPr>
      <p:sp>
        <p:nvSpPr>
          <p:cNvPr id="254" name="Google Shape;254;p21"/>
          <p:cNvSpPr txBox="1"/>
          <p:nvPr/>
        </p:nvSpPr>
        <p:spPr>
          <a:xfrm>
            <a:off x="0" y="306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Switch case and if-else difference</a:t>
            </a:r>
            <a:endParaRPr sz="2000"/>
          </a:p>
        </p:txBody>
      </p:sp>
      <p:pic>
        <p:nvPicPr>
          <p:cNvPr id="255" name="Google Shape;255;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aphicFrame>
        <p:nvGraphicFramePr>
          <p:cNvPr id="256" name="Google Shape;256;p21"/>
          <p:cNvGraphicFramePr/>
          <p:nvPr/>
        </p:nvGraphicFramePr>
        <p:xfrm>
          <a:off x="952500" y="971550"/>
          <a:ext cx="3000000" cy="3000000"/>
        </p:xfrm>
        <a:graphic>
          <a:graphicData uri="http://schemas.openxmlformats.org/drawingml/2006/table">
            <a:tbl>
              <a:tblPr>
                <a:noFill/>
                <a:tableStyleId>{A7304FF5-F1A9-4CB7-A6E1-B77415C4B99A}</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t>If-else statement</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tc>
                  <a:txBody>
                    <a:bodyPr/>
                    <a:lstStyle/>
                    <a:p>
                      <a:pPr marL="0" lvl="0" indent="0" algn="l" rtl="0">
                        <a:spcBef>
                          <a:spcPts val="0"/>
                        </a:spcBef>
                        <a:spcAft>
                          <a:spcPts val="0"/>
                        </a:spcAft>
                        <a:buNone/>
                      </a:pPr>
                      <a:r>
                        <a:rPr lang="en"/>
                        <a:t>switch case statement</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Here we need to use multiple statements for numerous decisions.</a:t>
                      </a:r>
                      <a:endParaRPr/>
                    </a:p>
                  </a:txBody>
                  <a:tcPr marL="91425" marR="91425" marT="91425" marB="91425">
                    <a:lnT w="9525" cap="flat" cmpd="sng">
                      <a:solidFill>
                        <a:schemeClr val="dk1"/>
                      </a:solidFill>
                      <a:prstDash val="solid"/>
                      <a:round/>
                      <a:headEnd type="none" w="sm" len="sm"/>
                      <a:tailEnd type="none" w="sm" len="sm"/>
                    </a:lnT>
                  </a:tcPr>
                </a:tc>
                <a:tc>
                  <a:txBody>
                    <a:bodyPr/>
                    <a:lstStyle/>
                    <a:p>
                      <a:pPr marL="0" lvl="0" indent="0" algn="l" rtl="0">
                        <a:spcBef>
                          <a:spcPts val="0"/>
                        </a:spcBef>
                        <a:spcAft>
                          <a:spcPts val="0"/>
                        </a:spcAft>
                        <a:buNone/>
                      </a:pPr>
                      <a:r>
                        <a:rPr lang="en"/>
                        <a:t>Here, we need to use a single statement for numerous decisions.</a:t>
                      </a:r>
                      <a:endParaRPr/>
                    </a:p>
                  </a:txBody>
                  <a:tcPr marL="91425" marR="91425" marT="91425" marB="91425">
                    <a:lnT w="9525" cap="flat" cmpd="sng">
                      <a:solidFill>
                        <a:schemeClr val="dk1"/>
                      </a:solidFill>
                      <a:prstDash val="solid"/>
                      <a:round/>
                      <a:headEnd type="none" w="sm" len="sm"/>
                      <a:tailEnd type="none" w="sm" len="sm"/>
                    </a:lnT>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The if-else statement estimates integers, characters, floating points, and boolean types.</a:t>
                      </a:r>
                      <a:endParaRPr/>
                    </a:p>
                  </a:txBody>
                  <a:tcPr marL="91425" marR="91425" marT="91425" marB="91425"/>
                </a:tc>
                <a:tc>
                  <a:txBody>
                    <a:bodyPr/>
                    <a:lstStyle/>
                    <a:p>
                      <a:pPr marL="0" lvl="0" indent="0" algn="l" rtl="0">
                        <a:spcBef>
                          <a:spcPts val="0"/>
                        </a:spcBef>
                        <a:spcAft>
                          <a:spcPts val="0"/>
                        </a:spcAft>
                        <a:buNone/>
                      </a:pPr>
                      <a:r>
                        <a:rPr lang="en"/>
                        <a:t>The switch statement estimates integers and character expressions.</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In if-else, the values are based on conditions.</a:t>
                      </a:r>
                      <a:endParaRPr/>
                    </a:p>
                  </a:txBody>
                  <a:tcPr marL="91425" marR="91425" marT="91425" marB="91425"/>
                </a:tc>
                <a:tc>
                  <a:txBody>
                    <a:bodyPr/>
                    <a:lstStyle/>
                    <a:p>
                      <a:pPr marL="0" lvl="0" indent="0" algn="l" rtl="0">
                        <a:spcBef>
                          <a:spcPts val="0"/>
                        </a:spcBef>
                        <a:spcAft>
                          <a:spcPts val="0"/>
                        </a:spcAft>
                        <a:buNone/>
                      </a:pPr>
                      <a:r>
                        <a:rPr lang="en"/>
                        <a:t>In the switch case, the values are based on user preference.</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It is tough to edit if-else statements.</a:t>
                      </a:r>
                      <a:endParaRPr/>
                    </a:p>
                  </a:txBody>
                  <a:tcPr marL="91425" marR="91425" marT="91425" marB="91425"/>
                </a:tc>
                <a:tc>
                  <a:txBody>
                    <a:bodyPr/>
                    <a:lstStyle/>
                    <a:p>
                      <a:pPr marL="0" lvl="0" indent="0" algn="l" rtl="0">
                        <a:spcBef>
                          <a:spcPts val="0"/>
                        </a:spcBef>
                        <a:spcAft>
                          <a:spcPts val="0"/>
                        </a:spcAft>
                        <a:buNone/>
                      </a:pPr>
                      <a:r>
                        <a:rPr lang="en"/>
                        <a:t>It is easy to modify the switch case.</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0"/>
        <p:cNvGrpSpPr/>
        <p:nvPr/>
      </p:nvGrpSpPr>
      <p:grpSpPr>
        <a:xfrm>
          <a:off x="0" y="0"/>
          <a:ext cx="0" cy="0"/>
          <a:chOff x="0" y="0"/>
          <a:chExt cx="0" cy="0"/>
        </a:xfrm>
      </p:grpSpPr>
      <p:sp>
        <p:nvSpPr>
          <p:cNvPr id="261" name="Google Shape;261;p22"/>
          <p:cNvSpPr txBox="1"/>
          <p:nvPr/>
        </p:nvSpPr>
        <p:spPr>
          <a:xfrm>
            <a:off x="0" y="305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do-while</a:t>
            </a:r>
            <a:endParaRPr sz="2000"/>
          </a:p>
        </p:txBody>
      </p:sp>
      <p:pic>
        <p:nvPicPr>
          <p:cNvPr id="262" name="Google Shape;262;p22"/>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263" name="Google Shape;263;p22"/>
          <p:cNvGrpSpPr/>
          <p:nvPr/>
        </p:nvGrpSpPr>
        <p:grpSpPr>
          <a:xfrm>
            <a:off x="2960053" y="793902"/>
            <a:ext cx="2822656" cy="4201005"/>
            <a:chOff x="6237077" y="747225"/>
            <a:chExt cx="2375573" cy="3943125"/>
          </a:xfrm>
        </p:grpSpPr>
        <p:sp>
          <p:nvSpPr>
            <p:cNvPr id="264" name="Google Shape;264;p22"/>
            <p:cNvSpPr/>
            <p:nvPr/>
          </p:nvSpPr>
          <p:spPr>
            <a:xfrm>
              <a:off x="6668650" y="1416750"/>
              <a:ext cx="1944000" cy="520800"/>
            </a:xfrm>
            <a:prstGeom prst="rect">
              <a:avLst/>
            </a:prstGeom>
            <a:solidFill>
              <a:srgbClr val="674EA7"/>
            </a:solidFill>
            <a:ln w="19050" cap="flat" cmpd="sng">
              <a:solidFill>
                <a:srgbClr val="4C113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Body Of the Loop</a:t>
              </a:r>
              <a:endParaRPr sz="1000" b="1">
                <a:solidFill>
                  <a:srgbClr val="FFFFFF"/>
                </a:solidFill>
              </a:endParaRPr>
            </a:p>
          </p:txBody>
        </p:sp>
        <p:sp>
          <p:nvSpPr>
            <p:cNvPr id="265" name="Google Shape;265;p22"/>
            <p:cNvSpPr/>
            <p:nvPr/>
          </p:nvSpPr>
          <p:spPr>
            <a:xfrm>
              <a:off x="6881650" y="2716950"/>
              <a:ext cx="1521000" cy="12264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t>
              </a:r>
              <a:endParaRPr sz="1000"/>
            </a:p>
          </p:txBody>
        </p:sp>
        <p:cxnSp>
          <p:nvCxnSpPr>
            <p:cNvPr id="266" name="Google Shape;266;p22"/>
            <p:cNvCxnSpPr/>
            <p:nvPr/>
          </p:nvCxnSpPr>
          <p:spPr>
            <a:xfrm>
              <a:off x="7635100" y="747225"/>
              <a:ext cx="8100" cy="654300"/>
            </a:xfrm>
            <a:prstGeom prst="straightConnector1">
              <a:avLst/>
            </a:prstGeom>
            <a:noFill/>
            <a:ln w="19050" cap="flat" cmpd="sng">
              <a:solidFill>
                <a:srgbClr val="000000"/>
              </a:solidFill>
              <a:prstDash val="solid"/>
              <a:round/>
              <a:headEnd type="none" w="med" len="med"/>
              <a:tailEnd type="triangle" w="med" len="med"/>
            </a:ln>
          </p:spPr>
        </p:cxnSp>
        <p:sp>
          <p:nvSpPr>
            <p:cNvPr id="267" name="Google Shape;267;p22"/>
            <p:cNvSpPr txBox="1"/>
            <p:nvPr/>
          </p:nvSpPr>
          <p:spPr>
            <a:xfrm>
              <a:off x="6987927" y="3945450"/>
              <a:ext cx="606600" cy="317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false</a:t>
              </a:r>
              <a:endParaRPr sz="1000" b="1"/>
            </a:p>
          </p:txBody>
        </p:sp>
        <p:sp>
          <p:nvSpPr>
            <p:cNvPr id="268" name="Google Shape;268;p22"/>
            <p:cNvSpPr txBox="1"/>
            <p:nvPr/>
          </p:nvSpPr>
          <p:spPr>
            <a:xfrm>
              <a:off x="6237077" y="2960725"/>
              <a:ext cx="606600" cy="317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true</a:t>
              </a:r>
              <a:endParaRPr sz="1000" b="1"/>
            </a:p>
          </p:txBody>
        </p:sp>
        <p:cxnSp>
          <p:nvCxnSpPr>
            <p:cNvPr id="269" name="Google Shape;269;p22"/>
            <p:cNvCxnSpPr>
              <a:stCxn id="264" idx="2"/>
              <a:endCxn id="265" idx="0"/>
            </p:cNvCxnSpPr>
            <p:nvPr/>
          </p:nvCxnSpPr>
          <p:spPr>
            <a:xfrm>
              <a:off x="7640650" y="1937550"/>
              <a:ext cx="1500" cy="779400"/>
            </a:xfrm>
            <a:prstGeom prst="straightConnector1">
              <a:avLst/>
            </a:prstGeom>
            <a:noFill/>
            <a:ln w="19050" cap="flat" cmpd="sng">
              <a:solidFill>
                <a:srgbClr val="000000"/>
              </a:solidFill>
              <a:prstDash val="solid"/>
              <a:round/>
              <a:headEnd type="none" w="med" len="med"/>
              <a:tailEnd type="triangle" w="med" len="med"/>
            </a:ln>
          </p:spPr>
        </p:cxnSp>
        <p:cxnSp>
          <p:nvCxnSpPr>
            <p:cNvPr id="270" name="Google Shape;270;p22"/>
            <p:cNvCxnSpPr>
              <a:stCxn id="265" idx="2"/>
            </p:cNvCxnSpPr>
            <p:nvPr/>
          </p:nvCxnSpPr>
          <p:spPr>
            <a:xfrm>
              <a:off x="7642150" y="3943350"/>
              <a:ext cx="7500" cy="747000"/>
            </a:xfrm>
            <a:prstGeom prst="straightConnector1">
              <a:avLst/>
            </a:prstGeom>
            <a:noFill/>
            <a:ln w="19050" cap="flat" cmpd="sng">
              <a:solidFill>
                <a:srgbClr val="000000"/>
              </a:solidFill>
              <a:prstDash val="lgDash"/>
              <a:round/>
              <a:headEnd type="none" w="med" len="med"/>
              <a:tailEnd type="none" w="med" len="med"/>
            </a:ln>
          </p:spPr>
        </p:cxnSp>
        <p:cxnSp>
          <p:nvCxnSpPr>
            <p:cNvPr id="271" name="Google Shape;271;p22"/>
            <p:cNvCxnSpPr>
              <a:stCxn id="265" idx="1"/>
            </p:cNvCxnSpPr>
            <p:nvPr/>
          </p:nvCxnSpPr>
          <p:spPr>
            <a:xfrm rot="10800000" flipH="1">
              <a:off x="6881650" y="1003950"/>
              <a:ext cx="768000" cy="2326200"/>
            </a:xfrm>
            <a:prstGeom prst="bentConnector4">
              <a:avLst>
                <a:gd name="adj1" fmla="val -96877"/>
                <a:gd name="adj2" fmla="val 99467"/>
              </a:avLst>
            </a:prstGeom>
            <a:noFill/>
            <a:ln w="19050" cap="flat" cmpd="sng">
              <a:solidFill>
                <a:srgbClr val="000000"/>
              </a:solidFill>
              <a:prstDash val="solid"/>
              <a:round/>
              <a:headEnd type="none" w="med" len="med"/>
              <a:tailEnd type="triangl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75"/>
        <p:cNvGrpSpPr/>
        <p:nvPr/>
      </p:nvGrpSpPr>
      <p:grpSpPr>
        <a:xfrm>
          <a:off x="0" y="0"/>
          <a:ext cx="0" cy="0"/>
          <a:chOff x="0" y="0"/>
          <a:chExt cx="0" cy="0"/>
        </a:xfrm>
      </p:grpSpPr>
      <p:sp>
        <p:nvSpPr>
          <p:cNvPr id="276" name="Google Shape;276;p23"/>
          <p:cNvSpPr txBox="1"/>
          <p:nvPr/>
        </p:nvSpPr>
        <p:spPr>
          <a:xfrm>
            <a:off x="0" y="333100"/>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while</a:t>
            </a:r>
            <a:endParaRPr sz="2000"/>
          </a:p>
        </p:txBody>
      </p:sp>
      <p:pic>
        <p:nvPicPr>
          <p:cNvPr id="277" name="Google Shape;277;p2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278" name="Google Shape;278;p23"/>
          <p:cNvGrpSpPr/>
          <p:nvPr/>
        </p:nvGrpSpPr>
        <p:grpSpPr>
          <a:xfrm>
            <a:off x="3033650" y="777425"/>
            <a:ext cx="2826327" cy="4336450"/>
            <a:chOff x="1052450" y="1158425"/>
            <a:chExt cx="2826327" cy="4336450"/>
          </a:xfrm>
        </p:grpSpPr>
        <p:sp>
          <p:nvSpPr>
            <p:cNvPr id="279" name="Google Shape;279;p23"/>
            <p:cNvSpPr/>
            <p:nvPr/>
          </p:nvSpPr>
          <p:spPr>
            <a:xfrm>
              <a:off x="1052450" y="3736700"/>
              <a:ext cx="1944000" cy="520800"/>
            </a:xfrm>
            <a:prstGeom prst="rect">
              <a:avLst/>
            </a:prstGeom>
            <a:solidFill>
              <a:srgbClr val="674EA7"/>
            </a:solidFill>
            <a:ln w="19050" cap="flat" cmpd="sng">
              <a:solidFill>
                <a:srgbClr val="4C113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Body Of the Loop</a:t>
              </a:r>
              <a:endParaRPr sz="1000" b="1">
                <a:solidFill>
                  <a:srgbClr val="FFFFFF"/>
                </a:solidFill>
              </a:endParaRPr>
            </a:p>
          </p:txBody>
        </p:sp>
        <p:sp>
          <p:nvSpPr>
            <p:cNvPr id="280" name="Google Shape;280;p23"/>
            <p:cNvSpPr/>
            <p:nvPr/>
          </p:nvSpPr>
          <p:spPr>
            <a:xfrm>
              <a:off x="1871450" y="1812725"/>
              <a:ext cx="1521000" cy="1226400"/>
            </a:xfrm>
            <a:prstGeom prst="diamond">
              <a:avLst/>
            </a:prstGeom>
            <a:solidFill>
              <a:srgbClr val="CFE2F3"/>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t>condition</a:t>
              </a:r>
              <a:endParaRPr sz="1000"/>
            </a:p>
          </p:txBody>
        </p:sp>
        <p:cxnSp>
          <p:nvCxnSpPr>
            <p:cNvPr id="281" name="Google Shape;281;p23"/>
            <p:cNvCxnSpPr>
              <a:endCxn id="280" idx="0"/>
            </p:cNvCxnSpPr>
            <p:nvPr/>
          </p:nvCxnSpPr>
          <p:spPr>
            <a:xfrm>
              <a:off x="2623850" y="1158425"/>
              <a:ext cx="8100" cy="654300"/>
            </a:xfrm>
            <a:prstGeom prst="straightConnector1">
              <a:avLst/>
            </a:prstGeom>
            <a:noFill/>
            <a:ln w="19050" cap="flat" cmpd="sng">
              <a:solidFill>
                <a:srgbClr val="000000"/>
              </a:solidFill>
              <a:prstDash val="solid"/>
              <a:round/>
              <a:headEnd type="none" w="med" len="med"/>
              <a:tailEnd type="triangle" w="med" len="med"/>
            </a:ln>
          </p:spPr>
        </p:cxnSp>
        <p:cxnSp>
          <p:nvCxnSpPr>
            <p:cNvPr id="282" name="Google Shape;282;p23"/>
            <p:cNvCxnSpPr>
              <a:stCxn id="279" idx="1"/>
            </p:cNvCxnSpPr>
            <p:nvPr/>
          </p:nvCxnSpPr>
          <p:spPr>
            <a:xfrm rot="10800000" flipH="1">
              <a:off x="1052450" y="1465400"/>
              <a:ext cx="1588500" cy="2531700"/>
            </a:xfrm>
            <a:prstGeom prst="bentConnector4">
              <a:avLst>
                <a:gd name="adj1" fmla="val -37251"/>
                <a:gd name="adj2" fmla="val 99595"/>
              </a:avLst>
            </a:prstGeom>
            <a:noFill/>
            <a:ln w="19050" cap="flat" cmpd="sng">
              <a:solidFill>
                <a:srgbClr val="000000"/>
              </a:solidFill>
              <a:prstDash val="solid"/>
              <a:round/>
              <a:headEnd type="none" w="med" len="med"/>
              <a:tailEnd type="triangle" w="med" len="med"/>
            </a:ln>
          </p:spPr>
        </p:cxnSp>
        <p:cxnSp>
          <p:nvCxnSpPr>
            <p:cNvPr id="283" name="Google Shape;283;p23"/>
            <p:cNvCxnSpPr>
              <a:stCxn id="280" idx="2"/>
              <a:endCxn id="279" idx="0"/>
            </p:cNvCxnSpPr>
            <p:nvPr/>
          </p:nvCxnSpPr>
          <p:spPr>
            <a:xfrm rot="5400000">
              <a:off x="1979450" y="3084125"/>
              <a:ext cx="697500" cy="607500"/>
            </a:xfrm>
            <a:prstGeom prst="bentConnector3">
              <a:avLst>
                <a:gd name="adj1" fmla="val 50005"/>
              </a:avLst>
            </a:prstGeom>
            <a:noFill/>
            <a:ln w="19050" cap="flat" cmpd="sng">
              <a:solidFill>
                <a:srgbClr val="000000"/>
              </a:solidFill>
              <a:prstDash val="solid"/>
              <a:round/>
              <a:headEnd type="none" w="med" len="med"/>
              <a:tailEnd type="triangle" w="med" len="med"/>
            </a:ln>
          </p:spPr>
        </p:cxnSp>
        <p:cxnSp>
          <p:nvCxnSpPr>
            <p:cNvPr id="284" name="Google Shape;284;p23"/>
            <p:cNvCxnSpPr>
              <a:stCxn id="280" idx="3"/>
            </p:cNvCxnSpPr>
            <p:nvPr/>
          </p:nvCxnSpPr>
          <p:spPr>
            <a:xfrm flipH="1">
              <a:off x="2300150" y="2425925"/>
              <a:ext cx="1092300" cy="2523600"/>
            </a:xfrm>
            <a:prstGeom prst="bentConnector4">
              <a:avLst>
                <a:gd name="adj1" fmla="val -60517"/>
                <a:gd name="adj2" fmla="val 93310"/>
              </a:avLst>
            </a:prstGeom>
            <a:noFill/>
            <a:ln w="19050" cap="flat" cmpd="sng">
              <a:solidFill>
                <a:srgbClr val="000000"/>
              </a:solidFill>
              <a:prstDash val="solid"/>
              <a:round/>
              <a:headEnd type="none" w="med" len="med"/>
              <a:tailEnd type="none" w="med" len="med"/>
            </a:ln>
          </p:spPr>
        </p:cxnSp>
        <p:sp>
          <p:nvSpPr>
            <p:cNvPr id="285" name="Google Shape;285;p23"/>
            <p:cNvSpPr txBox="1"/>
            <p:nvPr/>
          </p:nvSpPr>
          <p:spPr>
            <a:xfrm>
              <a:off x="3272177" y="2103325"/>
              <a:ext cx="6066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false</a:t>
              </a:r>
              <a:endParaRPr sz="1000" b="1"/>
            </a:p>
          </p:txBody>
        </p:sp>
        <p:sp>
          <p:nvSpPr>
            <p:cNvPr id="286" name="Google Shape;286;p23"/>
            <p:cNvSpPr txBox="1"/>
            <p:nvPr/>
          </p:nvSpPr>
          <p:spPr>
            <a:xfrm>
              <a:off x="2046077" y="3036925"/>
              <a:ext cx="6066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true</a:t>
              </a:r>
              <a:endParaRPr sz="1000" b="1"/>
            </a:p>
          </p:txBody>
        </p:sp>
        <p:cxnSp>
          <p:nvCxnSpPr>
            <p:cNvPr id="287" name="Google Shape;287;p23"/>
            <p:cNvCxnSpPr/>
            <p:nvPr/>
          </p:nvCxnSpPr>
          <p:spPr>
            <a:xfrm>
              <a:off x="2300125" y="4966575"/>
              <a:ext cx="0" cy="528300"/>
            </a:xfrm>
            <a:prstGeom prst="straightConnector1">
              <a:avLst/>
            </a:prstGeom>
            <a:noFill/>
            <a:ln w="19050" cap="flat" cmpd="sng">
              <a:solidFill>
                <a:srgbClr val="000000"/>
              </a:solidFill>
              <a:prstDash val="dash"/>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91"/>
        <p:cNvGrpSpPr/>
        <p:nvPr/>
      </p:nvGrpSpPr>
      <p:grpSpPr>
        <a:xfrm>
          <a:off x="0" y="0"/>
          <a:ext cx="0" cy="0"/>
          <a:chOff x="0" y="0"/>
          <a:chExt cx="0" cy="0"/>
        </a:xfrm>
      </p:grpSpPr>
      <p:sp>
        <p:nvSpPr>
          <p:cNvPr id="292" name="Google Shape;292;p24"/>
          <p:cNvSpPr txBox="1"/>
          <p:nvPr/>
        </p:nvSpPr>
        <p:spPr>
          <a:xfrm>
            <a:off x="19050" y="28617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for</a:t>
            </a:r>
            <a:endParaRPr sz="2000"/>
          </a:p>
        </p:txBody>
      </p:sp>
      <p:pic>
        <p:nvPicPr>
          <p:cNvPr id="293" name="Google Shape;293;p2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294" name="Google Shape;294;p24"/>
          <p:cNvGrpSpPr/>
          <p:nvPr/>
        </p:nvGrpSpPr>
        <p:grpSpPr>
          <a:xfrm>
            <a:off x="1733117" y="742789"/>
            <a:ext cx="5354384" cy="4246146"/>
            <a:chOff x="1733075" y="1047600"/>
            <a:chExt cx="5365652" cy="4514775"/>
          </a:xfrm>
        </p:grpSpPr>
        <p:sp>
          <p:nvSpPr>
            <p:cNvPr id="295" name="Google Shape;295;p24"/>
            <p:cNvSpPr/>
            <p:nvPr/>
          </p:nvSpPr>
          <p:spPr>
            <a:xfrm>
              <a:off x="4804267" y="2248723"/>
              <a:ext cx="1705500" cy="1154700"/>
            </a:xfrm>
            <a:prstGeom prst="diamond">
              <a:avLst/>
            </a:prstGeom>
            <a:solidFill>
              <a:srgbClr val="CFE2F3"/>
            </a:solidFill>
            <a:ln w="19050" cap="flat" cmpd="sng">
              <a:solidFill>
                <a:srgbClr val="4C11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000"/>
            </a:p>
          </p:txBody>
        </p:sp>
        <p:sp>
          <p:nvSpPr>
            <p:cNvPr id="296" name="Google Shape;296;p24"/>
            <p:cNvSpPr txBox="1"/>
            <p:nvPr/>
          </p:nvSpPr>
          <p:spPr>
            <a:xfrm>
              <a:off x="5205823" y="2658575"/>
              <a:ext cx="1071000" cy="360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t>condition</a:t>
              </a:r>
              <a:endParaRPr sz="1000" b="1"/>
            </a:p>
          </p:txBody>
        </p:sp>
        <p:sp>
          <p:nvSpPr>
            <p:cNvPr id="297" name="Google Shape;297;p24"/>
            <p:cNvSpPr/>
            <p:nvPr/>
          </p:nvSpPr>
          <p:spPr>
            <a:xfrm>
              <a:off x="4500500" y="3723000"/>
              <a:ext cx="2297400" cy="477600"/>
            </a:xfrm>
            <a:prstGeom prst="rect">
              <a:avLst/>
            </a:prstGeom>
            <a:solidFill>
              <a:srgbClr val="674EA7"/>
            </a:solidFill>
            <a:ln w="19050" cap="flat" cmpd="sng">
              <a:solidFill>
                <a:srgbClr val="4C113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Body Of the Loop</a:t>
              </a:r>
              <a:endParaRPr sz="1000" b="1">
                <a:solidFill>
                  <a:srgbClr val="FFFFFF"/>
                </a:solidFill>
              </a:endParaRPr>
            </a:p>
          </p:txBody>
        </p:sp>
        <p:sp>
          <p:nvSpPr>
            <p:cNvPr id="298" name="Google Shape;298;p24"/>
            <p:cNvSpPr txBox="1"/>
            <p:nvPr/>
          </p:nvSpPr>
          <p:spPr>
            <a:xfrm>
              <a:off x="6391627" y="2460150"/>
              <a:ext cx="707100" cy="36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false</a:t>
              </a:r>
              <a:endParaRPr sz="1000" b="1"/>
            </a:p>
          </p:txBody>
        </p:sp>
        <p:sp>
          <p:nvSpPr>
            <p:cNvPr id="299" name="Google Shape;299;p24"/>
            <p:cNvSpPr txBox="1"/>
            <p:nvPr/>
          </p:nvSpPr>
          <p:spPr>
            <a:xfrm>
              <a:off x="5089327" y="3317550"/>
              <a:ext cx="520800" cy="360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t>true</a:t>
              </a:r>
              <a:endParaRPr sz="1000" b="1"/>
            </a:p>
          </p:txBody>
        </p:sp>
        <p:sp>
          <p:nvSpPr>
            <p:cNvPr id="300" name="Google Shape;300;p24"/>
            <p:cNvSpPr/>
            <p:nvPr/>
          </p:nvSpPr>
          <p:spPr>
            <a:xfrm>
              <a:off x="1733075" y="3732450"/>
              <a:ext cx="2297400" cy="477600"/>
            </a:xfrm>
            <a:prstGeom prst="rect">
              <a:avLst/>
            </a:prstGeom>
            <a:solidFill>
              <a:srgbClr val="B45F0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FFFFF"/>
                  </a:solidFill>
                </a:rPr>
                <a:t>Action after each Iteration</a:t>
              </a:r>
              <a:endParaRPr sz="1000" b="1">
                <a:solidFill>
                  <a:srgbClr val="FFFFFF"/>
                </a:solidFill>
              </a:endParaRPr>
            </a:p>
          </p:txBody>
        </p:sp>
        <p:cxnSp>
          <p:nvCxnSpPr>
            <p:cNvPr id="301" name="Google Shape;301;p24"/>
            <p:cNvCxnSpPr/>
            <p:nvPr/>
          </p:nvCxnSpPr>
          <p:spPr>
            <a:xfrm>
              <a:off x="4457825" y="4809975"/>
              <a:ext cx="0" cy="752400"/>
            </a:xfrm>
            <a:prstGeom prst="straightConnector1">
              <a:avLst/>
            </a:prstGeom>
            <a:noFill/>
            <a:ln w="19050" cap="flat" cmpd="sng">
              <a:solidFill>
                <a:srgbClr val="000000"/>
              </a:solidFill>
              <a:prstDash val="dash"/>
              <a:round/>
              <a:headEnd type="none" w="med" len="med"/>
              <a:tailEnd type="none" w="med" len="med"/>
            </a:ln>
          </p:spPr>
        </p:cxnSp>
        <p:cxnSp>
          <p:nvCxnSpPr>
            <p:cNvPr id="302" name="Google Shape;302;p24"/>
            <p:cNvCxnSpPr>
              <a:stCxn id="295" idx="2"/>
              <a:endCxn id="297" idx="0"/>
            </p:cNvCxnSpPr>
            <p:nvPr/>
          </p:nvCxnSpPr>
          <p:spPr>
            <a:xfrm flipH="1">
              <a:off x="5649217" y="3403423"/>
              <a:ext cx="7800" cy="319500"/>
            </a:xfrm>
            <a:prstGeom prst="straightConnector1">
              <a:avLst/>
            </a:prstGeom>
            <a:noFill/>
            <a:ln w="19050" cap="flat" cmpd="sng">
              <a:solidFill>
                <a:srgbClr val="000000"/>
              </a:solidFill>
              <a:prstDash val="solid"/>
              <a:round/>
              <a:headEnd type="none" w="med" len="med"/>
              <a:tailEnd type="triangle" w="med" len="med"/>
            </a:ln>
          </p:spPr>
        </p:cxnSp>
        <p:cxnSp>
          <p:nvCxnSpPr>
            <p:cNvPr id="303" name="Google Shape;303;p24"/>
            <p:cNvCxnSpPr>
              <a:stCxn id="297" idx="1"/>
              <a:endCxn id="300" idx="3"/>
            </p:cNvCxnSpPr>
            <p:nvPr/>
          </p:nvCxnSpPr>
          <p:spPr>
            <a:xfrm flipH="1">
              <a:off x="4030400" y="3961800"/>
              <a:ext cx="470100" cy="9300"/>
            </a:xfrm>
            <a:prstGeom prst="straightConnector1">
              <a:avLst/>
            </a:prstGeom>
            <a:noFill/>
            <a:ln w="19050" cap="flat" cmpd="sng">
              <a:solidFill>
                <a:srgbClr val="000000"/>
              </a:solidFill>
              <a:prstDash val="solid"/>
              <a:round/>
              <a:headEnd type="none" w="med" len="med"/>
              <a:tailEnd type="triangle" w="med" len="med"/>
            </a:ln>
          </p:spPr>
        </p:cxnSp>
        <p:grpSp>
          <p:nvGrpSpPr>
            <p:cNvPr id="304" name="Google Shape;304;p24"/>
            <p:cNvGrpSpPr/>
            <p:nvPr/>
          </p:nvGrpSpPr>
          <p:grpSpPr>
            <a:xfrm>
              <a:off x="4984025" y="1047600"/>
              <a:ext cx="1354200" cy="812100"/>
              <a:chOff x="2698025" y="361800"/>
              <a:chExt cx="1354200" cy="812100"/>
            </a:xfrm>
          </p:grpSpPr>
          <p:sp>
            <p:nvSpPr>
              <p:cNvPr id="305" name="Google Shape;305;p24"/>
              <p:cNvSpPr txBox="1"/>
              <p:nvPr/>
            </p:nvSpPr>
            <p:spPr>
              <a:xfrm>
                <a:off x="2698025" y="813900"/>
                <a:ext cx="1354200" cy="360000"/>
              </a:xfrm>
              <a:prstGeom prst="rect">
                <a:avLst/>
              </a:prstGeom>
              <a:solidFill>
                <a:srgbClr val="38761D"/>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rgbClr val="FFFFFF"/>
                    </a:solidFill>
                  </a:rPr>
                  <a:t>initialization</a:t>
                </a:r>
                <a:endParaRPr sz="1000" b="1">
                  <a:solidFill>
                    <a:srgbClr val="FFFFFF"/>
                  </a:solidFill>
                </a:endParaRPr>
              </a:p>
            </p:txBody>
          </p:sp>
          <p:cxnSp>
            <p:nvCxnSpPr>
              <p:cNvPr id="306" name="Google Shape;306;p24"/>
              <p:cNvCxnSpPr>
                <a:endCxn id="305" idx="0"/>
              </p:cNvCxnSpPr>
              <p:nvPr/>
            </p:nvCxnSpPr>
            <p:spPr>
              <a:xfrm flipH="1">
                <a:off x="3375125" y="361800"/>
                <a:ext cx="6300" cy="452100"/>
              </a:xfrm>
              <a:prstGeom prst="straightConnector1">
                <a:avLst/>
              </a:prstGeom>
              <a:noFill/>
              <a:ln w="19050" cap="flat" cmpd="sng">
                <a:solidFill>
                  <a:srgbClr val="000000"/>
                </a:solidFill>
                <a:prstDash val="dash"/>
                <a:round/>
                <a:headEnd type="none" w="med" len="med"/>
                <a:tailEnd type="triangle" w="med" len="med"/>
              </a:ln>
            </p:spPr>
          </p:cxnSp>
        </p:grpSp>
        <p:cxnSp>
          <p:nvCxnSpPr>
            <p:cNvPr id="307" name="Google Shape;307;p24"/>
            <p:cNvCxnSpPr>
              <a:stCxn id="305" idx="2"/>
              <a:endCxn id="295" idx="0"/>
            </p:cNvCxnSpPr>
            <p:nvPr/>
          </p:nvCxnSpPr>
          <p:spPr>
            <a:xfrm flipH="1">
              <a:off x="5656925" y="1859700"/>
              <a:ext cx="4200" cy="389100"/>
            </a:xfrm>
            <a:prstGeom prst="straightConnector1">
              <a:avLst/>
            </a:prstGeom>
            <a:noFill/>
            <a:ln w="19050" cap="flat" cmpd="sng">
              <a:solidFill>
                <a:srgbClr val="000000"/>
              </a:solidFill>
              <a:prstDash val="solid"/>
              <a:round/>
              <a:headEnd type="none" w="med" len="med"/>
              <a:tailEnd type="triangle" w="med" len="med"/>
            </a:ln>
          </p:spPr>
        </p:cxnSp>
        <p:cxnSp>
          <p:nvCxnSpPr>
            <p:cNvPr id="308" name="Google Shape;308;p24"/>
            <p:cNvCxnSpPr/>
            <p:nvPr/>
          </p:nvCxnSpPr>
          <p:spPr>
            <a:xfrm>
              <a:off x="2886075" y="1981200"/>
              <a:ext cx="2772000" cy="19200"/>
            </a:xfrm>
            <a:prstGeom prst="straightConnector1">
              <a:avLst/>
            </a:prstGeom>
            <a:noFill/>
            <a:ln w="19050" cap="flat" cmpd="sng">
              <a:solidFill>
                <a:srgbClr val="000000"/>
              </a:solidFill>
              <a:prstDash val="solid"/>
              <a:round/>
              <a:headEnd type="none" w="med" len="med"/>
              <a:tailEnd type="triangle" w="med" len="med"/>
            </a:ln>
          </p:spPr>
        </p:cxnSp>
        <p:cxnSp>
          <p:nvCxnSpPr>
            <p:cNvPr id="309" name="Google Shape;309;p24"/>
            <p:cNvCxnSpPr>
              <a:stCxn id="295" idx="3"/>
            </p:cNvCxnSpPr>
            <p:nvPr/>
          </p:nvCxnSpPr>
          <p:spPr>
            <a:xfrm flipH="1">
              <a:off x="4457767" y="2826073"/>
              <a:ext cx="2052000" cy="1993500"/>
            </a:xfrm>
            <a:prstGeom prst="bentConnector3">
              <a:avLst>
                <a:gd name="adj1" fmla="val -19093"/>
              </a:avLst>
            </a:prstGeom>
            <a:noFill/>
            <a:ln w="19050" cap="flat" cmpd="sng">
              <a:solidFill>
                <a:srgbClr val="000000"/>
              </a:solidFill>
              <a:prstDash val="solid"/>
              <a:round/>
              <a:headEnd type="none" w="med" len="med"/>
              <a:tailEnd type="none" w="med" len="med"/>
            </a:ln>
          </p:spPr>
        </p:cxnSp>
        <p:cxnSp>
          <p:nvCxnSpPr>
            <p:cNvPr id="310" name="Google Shape;310;p24"/>
            <p:cNvCxnSpPr>
              <a:stCxn id="300" idx="0"/>
            </p:cNvCxnSpPr>
            <p:nvPr/>
          </p:nvCxnSpPr>
          <p:spPr>
            <a:xfrm rot="10800000" flipH="1">
              <a:off x="2881775" y="1985850"/>
              <a:ext cx="13800" cy="1746600"/>
            </a:xfrm>
            <a:prstGeom prst="straightConnector1">
              <a:avLst/>
            </a:prstGeom>
            <a:noFill/>
            <a:ln w="19050" cap="flat" cmpd="sng">
              <a:solidFill>
                <a:srgbClr val="000000"/>
              </a:solidFill>
              <a:prstDash val="solid"/>
              <a:round/>
              <a:headEnd type="none" w="med" len="med"/>
              <a:tailEnd type="none" w="med" len="med"/>
            </a:ln>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14"/>
        <p:cNvGrpSpPr/>
        <p:nvPr/>
      </p:nvGrpSpPr>
      <p:grpSpPr>
        <a:xfrm>
          <a:off x="0" y="0"/>
          <a:ext cx="0" cy="0"/>
          <a:chOff x="0" y="0"/>
          <a:chExt cx="0" cy="0"/>
        </a:xfrm>
      </p:grpSpPr>
      <p:sp>
        <p:nvSpPr>
          <p:cNvPr id="315" name="Google Shape;315;p25"/>
          <p:cNvSpPr txBox="1"/>
          <p:nvPr/>
        </p:nvSpPr>
        <p:spPr>
          <a:xfrm>
            <a:off x="1503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Infinite loops</a:t>
            </a:r>
            <a:endParaRPr sz="2000" b="1">
              <a:solidFill>
                <a:schemeClr val="dk1"/>
              </a:solidFill>
            </a:endParaRPr>
          </a:p>
        </p:txBody>
      </p:sp>
      <p:pic>
        <p:nvPicPr>
          <p:cNvPr id="316" name="Google Shape;316;p2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317" name="Google Shape;317;p25"/>
          <p:cNvSpPr txBox="1"/>
          <p:nvPr/>
        </p:nvSpPr>
        <p:spPr>
          <a:xfrm>
            <a:off x="724500" y="798725"/>
            <a:ext cx="7695000" cy="831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Infinite loops with while()</a:t>
            </a:r>
            <a:endParaRPr/>
          </a:p>
          <a:p>
            <a:pPr marL="457200" lvl="0" indent="-317500" algn="l" rtl="0">
              <a:spcBef>
                <a:spcPts val="0"/>
              </a:spcBef>
              <a:spcAft>
                <a:spcPts val="0"/>
              </a:spcAft>
              <a:buClr>
                <a:schemeClr val="dk1"/>
              </a:buClr>
              <a:buSzPts val="1400"/>
              <a:buChar char="●"/>
            </a:pPr>
            <a:r>
              <a:rPr lang="en">
                <a:solidFill>
                  <a:schemeClr val="dk1"/>
                </a:solidFill>
              </a:rPr>
              <a:t>Infinite loops with do-while()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Infinite loops with for()</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1"/>
        <p:cNvGrpSpPr/>
        <p:nvPr/>
      </p:nvGrpSpPr>
      <p:grpSpPr>
        <a:xfrm>
          <a:off x="0" y="0"/>
          <a:ext cx="0" cy="0"/>
          <a:chOff x="0" y="0"/>
          <a:chExt cx="0" cy="0"/>
        </a:xfrm>
      </p:grpSpPr>
      <p:sp>
        <p:nvSpPr>
          <p:cNvPr id="322" name="Google Shape;322;p26"/>
          <p:cNvSpPr txBox="1"/>
          <p:nvPr/>
        </p:nvSpPr>
        <p:spPr>
          <a:xfrm>
            <a:off x="1503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Unconditional statements</a:t>
            </a:r>
            <a:endParaRPr sz="2000"/>
          </a:p>
        </p:txBody>
      </p:sp>
      <p:pic>
        <p:nvPicPr>
          <p:cNvPr id="323" name="Google Shape;323;p2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324" name="Google Shape;324;p26"/>
          <p:cNvSpPr txBox="1"/>
          <p:nvPr/>
        </p:nvSpPr>
        <p:spPr>
          <a:xfrm>
            <a:off x="724500" y="798725"/>
            <a:ext cx="7695000" cy="2339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The </a:t>
            </a:r>
            <a:r>
              <a:rPr lang="en" b="1"/>
              <a:t>break</a:t>
            </a:r>
            <a:r>
              <a:rPr lang="en"/>
              <a:t> statement in Java terminates the loop immediately, and the control of the program moves to the next statement following the loop.</a:t>
            </a:r>
            <a:endParaRPr/>
          </a:p>
          <a:p>
            <a:pPr marL="0" lvl="0" indent="457200" algn="l" rtl="0">
              <a:spcBef>
                <a:spcPts val="0"/>
              </a:spcBef>
              <a:spcAft>
                <a:spcPts val="0"/>
              </a:spcAft>
              <a:buNone/>
            </a:pPr>
            <a:endParaRPr>
              <a:solidFill>
                <a:schemeClr val="dk1"/>
              </a:solidFill>
            </a:endParaRPr>
          </a:p>
          <a:p>
            <a:pPr marL="0" lvl="0" indent="457200" algn="l" rtl="0">
              <a:spcBef>
                <a:spcPts val="0"/>
              </a:spcBef>
              <a:spcAft>
                <a:spcPts val="0"/>
              </a:spcAft>
              <a:buNone/>
            </a:pPr>
            <a:r>
              <a:rPr lang="en">
                <a:solidFill>
                  <a:schemeClr val="dk1"/>
                </a:solidFill>
              </a:rPr>
              <a:t>The </a:t>
            </a:r>
            <a:r>
              <a:rPr lang="en" b="1">
                <a:solidFill>
                  <a:schemeClr val="dk1"/>
                </a:solidFill>
              </a:rPr>
              <a:t>continue</a:t>
            </a:r>
            <a:r>
              <a:rPr lang="en">
                <a:solidFill>
                  <a:schemeClr val="dk1"/>
                </a:solidFill>
              </a:rPr>
              <a:t> keyword is used to end the current iteration in a for loop (or a while loop), and continues to the next iteration;</a:t>
            </a:r>
            <a:endParaRPr>
              <a:solidFill>
                <a:schemeClr val="dk1"/>
              </a:solidFill>
            </a:endParaRPr>
          </a:p>
          <a:p>
            <a:pPr marL="0" lvl="0" indent="457200" algn="l" rtl="0">
              <a:spcBef>
                <a:spcPts val="0"/>
              </a:spcBef>
              <a:spcAft>
                <a:spcPts val="0"/>
              </a:spcAft>
              <a:buNone/>
            </a:pPr>
            <a:endParaRPr>
              <a:solidFill>
                <a:schemeClr val="dk1"/>
              </a:solidFill>
            </a:endParaRPr>
          </a:p>
          <a:p>
            <a:pPr marL="0" lvl="0" indent="457200" algn="l" rtl="0">
              <a:spcBef>
                <a:spcPts val="0"/>
              </a:spcBef>
              <a:spcAft>
                <a:spcPts val="0"/>
              </a:spcAft>
              <a:buNone/>
            </a:pPr>
            <a:r>
              <a:rPr lang="en">
                <a:solidFill>
                  <a:schemeClr val="dk1"/>
                </a:solidFill>
              </a:rPr>
              <a:t>In Java programming, the </a:t>
            </a:r>
            <a:r>
              <a:rPr lang="en" b="1">
                <a:solidFill>
                  <a:schemeClr val="dk1"/>
                </a:solidFill>
              </a:rPr>
              <a:t>return</a:t>
            </a:r>
            <a:r>
              <a:rPr lang="en">
                <a:solidFill>
                  <a:schemeClr val="dk1"/>
                </a:solidFill>
              </a:rPr>
              <a:t> statement is used for returning a value when the execution of the block is completed. The return statement inside a loop will cause the loop to break and further statements will be ignored by the compiler.</a:t>
            </a:r>
            <a:endParaRPr>
              <a:solidFill>
                <a:schemeClr val="dk1"/>
              </a:solidFill>
            </a:endParaRPr>
          </a:p>
          <a:p>
            <a:pPr marL="0" lvl="0" indent="45720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8"/>
        <p:cNvGrpSpPr/>
        <p:nvPr/>
      </p:nvGrpSpPr>
      <p:grpSpPr>
        <a:xfrm>
          <a:off x="0" y="0"/>
          <a:ext cx="0" cy="0"/>
          <a:chOff x="0" y="0"/>
          <a:chExt cx="0" cy="0"/>
        </a:xfrm>
      </p:grpSpPr>
      <p:sp>
        <p:nvSpPr>
          <p:cNvPr id="329" name="Google Shape;329;p27"/>
          <p:cNvSpPr txBox="1"/>
          <p:nvPr/>
        </p:nvSpPr>
        <p:spPr>
          <a:xfrm>
            <a:off x="0" y="3061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dk1"/>
                </a:solidFill>
              </a:rPr>
              <a:t>label</a:t>
            </a:r>
            <a:endParaRPr sz="2000" b="1">
              <a:solidFill>
                <a:schemeClr val="dk1"/>
              </a:solidFill>
            </a:endParaRPr>
          </a:p>
        </p:txBody>
      </p:sp>
      <p:pic>
        <p:nvPicPr>
          <p:cNvPr id="330" name="Google Shape;330;p2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331" name="Google Shape;331;p27"/>
          <p:cNvSpPr txBox="1"/>
          <p:nvPr/>
        </p:nvSpPr>
        <p:spPr>
          <a:xfrm>
            <a:off x="724500" y="798725"/>
            <a:ext cx="7695000" cy="831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
              <a:t>labelled loop</a:t>
            </a:r>
            <a:endParaRPr/>
          </a:p>
          <a:p>
            <a:pPr marL="457200" lvl="0" indent="-317500" algn="l" rtl="0">
              <a:spcBef>
                <a:spcPts val="0"/>
              </a:spcBef>
              <a:spcAft>
                <a:spcPts val="0"/>
              </a:spcAft>
              <a:buClr>
                <a:schemeClr val="dk1"/>
              </a:buClr>
              <a:buSzPts val="1400"/>
              <a:buChar char="●"/>
            </a:pPr>
            <a:r>
              <a:rPr lang="en"/>
              <a:t>labelled break</a:t>
            </a:r>
            <a:endParaRPr/>
          </a:p>
          <a:p>
            <a:pPr marL="457200" lvl="0" indent="-317500" algn="l" rtl="0">
              <a:spcBef>
                <a:spcPts val="0"/>
              </a:spcBef>
              <a:spcAft>
                <a:spcPts val="0"/>
              </a:spcAft>
              <a:buClr>
                <a:schemeClr val="dk1"/>
              </a:buClr>
              <a:buSzPts val="1400"/>
              <a:buChar char="●"/>
            </a:pPr>
            <a:r>
              <a:rPr lang="en"/>
              <a:t>labelled continue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35"/>
        <p:cNvGrpSpPr/>
        <p:nvPr/>
      </p:nvGrpSpPr>
      <p:grpSpPr>
        <a:xfrm>
          <a:off x="0" y="0"/>
          <a:ext cx="0" cy="0"/>
          <a:chOff x="0" y="0"/>
          <a:chExt cx="0" cy="0"/>
        </a:xfrm>
      </p:grpSpPr>
      <p:pic>
        <p:nvPicPr>
          <p:cNvPr id="336" name="Google Shape;336;p2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337" name="Google Shape;337;p28"/>
          <p:cNvSpPr txBox="1"/>
          <p:nvPr/>
        </p:nvSpPr>
        <p:spPr>
          <a:xfrm>
            <a:off x="0" y="212947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Guess Game</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41"/>
        <p:cNvGrpSpPr/>
        <p:nvPr/>
      </p:nvGrpSpPr>
      <p:grpSpPr>
        <a:xfrm>
          <a:off x="0" y="0"/>
          <a:ext cx="0" cy="0"/>
          <a:chOff x="0" y="0"/>
          <a:chExt cx="0" cy="0"/>
        </a:xfrm>
      </p:grpSpPr>
      <p:sp>
        <p:nvSpPr>
          <p:cNvPr id="342" name="Google Shape;342;p29"/>
          <p:cNvSpPr txBox="1">
            <a:spLocks noGrp="1"/>
          </p:cNvSpPr>
          <p:nvPr>
            <p:ph type="title"/>
          </p:nvPr>
        </p:nvSpPr>
        <p:spPr>
          <a:xfrm>
            <a:off x="19050" y="2285400"/>
            <a:ext cx="9144000" cy="5727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343" name="Google Shape;343;p2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47"/>
        <p:cNvGrpSpPr/>
        <p:nvPr/>
      </p:nvGrpSpPr>
      <p:grpSpPr>
        <a:xfrm>
          <a:off x="0" y="0"/>
          <a:ext cx="0" cy="0"/>
          <a:chOff x="0" y="0"/>
          <a:chExt cx="0" cy="0"/>
        </a:xfrm>
      </p:grpSpPr>
      <p:pic>
        <p:nvPicPr>
          <p:cNvPr id="348" name="Google Shape;348;p3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349" name="Google Shape;349;p30"/>
          <p:cNvSpPr txBox="1"/>
          <p:nvPr/>
        </p:nvSpPr>
        <p:spPr>
          <a:xfrm>
            <a:off x="0" y="2129475"/>
            <a:ext cx="9144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a:t>Stay hungry. Stay foolish</a:t>
            </a:r>
            <a:endParaRPr sz="24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514</Words>
  <Application>Microsoft Office PowerPoint</Application>
  <PresentationFormat>On-screen Show (16:9)</PresentationFormat>
  <Paragraphs>136</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 Antiqua</vt:lpstr>
      <vt:lpstr>Source Code Pro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Interview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2023-02-23T14:08:44Z</dcterms:modified>
</cp:coreProperties>
</file>