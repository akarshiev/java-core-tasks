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Book Antiqua" panose="02040602050305030304" pitchFamily="18" charset="0"/>
      <p:regular r:id="rId10"/>
      <p:bold r:id="rId11"/>
      <p:italic r:id="rId12"/>
      <p:boldItalic r:id="rId13"/>
    </p:embeddedFont>
    <p:embeddedFont>
      <p:font typeface="Source Code Pro" panose="020B0509030403020204" pitchFamily="49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491bba5938_0_29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491bba5938_0_29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4b32c0b0f6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4b32c0b0f6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4b32c0b0f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4b32c0b0f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4b32c0b0f6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4b32c0b0f6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39949be9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39949be9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64301ef5d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64301ef5d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4ffb7c2357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4ffb7c2357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816575" y="2267850"/>
            <a:ext cx="7733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600" b="1">
                <a:solidFill>
                  <a:schemeClr val="dk1"/>
                </a:solidFill>
              </a:rPr>
              <a:t>Function and Method</a:t>
            </a:r>
            <a:endParaRPr sz="2600" b="1">
              <a:solidFill>
                <a:schemeClr val="dk1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0" y="367175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Outline </a:t>
            </a:r>
            <a:endParaRPr sz="2000"/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1950150" y="1237275"/>
            <a:ext cx="52437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Function and Method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Method definition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Project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Interview Questions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Summary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19050" y="306125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</a:rPr>
              <a:t>Function and Method</a:t>
            </a:r>
            <a:endParaRPr sz="2000"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642425" y="1104150"/>
            <a:ext cx="7889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lang="en" b="1"/>
              <a:t>function</a:t>
            </a:r>
            <a:r>
              <a:rPr lang="en"/>
              <a:t> is a set of instructions or procedures to perform a specific task, and a </a:t>
            </a:r>
            <a:r>
              <a:rPr lang="en" b="1"/>
              <a:t>method</a:t>
            </a:r>
            <a:r>
              <a:rPr lang="en"/>
              <a:t> is a set of instructions that are associated with an object.</a:t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225" y="2240250"/>
            <a:ext cx="23241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6175" y="2240250"/>
            <a:ext cx="3638550" cy="11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0" y="306125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>
                <a:solidFill>
                  <a:schemeClr val="dk1"/>
                </a:solidFill>
              </a:rPr>
              <a:t>Method definition</a:t>
            </a:r>
            <a:endParaRPr sz="2000" b="1"/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4781375" y="1237050"/>
            <a:ext cx="32160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Char char="➔"/>
            </a:pPr>
            <a:r>
              <a:rPr lang="en" b="1">
                <a:solidFill>
                  <a:srgbClr val="6AA84F"/>
                </a:solidFill>
              </a:rPr>
              <a:t>method declaration (header)</a:t>
            </a:r>
            <a:endParaRPr b="1">
              <a:solidFill>
                <a:srgbClr val="6AA84F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00"/>
              <a:buChar char="◆"/>
            </a:pPr>
            <a:r>
              <a:rPr lang="en" b="1">
                <a:solidFill>
                  <a:srgbClr val="990000"/>
                </a:solidFill>
              </a:rPr>
              <a:t>Access modifier</a:t>
            </a:r>
            <a:endParaRPr b="1">
              <a:solidFill>
                <a:srgbClr val="990000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1400"/>
              <a:buChar char="◆"/>
            </a:pPr>
            <a:r>
              <a:rPr lang="en" b="1">
                <a:solidFill>
                  <a:srgbClr val="00FFFF"/>
                </a:solidFill>
              </a:rPr>
              <a:t>Return type</a:t>
            </a:r>
            <a:endParaRPr b="1">
              <a:solidFill>
                <a:srgbClr val="00FFFF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400"/>
              <a:buChar char="◆"/>
            </a:pPr>
            <a:r>
              <a:rPr lang="en" b="1">
                <a:solidFill>
                  <a:srgbClr val="9900FF"/>
                </a:solidFill>
              </a:rPr>
              <a:t>Method name</a:t>
            </a:r>
            <a:endParaRPr b="1">
              <a:solidFill>
                <a:srgbClr val="9900FF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400"/>
              <a:buChar char="◆"/>
            </a:pPr>
            <a:r>
              <a:rPr lang="en" b="1">
                <a:solidFill>
                  <a:srgbClr val="FFD966"/>
                </a:solidFill>
              </a:rPr>
              <a:t>Input parameters</a:t>
            </a:r>
            <a:endParaRPr b="1">
              <a:solidFill>
                <a:srgbClr val="FFD966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6D9EEB"/>
              </a:buClr>
              <a:buSzPts val="1400"/>
              <a:buChar char="➔"/>
            </a:pPr>
            <a:r>
              <a:rPr lang="en" b="1">
                <a:solidFill>
                  <a:srgbClr val="6D9EEB"/>
                </a:solidFill>
              </a:rPr>
              <a:t>method body</a:t>
            </a:r>
            <a:endParaRPr b="1">
              <a:solidFill>
                <a:srgbClr val="6D9EEB"/>
              </a:solidFill>
            </a:endParaRPr>
          </a:p>
        </p:txBody>
      </p:sp>
      <p:grpSp>
        <p:nvGrpSpPr>
          <p:cNvPr id="79" name="Google Shape;79;p16"/>
          <p:cNvGrpSpPr/>
          <p:nvPr/>
        </p:nvGrpSpPr>
        <p:grpSpPr>
          <a:xfrm>
            <a:off x="1163025" y="1259250"/>
            <a:ext cx="3237000" cy="1427700"/>
            <a:chOff x="1163025" y="1259250"/>
            <a:chExt cx="3237000" cy="1427700"/>
          </a:xfrm>
        </p:grpSpPr>
        <p:sp>
          <p:nvSpPr>
            <p:cNvPr id="80" name="Google Shape;80;p16"/>
            <p:cNvSpPr txBox="1"/>
            <p:nvPr/>
          </p:nvSpPr>
          <p:spPr>
            <a:xfrm>
              <a:off x="1163025" y="1259250"/>
              <a:ext cx="3237000" cy="4002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980000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public</a:t>
              </a:r>
              <a:r>
                <a:rPr lang="en" b="1">
                  <a:solidFill>
                    <a:srgbClr val="00428C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 </a:t>
              </a:r>
              <a:r>
                <a:rPr lang="en" b="1">
                  <a:solidFill>
                    <a:srgbClr val="00FFFF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int</a:t>
              </a:r>
              <a:r>
                <a:rPr lang="en" b="1">
                  <a:solidFill>
                    <a:srgbClr val="00428C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 </a:t>
              </a:r>
              <a:r>
                <a:rPr lang="en" b="1">
                  <a:solidFill>
                    <a:srgbClr val="9900FF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add</a:t>
              </a:r>
              <a:r>
                <a:rPr lang="en" b="1">
                  <a:solidFill>
                    <a:srgbClr val="00428C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(</a:t>
              </a:r>
              <a:r>
                <a:rPr lang="en" b="1">
                  <a:solidFill>
                    <a:srgbClr val="FFFF00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int x, int y</a:t>
              </a:r>
              <a:r>
                <a:rPr lang="en" b="1">
                  <a:solidFill>
                    <a:srgbClr val="00428C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)</a:t>
              </a:r>
              <a:endParaRPr b="1"/>
            </a:p>
          </p:txBody>
        </p:sp>
        <p:sp>
          <p:nvSpPr>
            <p:cNvPr id="81" name="Google Shape;81;p16"/>
            <p:cNvSpPr txBox="1"/>
            <p:nvPr/>
          </p:nvSpPr>
          <p:spPr>
            <a:xfrm>
              <a:off x="1163025" y="1640250"/>
              <a:ext cx="3237000" cy="10467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73763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{</a:t>
              </a:r>
              <a:endParaRPr>
                <a:solidFill>
                  <a:srgbClr val="073763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73763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    int result = x + y;</a:t>
              </a:r>
              <a:endParaRPr>
                <a:solidFill>
                  <a:srgbClr val="073763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73763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    return result;</a:t>
              </a:r>
              <a:endParaRPr>
                <a:solidFill>
                  <a:srgbClr val="073763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73763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}</a:t>
              </a:r>
              <a:endParaRPr>
                <a:solidFill>
                  <a:srgbClr val="073763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19050" y="228540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 b="1"/>
              <a:t>Guess Game with methods</a:t>
            </a:r>
            <a:endParaRPr sz="2200"/>
          </a:p>
        </p:txBody>
      </p:sp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19050" y="228540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 u="sng" dirty="0">
                <a:solidFill>
                  <a:schemeClr val="hlink"/>
                </a:solidFill>
              </a:rPr>
              <a:t>Interview Questions</a:t>
            </a:r>
            <a:endParaRPr sz="2000" dirty="0"/>
          </a:p>
        </p:txBody>
      </p:sp>
      <p:pic>
        <p:nvPicPr>
          <p:cNvPr id="93" name="Google Shape;93;p18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0" y="1941125"/>
            <a:ext cx="9144000" cy="10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 b="1"/>
              <a:t>“People who say it cannot be done should not interrupt those who are doing it”</a:t>
            </a:r>
            <a:endParaRPr sz="2400"/>
          </a:p>
        </p:txBody>
      </p:sp>
      <p:pic>
        <p:nvPicPr>
          <p:cNvPr id="99" name="Google Shape;99;p19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/>
          <p:nvPr/>
        </p:nvSpPr>
        <p:spPr>
          <a:xfrm>
            <a:off x="358850" y="1004775"/>
            <a:ext cx="847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Microsoft Office PowerPoint</Application>
  <PresentationFormat>On-screen Show (16:9)</PresentationFormat>
  <Paragraphs>24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Book Antiqua</vt:lpstr>
      <vt:lpstr>Source Code Pro</vt:lpstr>
      <vt:lpstr>Simple Light</vt:lpstr>
      <vt:lpstr>PowerPoint Presentation</vt:lpstr>
      <vt:lpstr>PowerPoint Presentation</vt:lpstr>
      <vt:lpstr>PowerPoint Presentation</vt:lpstr>
      <vt:lpstr>PowerPoint Presentation</vt:lpstr>
      <vt:lpstr>Guess Game with methods</vt:lpstr>
      <vt:lpstr>Interview Questions</vt:lpstr>
      <vt:lpstr>“People who say it cannot be done should not interrupt those who are doing it”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Пользователь</cp:lastModifiedBy>
  <cp:revision>1</cp:revision>
  <dcterms:modified xsi:type="dcterms:W3CDTF">2023-02-23T14:09:18Z</dcterms:modified>
</cp:coreProperties>
</file>