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6858000" cy="9144000"/>
  <p:embeddedFontLst>
    <p:embeddedFont>
      <p:font typeface="Book Antiqua" panose="02040602050305030304" pitchFamily="18" charset="0"/>
      <p:regular r:id="rId17"/>
      <p:bold r:id="rId18"/>
      <p:italic r:id="rId19"/>
      <p:boldItalic r:id="rId20"/>
    </p:embeddedFont>
    <p:embeddedFont>
      <p:font typeface="Source Code Pro SemiBold" panose="020B0609030403020204" pitchFamily="49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4" d="100"/>
          <a:sy n="114" d="100"/>
        </p:scale>
        <p:origin x="562" y="8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164ea26b39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164ea26b39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14b32c0b0f6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14b32c0b0f6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fe7dbd5cd9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fe7dbd5cd9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fe7dbd5cd9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fe7dbd5cd9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14ffb7c2357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14ffb7c2357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14b32c0b0f6_0_2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14b32c0b0f6_0_2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14ffb7c2357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14ffb7c2357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14ffb7c2357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14ffb7c2357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14ffb7c2357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14ffb7c2357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139949be998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139949be998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164301ef6b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164301ef6b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164301ef6ba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164301ef6ba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139949be99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139949be99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14ffb7c2357_0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14ffb7c2357_0_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visualgo.net/en/recursion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816575" y="2267850"/>
            <a:ext cx="77337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600" b="1">
                <a:solidFill>
                  <a:schemeClr val="dk1"/>
                </a:solidFill>
              </a:rPr>
              <a:t>Recursion</a:t>
            </a:r>
            <a:endParaRPr sz="2600" b="1">
              <a:solidFill>
                <a:schemeClr val="dk1"/>
              </a:solidFill>
            </a:endParaRPr>
          </a:p>
        </p:txBody>
      </p:sp>
      <p:pic>
        <p:nvPicPr>
          <p:cNvPr id="55" name="Google Shape;55;p13"/>
          <p:cNvPicPr preferRelativeResize="0"/>
          <p:nvPr/>
        </p:nvPicPr>
        <p:blipFill rotWithShape="1">
          <a:blip r:embed="rId3">
            <a:alphaModFix/>
          </a:blip>
          <a:srcRect t="33150" b="31095"/>
          <a:stretch/>
        </p:blipFill>
        <p:spPr>
          <a:xfrm>
            <a:off x="19050" y="4525"/>
            <a:ext cx="1304100" cy="466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/>
        </p:nvSpPr>
        <p:spPr>
          <a:xfrm>
            <a:off x="0" y="367175"/>
            <a:ext cx="9144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Outline </a:t>
            </a:r>
            <a:endParaRPr sz="2000"/>
          </a:p>
        </p:txBody>
      </p:sp>
      <p:pic>
        <p:nvPicPr>
          <p:cNvPr id="61" name="Google Shape;61;p14"/>
          <p:cNvPicPr preferRelativeResize="0"/>
          <p:nvPr/>
        </p:nvPicPr>
        <p:blipFill rotWithShape="1">
          <a:blip r:embed="rId3">
            <a:alphaModFix/>
          </a:blip>
          <a:srcRect t="33150" b="31095"/>
          <a:stretch/>
        </p:blipFill>
        <p:spPr>
          <a:xfrm>
            <a:off x="19050" y="4525"/>
            <a:ext cx="1304100" cy="466275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4"/>
          <p:cNvSpPr txBox="1"/>
          <p:nvPr/>
        </p:nvSpPr>
        <p:spPr>
          <a:xfrm>
            <a:off x="1950150" y="1237275"/>
            <a:ext cx="5243700" cy="18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Recursions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Types of Recursion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Computing the Nth Fibonacci Number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Problem with recursion(StackOverFlow)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Visualizing Tree Recursion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Interview Questions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Summary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/>
        </p:nvSpPr>
        <p:spPr>
          <a:xfrm>
            <a:off x="302725" y="306125"/>
            <a:ext cx="85659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/>
              <a:t>Recursion</a:t>
            </a:r>
            <a:endParaRPr sz="2200" b="1"/>
          </a:p>
        </p:txBody>
      </p:sp>
      <p:pic>
        <p:nvPicPr>
          <p:cNvPr id="68" name="Google Shape;68;p15"/>
          <p:cNvPicPr preferRelativeResize="0"/>
          <p:nvPr/>
        </p:nvPicPr>
        <p:blipFill rotWithShape="1">
          <a:blip r:embed="rId3">
            <a:alphaModFix/>
          </a:blip>
          <a:srcRect t="33150" b="31095"/>
          <a:stretch/>
        </p:blipFill>
        <p:spPr>
          <a:xfrm>
            <a:off x="19050" y="4525"/>
            <a:ext cx="1304100" cy="466275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/>
          <p:cNvSpPr txBox="1"/>
          <p:nvPr/>
        </p:nvSpPr>
        <p:spPr>
          <a:xfrm>
            <a:off x="612325" y="965725"/>
            <a:ext cx="7859400" cy="19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method that calls itself is known as a recursive method. This process is known as recursion. A physical world example would be to place two parallel mirrors facing each other. Any object in between them would be reflected recursively.</a:t>
            </a:r>
            <a:endParaRPr/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 recursive algorithm must </a:t>
            </a:r>
            <a:r>
              <a:rPr lang="en" b="1"/>
              <a:t>call itself</a:t>
            </a:r>
            <a:r>
              <a:rPr lang="en"/>
              <a:t>, recursively.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 recursive algorithm must have a </a:t>
            </a:r>
            <a:r>
              <a:rPr lang="en" b="1"/>
              <a:t>base condition</a:t>
            </a:r>
            <a:r>
              <a:rPr lang="en"/>
              <a:t>.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 recursive algorithm </a:t>
            </a:r>
            <a:r>
              <a:rPr lang="en" b="1"/>
              <a:t>must change</a:t>
            </a:r>
            <a:r>
              <a:rPr lang="en"/>
              <a:t> its state and move toward the base </a:t>
            </a:r>
            <a:r>
              <a:rPr lang="en">
                <a:solidFill>
                  <a:schemeClr val="dk1"/>
                </a:solidFill>
              </a:rPr>
              <a:t>condition</a:t>
            </a:r>
            <a:r>
              <a:rPr lang="en"/>
              <a:t>.</a:t>
            </a:r>
            <a:endParaRPr/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/>
        </p:nvSpPr>
        <p:spPr>
          <a:xfrm>
            <a:off x="0" y="382325"/>
            <a:ext cx="9144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/>
              <a:t>Types of recursions</a:t>
            </a:r>
            <a:endParaRPr sz="2200" b="1"/>
          </a:p>
        </p:txBody>
      </p:sp>
      <p:pic>
        <p:nvPicPr>
          <p:cNvPr id="75" name="Google Shape;75;p16"/>
          <p:cNvPicPr preferRelativeResize="0"/>
          <p:nvPr/>
        </p:nvPicPr>
        <p:blipFill rotWithShape="1">
          <a:blip r:embed="rId3">
            <a:alphaModFix/>
          </a:blip>
          <a:srcRect t="33150" b="31095"/>
          <a:stretch/>
        </p:blipFill>
        <p:spPr>
          <a:xfrm>
            <a:off x="19050" y="4525"/>
            <a:ext cx="1304100" cy="466275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6"/>
          <p:cNvSpPr txBox="1"/>
          <p:nvPr/>
        </p:nvSpPr>
        <p:spPr>
          <a:xfrm>
            <a:off x="968600" y="996075"/>
            <a:ext cx="7734300" cy="14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Direct Recursion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Linear Recursion</a:t>
            </a:r>
            <a:endParaRPr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Tail Recursion</a:t>
            </a:r>
            <a:endParaRPr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Head Recursion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Tree Recursion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Indirect Recursion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>
            <a:spLocks noGrp="1"/>
          </p:cNvSpPr>
          <p:nvPr>
            <p:ph type="title"/>
          </p:nvPr>
        </p:nvSpPr>
        <p:spPr>
          <a:xfrm>
            <a:off x="311700" y="3409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/>
              <a:t>Linear Recursion</a:t>
            </a:r>
            <a:endParaRPr sz="2000" b="1"/>
          </a:p>
        </p:txBody>
      </p:sp>
      <p:pic>
        <p:nvPicPr>
          <p:cNvPr id="82" name="Google Shape;82;p17"/>
          <p:cNvPicPr preferRelativeResize="0"/>
          <p:nvPr/>
        </p:nvPicPr>
        <p:blipFill rotWithShape="1">
          <a:blip r:embed="rId3">
            <a:alphaModFix/>
          </a:blip>
          <a:srcRect t="33150" b="31095"/>
          <a:stretch/>
        </p:blipFill>
        <p:spPr>
          <a:xfrm>
            <a:off x="19050" y="4525"/>
            <a:ext cx="1304100" cy="466275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7"/>
          <p:cNvSpPr txBox="1"/>
          <p:nvPr/>
        </p:nvSpPr>
        <p:spPr>
          <a:xfrm>
            <a:off x="759750" y="1100050"/>
            <a:ext cx="7605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If a recursive function calling itself for one time then it’s known as </a:t>
            </a:r>
            <a:r>
              <a:rPr lang="en" b="1"/>
              <a:t>Linear Recursion</a:t>
            </a:r>
            <a:r>
              <a:rPr lang="en"/>
              <a:t>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>
            <a:spLocks noGrp="1"/>
          </p:cNvSpPr>
          <p:nvPr>
            <p:ph type="title"/>
          </p:nvPr>
        </p:nvSpPr>
        <p:spPr>
          <a:xfrm>
            <a:off x="311700" y="3409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/>
              <a:t>Tail Recursion</a:t>
            </a:r>
            <a:endParaRPr sz="2000" b="1"/>
          </a:p>
        </p:txBody>
      </p:sp>
      <p:pic>
        <p:nvPicPr>
          <p:cNvPr id="89" name="Google Shape;89;p18"/>
          <p:cNvPicPr preferRelativeResize="0"/>
          <p:nvPr/>
        </p:nvPicPr>
        <p:blipFill rotWithShape="1">
          <a:blip r:embed="rId3">
            <a:alphaModFix/>
          </a:blip>
          <a:srcRect t="33150" b="31095"/>
          <a:stretch/>
        </p:blipFill>
        <p:spPr>
          <a:xfrm>
            <a:off x="19050" y="4525"/>
            <a:ext cx="1304100" cy="466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8"/>
          <p:cNvPicPr preferRelativeResize="0"/>
          <p:nvPr/>
        </p:nvPicPr>
        <p:blipFill rotWithShape="1">
          <a:blip r:embed="rId4">
            <a:alphaModFix/>
          </a:blip>
          <a:srcRect l="3043" t="4006" r="26840" b="29215"/>
          <a:stretch/>
        </p:blipFill>
        <p:spPr>
          <a:xfrm>
            <a:off x="1454700" y="913625"/>
            <a:ext cx="5637456" cy="4026974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8"/>
          <p:cNvSpPr txBox="1"/>
          <p:nvPr/>
        </p:nvSpPr>
        <p:spPr>
          <a:xfrm>
            <a:off x="5029200" y="990600"/>
            <a:ext cx="3211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1155CC"/>
              </a:solidFill>
              <a:latin typeface="Source Code Pro SemiBold"/>
              <a:ea typeface="Source Code Pro SemiBold"/>
              <a:cs typeface="Source Code Pro SemiBold"/>
              <a:sym typeface="Source Code Pro SemiBo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1155CC"/>
              </a:solidFill>
              <a:latin typeface="Source Code Pro SemiBold"/>
              <a:ea typeface="Source Code Pro SemiBold"/>
              <a:cs typeface="Source Code Pro SemiBold"/>
              <a:sym typeface="Source Code Pro SemiBol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>
            <a:spLocks noGrp="1"/>
          </p:cNvSpPr>
          <p:nvPr>
            <p:ph type="title"/>
          </p:nvPr>
        </p:nvSpPr>
        <p:spPr>
          <a:xfrm>
            <a:off x="311700" y="3409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/>
              <a:t>Head Recursion</a:t>
            </a:r>
            <a:endParaRPr sz="2000" b="1"/>
          </a:p>
        </p:txBody>
      </p:sp>
      <p:pic>
        <p:nvPicPr>
          <p:cNvPr id="97" name="Google Shape;97;p19"/>
          <p:cNvPicPr preferRelativeResize="0"/>
          <p:nvPr/>
        </p:nvPicPr>
        <p:blipFill rotWithShape="1">
          <a:blip r:embed="rId3">
            <a:alphaModFix/>
          </a:blip>
          <a:srcRect t="33150" b="31095"/>
          <a:stretch/>
        </p:blipFill>
        <p:spPr>
          <a:xfrm>
            <a:off x="19050" y="4525"/>
            <a:ext cx="1304100" cy="466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9"/>
          <p:cNvPicPr preferRelativeResize="0"/>
          <p:nvPr/>
        </p:nvPicPr>
        <p:blipFill rotWithShape="1">
          <a:blip r:embed="rId4">
            <a:alphaModFix/>
          </a:blip>
          <a:srcRect l="26553" t="6130" r="7391" b="18186"/>
          <a:stretch/>
        </p:blipFill>
        <p:spPr>
          <a:xfrm>
            <a:off x="1816025" y="843325"/>
            <a:ext cx="5034701" cy="418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>
            <a:spLocks noGrp="1"/>
          </p:cNvSpPr>
          <p:nvPr>
            <p:ph type="title"/>
          </p:nvPr>
        </p:nvSpPr>
        <p:spPr>
          <a:xfrm>
            <a:off x="19050" y="340925"/>
            <a:ext cx="9144000" cy="105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22" b="1"/>
              <a:t>Tree Recursion</a:t>
            </a:r>
            <a:endParaRPr sz="2222" b="1"/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0967"/>
              <a:buFont typeface="Arial"/>
              <a:buNone/>
            </a:pPr>
            <a:r>
              <a:rPr lang="en" sz="1550"/>
              <a:t> if a recursive function calling itself for more than one time then it’s known as </a:t>
            </a:r>
            <a:r>
              <a:rPr lang="en" sz="1550" b="1"/>
              <a:t>Tree Recursion</a:t>
            </a:r>
            <a:r>
              <a:rPr lang="en" sz="1550"/>
              <a:t>.</a:t>
            </a:r>
            <a:endParaRPr sz="1550" b="1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1"/>
          </a:p>
        </p:txBody>
      </p:sp>
      <p:pic>
        <p:nvPicPr>
          <p:cNvPr id="104" name="Google Shape;104;p20"/>
          <p:cNvPicPr preferRelativeResize="0"/>
          <p:nvPr/>
        </p:nvPicPr>
        <p:blipFill rotWithShape="1">
          <a:blip r:embed="rId3">
            <a:alphaModFix/>
          </a:blip>
          <a:srcRect t="33150" b="31095"/>
          <a:stretch/>
        </p:blipFill>
        <p:spPr>
          <a:xfrm>
            <a:off x="19050" y="4525"/>
            <a:ext cx="1304100" cy="466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20"/>
          <p:cNvPicPr preferRelativeResize="0"/>
          <p:nvPr/>
        </p:nvPicPr>
        <p:blipFill rotWithShape="1">
          <a:blip r:embed="rId4">
            <a:alphaModFix/>
          </a:blip>
          <a:srcRect t="5164" r="18988" b="23797"/>
          <a:stretch/>
        </p:blipFill>
        <p:spPr>
          <a:xfrm>
            <a:off x="578075" y="1253829"/>
            <a:ext cx="8068524" cy="3683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 txBox="1">
            <a:spLocks noGrp="1"/>
          </p:cNvSpPr>
          <p:nvPr>
            <p:ph type="title"/>
          </p:nvPr>
        </p:nvSpPr>
        <p:spPr>
          <a:xfrm>
            <a:off x="311700" y="3409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/>
              <a:t>Indirect Recursion</a:t>
            </a:r>
            <a:endParaRPr sz="2000" b="1"/>
          </a:p>
        </p:txBody>
      </p:sp>
      <p:pic>
        <p:nvPicPr>
          <p:cNvPr id="111" name="Google Shape;111;p21"/>
          <p:cNvPicPr preferRelativeResize="0"/>
          <p:nvPr/>
        </p:nvPicPr>
        <p:blipFill rotWithShape="1">
          <a:blip r:embed="rId3">
            <a:alphaModFix/>
          </a:blip>
          <a:srcRect t="33150" b="31095"/>
          <a:stretch/>
        </p:blipFill>
        <p:spPr>
          <a:xfrm>
            <a:off x="19050" y="4525"/>
            <a:ext cx="1304100" cy="466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21"/>
          <p:cNvPicPr preferRelativeResize="0"/>
          <p:nvPr/>
        </p:nvPicPr>
        <p:blipFill rotWithShape="1">
          <a:blip r:embed="rId4">
            <a:alphaModFix/>
          </a:blip>
          <a:srcRect l="19588" t="10588" r="30617" b="36760"/>
          <a:stretch/>
        </p:blipFill>
        <p:spPr>
          <a:xfrm>
            <a:off x="2549200" y="1176700"/>
            <a:ext cx="3988699" cy="316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22"/>
          <p:cNvPicPr preferRelativeResize="0"/>
          <p:nvPr/>
        </p:nvPicPr>
        <p:blipFill rotWithShape="1">
          <a:blip r:embed="rId3">
            <a:alphaModFix/>
          </a:blip>
          <a:srcRect t="33150" b="31095"/>
          <a:stretch/>
        </p:blipFill>
        <p:spPr>
          <a:xfrm>
            <a:off x="19050" y="4525"/>
            <a:ext cx="1304100" cy="466275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2"/>
          <p:cNvSpPr txBox="1">
            <a:spLocks noGrp="1"/>
          </p:cNvSpPr>
          <p:nvPr>
            <p:ph type="title"/>
          </p:nvPr>
        </p:nvSpPr>
        <p:spPr>
          <a:xfrm>
            <a:off x="2350" y="2033850"/>
            <a:ext cx="9144000" cy="107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000" b="1"/>
              <a:t>Computing the Nth Fibonacci Number</a:t>
            </a:r>
            <a:endParaRPr sz="1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23"/>
          <p:cNvPicPr preferRelativeResize="0"/>
          <p:nvPr/>
        </p:nvPicPr>
        <p:blipFill rotWithShape="1">
          <a:blip r:embed="rId3">
            <a:alphaModFix/>
          </a:blip>
          <a:srcRect t="33150" b="31095"/>
          <a:stretch/>
        </p:blipFill>
        <p:spPr>
          <a:xfrm>
            <a:off x="19050" y="4525"/>
            <a:ext cx="1304100" cy="466275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23"/>
          <p:cNvSpPr txBox="1">
            <a:spLocks noGrp="1"/>
          </p:cNvSpPr>
          <p:nvPr>
            <p:ph type="title"/>
          </p:nvPr>
        </p:nvSpPr>
        <p:spPr>
          <a:xfrm>
            <a:off x="0" y="2173050"/>
            <a:ext cx="9144000" cy="79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000" b="1"/>
              <a:t>Problem With Recursion(StackOverFlow)</a:t>
            </a:r>
            <a:endParaRPr sz="1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24"/>
          <p:cNvPicPr preferRelativeResize="0"/>
          <p:nvPr/>
        </p:nvPicPr>
        <p:blipFill rotWithShape="1">
          <a:blip r:embed="rId3">
            <a:alphaModFix/>
          </a:blip>
          <a:srcRect t="33150" b="31095"/>
          <a:stretch/>
        </p:blipFill>
        <p:spPr>
          <a:xfrm>
            <a:off x="19050" y="4525"/>
            <a:ext cx="1304100" cy="466275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4"/>
          <p:cNvSpPr txBox="1">
            <a:spLocks noGrp="1"/>
          </p:cNvSpPr>
          <p:nvPr>
            <p:ph type="title"/>
          </p:nvPr>
        </p:nvSpPr>
        <p:spPr>
          <a:xfrm>
            <a:off x="0" y="1788725"/>
            <a:ext cx="9144000" cy="107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000" b="1" u="sng">
                <a:solidFill>
                  <a:schemeClr val="hlink"/>
                </a:solidFill>
                <a:hlinkClick r:id="rId4"/>
              </a:rPr>
              <a:t>Visualizing Tree Recursion</a:t>
            </a:r>
            <a:endParaRPr sz="2000" b="1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5"/>
          <p:cNvSpPr txBox="1">
            <a:spLocks noGrp="1"/>
          </p:cNvSpPr>
          <p:nvPr>
            <p:ph type="title"/>
          </p:nvPr>
        </p:nvSpPr>
        <p:spPr>
          <a:xfrm>
            <a:off x="19050" y="2285400"/>
            <a:ext cx="914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200" b="1" u="sng" dirty="0">
                <a:solidFill>
                  <a:schemeClr val="hlink"/>
                </a:solidFill>
              </a:rPr>
              <a:t>Interview Questions</a:t>
            </a:r>
            <a:endParaRPr sz="2200" dirty="0"/>
          </a:p>
        </p:txBody>
      </p:sp>
      <p:pic>
        <p:nvPicPr>
          <p:cNvPr id="136" name="Google Shape;136;p25"/>
          <p:cNvPicPr preferRelativeResize="0"/>
          <p:nvPr/>
        </p:nvPicPr>
        <p:blipFill rotWithShape="1">
          <a:blip r:embed="rId3">
            <a:alphaModFix/>
          </a:blip>
          <a:srcRect t="33150" b="31095"/>
          <a:stretch/>
        </p:blipFill>
        <p:spPr>
          <a:xfrm>
            <a:off x="19050" y="4525"/>
            <a:ext cx="1304100" cy="466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6"/>
          <p:cNvSpPr txBox="1">
            <a:spLocks noGrp="1"/>
          </p:cNvSpPr>
          <p:nvPr>
            <p:ph type="title"/>
          </p:nvPr>
        </p:nvSpPr>
        <p:spPr>
          <a:xfrm>
            <a:off x="0" y="1941125"/>
            <a:ext cx="9144000" cy="112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650" b="1"/>
              <a:t>I am who I am today because of the choices </a:t>
            </a:r>
            <a:endParaRPr sz="2650" b="1"/>
          </a:p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650" b="1"/>
              <a:t>I made yesterday</a:t>
            </a:r>
            <a:endParaRPr sz="2650" b="1"/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2000"/>
          </a:p>
        </p:txBody>
      </p:sp>
      <p:pic>
        <p:nvPicPr>
          <p:cNvPr id="142" name="Google Shape;142;p26"/>
          <p:cNvPicPr preferRelativeResize="0"/>
          <p:nvPr/>
        </p:nvPicPr>
        <p:blipFill rotWithShape="1">
          <a:blip r:embed="rId3">
            <a:alphaModFix/>
          </a:blip>
          <a:srcRect t="33150" b="31095"/>
          <a:stretch/>
        </p:blipFill>
        <p:spPr>
          <a:xfrm>
            <a:off x="19050" y="4525"/>
            <a:ext cx="1304100" cy="466275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6"/>
          <p:cNvSpPr txBox="1"/>
          <p:nvPr/>
        </p:nvSpPr>
        <p:spPr>
          <a:xfrm>
            <a:off x="358850" y="1004775"/>
            <a:ext cx="8473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189</Words>
  <Application>Microsoft Office PowerPoint</Application>
  <PresentationFormat>On-screen Show (16:9)</PresentationFormat>
  <Paragraphs>35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Book Antiqua</vt:lpstr>
      <vt:lpstr>Source Code Pro SemiBold</vt:lpstr>
      <vt:lpstr>Simple Light</vt:lpstr>
      <vt:lpstr>PowerPoint Presentation</vt:lpstr>
      <vt:lpstr>PowerPoint Presentation</vt:lpstr>
      <vt:lpstr>PowerPoint Presentation</vt:lpstr>
      <vt:lpstr>PowerPoint Presentation</vt:lpstr>
      <vt:lpstr>Linear Recursion</vt:lpstr>
      <vt:lpstr>Tail Recursion</vt:lpstr>
      <vt:lpstr>Head Recursion</vt:lpstr>
      <vt:lpstr>Tree Recursion  if a recursive function calling itself for more than one time then it’s known as Tree Recursion. </vt:lpstr>
      <vt:lpstr>Indirect Recursion</vt:lpstr>
      <vt:lpstr>Computing the Nth Fibonacci Number</vt:lpstr>
      <vt:lpstr>Problem With Recursion(StackOverFlow)</vt:lpstr>
      <vt:lpstr>Visualizing Tree Recursion</vt:lpstr>
      <vt:lpstr>Interview Questions</vt:lpstr>
      <vt:lpstr>I am who I am today because of the choices  I made yesterday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Пользователь</cp:lastModifiedBy>
  <cp:revision>1</cp:revision>
  <dcterms:modified xsi:type="dcterms:W3CDTF">2023-02-23T14:09:46Z</dcterms:modified>
</cp:coreProperties>
</file>