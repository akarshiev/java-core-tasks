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Book Antiqua" panose="02040602050305030304" pitchFamily="18" charset="0"/>
      <p:regular r:id="rId14"/>
      <p:bold r:id="rId15"/>
      <p:italic r:id="rId16"/>
      <p:boldItalic r:id="rId17"/>
    </p:embeddedFont>
    <p:embeddedFont>
      <p:font typeface="Source Code Pro SemiBold" panose="020B0609030403020204" pitchFamily="49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3AA70AE-578D-40C8-81DD-9A97245A11BE}">
  <a:tblStyle styleId="{23AA70AE-578D-40C8-81DD-9A97245A11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491bba5938_0_2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491bba5938_0_29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4ffd328c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4ffd328c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4ffd328c3e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4ffd328c3e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6436090a5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6436090a5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64e04a1ae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64e04a1ae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ffd328c3e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4ffd328c3e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4ffd328c3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4ffd328c3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4ffd328c3e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4ffd328c3e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4ffb7c2357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4ffb7c2357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39930b820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39930b820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ffb7c2357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4ffb7c2357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ocs.oracle.com/javase/8/docs/api/java/util/Random.html#method.summary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1125" y="2279250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00" b="1">
                <a:solidFill>
                  <a:schemeClr val="dk1"/>
                </a:solidFill>
              </a:rPr>
              <a:t>Arrays</a:t>
            </a:r>
            <a:endParaRPr sz="2600" b="1">
              <a:solidFill>
                <a:schemeClr val="dk1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813050" y="1385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Outline </a:t>
            </a:r>
            <a:endParaRPr sz="2000"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1506800" y="925525"/>
            <a:ext cx="6397200" cy="2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Array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Array in java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Random access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Multi dimensional array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Jagged/Ragged array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System.arraycopy()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Random Class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Interview Questions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0" y="3057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Array</a:t>
            </a:r>
            <a:endParaRPr sz="2000"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581100" y="843675"/>
            <a:ext cx="7981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computer science, an array is a data structure consisting of a collection of elements (values or variables), each identified by at least one array index or key.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t="-4810" b="44908"/>
          <a:stretch/>
        </p:blipFill>
        <p:spPr>
          <a:xfrm>
            <a:off x="681500" y="1585150"/>
            <a:ext cx="7881399" cy="94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4">
            <a:alphaModFix/>
          </a:blip>
          <a:srcRect t="57719" b="6155"/>
          <a:stretch/>
        </p:blipFill>
        <p:spPr>
          <a:xfrm>
            <a:off x="681500" y="2651950"/>
            <a:ext cx="788139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0" y="29170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Array in java</a:t>
            </a:r>
            <a:endParaRPr sz="2000"/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997350" y="913625"/>
            <a:ext cx="72273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Array reference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Creating Arrays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Accessing Elements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Default value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Traversing Arrays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Anonymous array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How Random Access performed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0" y="3057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Random Access</a:t>
            </a:r>
            <a:endParaRPr sz="2000"/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" name="Google Shape;85;p17"/>
          <p:cNvGraphicFramePr/>
          <p:nvPr/>
        </p:nvGraphicFramePr>
        <p:xfrm>
          <a:off x="743500" y="169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{23AA70AE-578D-40C8-81DD-9A97245A11BE}</a:tableStyleId>
              </a:tblPr>
              <a:tblGrid>
                <a:gridCol w="7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6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6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6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6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6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6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2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….</a:t>
                      </a:r>
                      <a:endParaRPr sz="1000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00000000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00000010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00000000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01100110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00001100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01100110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00000000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00000110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….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6" name="Google Shape;86;p17"/>
          <p:cNvSpPr txBox="1"/>
          <p:nvPr/>
        </p:nvSpPr>
        <p:spPr>
          <a:xfrm>
            <a:off x="743525" y="861350"/>
            <a:ext cx="776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D85C6"/>
                </a:solidFill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short[] numbers = new short[]{2, 102, 3174, 6};</a:t>
            </a:r>
            <a:endParaRPr sz="1200">
              <a:solidFill>
                <a:srgbClr val="3D85C6"/>
              </a:solidFill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  <p:grpSp>
        <p:nvGrpSpPr>
          <p:cNvPr id="87" name="Google Shape;87;p17"/>
          <p:cNvGrpSpPr/>
          <p:nvPr/>
        </p:nvGrpSpPr>
        <p:grpSpPr>
          <a:xfrm>
            <a:off x="1551650" y="1209350"/>
            <a:ext cx="1500000" cy="418800"/>
            <a:chOff x="1551650" y="1209350"/>
            <a:chExt cx="1500000" cy="418800"/>
          </a:xfrm>
        </p:grpSpPr>
        <p:sp>
          <p:nvSpPr>
            <p:cNvPr id="88" name="Google Shape;88;p17"/>
            <p:cNvSpPr/>
            <p:nvPr/>
          </p:nvSpPr>
          <p:spPr>
            <a:xfrm rot="5400000">
              <a:off x="2223650" y="800150"/>
              <a:ext cx="156000" cy="15000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7"/>
            <p:cNvSpPr txBox="1"/>
            <p:nvPr/>
          </p:nvSpPr>
          <p:spPr>
            <a:xfrm>
              <a:off x="2173900" y="1209350"/>
              <a:ext cx="31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2</a:t>
              </a:r>
              <a:endParaRPr sz="1200"/>
            </a:p>
          </p:txBody>
        </p:sp>
      </p:grpSp>
      <p:grpSp>
        <p:nvGrpSpPr>
          <p:cNvPr id="90" name="Google Shape;90;p17"/>
          <p:cNvGrpSpPr/>
          <p:nvPr/>
        </p:nvGrpSpPr>
        <p:grpSpPr>
          <a:xfrm>
            <a:off x="3094700" y="1209350"/>
            <a:ext cx="1500000" cy="418800"/>
            <a:chOff x="1551650" y="1209350"/>
            <a:chExt cx="1500000" cy="418800"/>
          </a:xfrm>
        </p:grpSpPr>
        <p:sp>
          <p:nvSpPr>
            <p:cNvPr id="91" name="Google Shape;91;p17"/>
            <p:cNvSpPr/>
            <p:nvPr/>
          </p:nvSpPr>
          <p:spPr>
            <a:xfrm rot="5400000">
              <a:off x="2223650" y="800150"/>
              <a:ext cx="156000" cy="15000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7"/>
            <p:cNvSpPr txBox="1"/>
            <p:nvPr/>
          </p:nvSpPr>
          <p:spPr>
            <a:xfrm>
              <a:off x="1987025" y="1209350"/>
              <a:ext cx="607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102</a:t>
              </a:r>
              <a:endParaRPr sz="1200"/>
            </a:p>
          </p:txBody>
        </p:sp>
      </p:grpSp>
      <p:grpSp>
        <p:nvGrpSpPr>
          <p:cNvPr id="93" name="Google Shape;93;p17"/>
          <p:cNvGrpSpPr/>
          <p:nvPr/>
        </p:nvGrpSpPr>
        <p:grpSpPr>
          <a:xfrm>
            <a:off x="4637750" y="1209350"/>
            <a:ext cx="1500000" cy="418800"/>
            <a:chOff x="1551650" y="1209350"/>
            <a:chExt cx="1500000" cy="418800"/>
          </a:xfrm>
        </p:grpSpPr>
        <p:sp>
          <p:nvSpPr>
            <p:cNvPr id="94" name="Google Shape;94;p17"/>
            <p:cNvSpPr/>
            <p:nvPr/>
          </p:nvSpPr>
          <p:spPr>
            <a:xfrm rot="5400000">
              <a:off x="2223650" y="800150"/>
              <a:ext cx="156000" cy="15000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7"/>
            <p:cNvSpPr txBox="1"/>
            <p:nvPr/>
          </p:nvSpPr>
          <p:spPr>
            <a:xfrm>
              <a:off x="1987025" y="1209350"/>
              <a:ext cx="607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3174</a:t>
              </a:r>
              <a:endParaRPr sz="1200"/>
            </a:p>
          </p:txBody>
        </p:sp>
      </p:grpSp>
      <p:grpSp>
        <p:nvGrpSpPr>
          <p:cNvPr id="96" name="Google Shape;96;p17"/>
          <p:cNvGrpSpPr/>
          <p:nvPr/>
        </p:nvGrpSpPr>
        <p:grpSpPr>
          <a:xfrm>
            <a:off x="6199850" y="1209350"/>
            <a:ext cx="1500000" cy="418800"/>
            <a:chOff x="1551650" y="1209350"/>
            <a:chExt cx="1500000" cy="418800"/>
          </a:xfrm>
        </p:grpSpPr>
        <p:sp>
          <p:nvSpPr>
            <p:cNvPr id="97" name="Google Shape;97;p17"/>
            <p:cNvSpPr/>
            <p:nvPr/>
          </p:nvSpPr>
          <p:spPr>
            <a:xfrm rot="5400000">
              <a:off x="2223650" y="800150"/>
              <a:ext cx="156000" cy="15000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7"/>
            <p:cNvSpPr txBox="1"/>
            <p:nvPr/>
          </p:nvSpPr>
          <p:spPr>
            <a:xfrm>
              <a:off x="1987025" y="1209350"/>
              <a:ext cx="607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6</a:t>
              </a:r>
              <a:endParaRPr sz="1200"/>
            </a:p>
          </p:txBody>
        </p:sp>
      </p:grpSp>
      <p:graphicFrame>
        <p:nvGraphicFramePr>
          <p:cNvPr id="99" name="Google Shape;99;p17"/>
          <p:cNvGraphicFramePr/>
          <p:nvPr/>
        </p:nvGraphicFramePr>
        <p:xfrm>
          <a:off x="743500" y="260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{23AA70AE-578D-40C8-81DD-9A97245A11BE}</a:tableStyleId>
              </a:tblPr>
              <a:tblGrid>
                <a:gridCol w="7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6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6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6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6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6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6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2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2001</a:t>
                      </a:r>
                      <a:endParaRPr sz="1000" b="1"/>
                    </a:p>
                  </a:txBody>
                  <a:tcPr marL="91425" marR="91425" marT="91425" marB="91425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2002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2003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2004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2005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2006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2007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2008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2009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</a:rPr>
                        <a:t>2010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00" name="Google Shape;100;p17"/>
          <p:cNvGrpSpPr/>
          <p:nvPr/>
        </p:nvGrpSpPr>
        <p:grpSpPr>
          <a:xfrm>
            <a:off x="1018350" y="2999775"/>
            <a:ext cx="982175" cy="572700"/>
            <a:chOff x="1013750" y="2140600"/>
            <a:chExt cx="982175" cy="572700"/>
          </a:xfrm>
        </p:grpSpPr>
        <p:sp>
          <p:nvSpPr>
            <p:cNvPr id="101" name="Google Shape;101;p17"/>
            <p:cNvSpPr/>
            <p:nvPr/>
          </p:nvSpPr>
          <p:spPr>
            <a:xfrm>
              <a:off x="1815325" y="2140600"/>
              <a:ext cx="180600" cy="572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1013750" y="2272325"/>
              <a:ext cx="9024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base index</a:t>
              </a:r>
              <a:endParaRPr sz="1100"/>
            </a:p>
          </p:txBody>
        </p:sp>
      </p:grpSp>
      <p:sp>
        <p:nvSpPr>
          <p:cNvPr id="103" name="Google Shape;103;p17"/>
          <p:cNvSpPr txBox="1"/>
          <p:nvPr/>
        </p:nvSpPr>
        <p:spPr>
          <a:xfrm>
            <a:off x="2059050" y="3931950"/>
            <a:ext cx="506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numbers[n] = base_index + data_type_size * n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  <p:graphicFrame>
        <p:nvGraphicFramePr>
          <p:cNvPr id="104" name="Google Shape;104;p17"/>
          <p:cNvGraphicFramePr/>
          <p:nvPr/>
        </p:nvGraphicFramePr>
        <p:xfrm>
          <a:off x="1520100" y="214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{23AA70AE-578D-40C8-81DD-9A97245A11BE}</a:tableStyleId>
              </a:tblPr>
              <a:tblGrid>
                <a:gridCol w="155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2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</a:rPr>
                        <a:t>1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</a:rPr>
                        <a:t>2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</a:rPr>
                        <a:t>3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5" name="Google Shape;105;p17"/>
          <p:cNvSpPr/>
          <p:nvPr/>
        </p:nvSpPr>
        <p:spPr>
          <a:xfrm>
            <a:off x="4944125" y="2999775"/>
            <a:ext cx="180600" cy="5727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743500" y="2132300"/>
            <a:ext cx="579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chemeClr val="dk1"/>
                </a:solidFill>
              </a:rPr>
              <a:t>index</a:t>
            </a:r>
            <a:endParaRPr/>
          </a:p>
        </p:txBody>
      </p:sp>
      <p:sp>
        <p:nvSpPr>
          <p:cNvPr id="107" name="Google Shape;107;p17"/>
          <p:cNvSpPr txBox="1"/>
          <p:nvPr/>
        </p:nvSpPr>
        <p:spPr>
          <a:xfrm>
            <a:off x="7750100" y="2958825"/>
            <a:ext cx="81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Memory address</a:t>
            </a: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235500" y="264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50" b="1"/>
              <a:t>Multi dimensional array</a:t>
            </a:r>
            <a:endParaRPr sz="2650"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pic>
        <p:nvPicPr>
          <p:cNvPr id="113" name="Google Shape;113;p18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/>
        </p:nvSpPr>
        <p:spPr>
          <a:xfrm>
            <a:off x="358850" y="1004775"/>
            <a:ext cx="847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" name="Google Shape;115;p18"/>
          <p:cNvPicPr preferRelativeResize="0"/>
          <p:nvPr/>
        </p:nvPicPr>
        <p:blipFill rotWithShape="1">
          <a:blip r:embed="rId4">
            <a:alphaModFix/>
          </a:blip>
          <a:srcRect l="425" t="12631" r="12822" b="21165"/>
          <a:stretch/>
        </p:blipFill>
        <p:spPr>
          <a:xfrm>
            <a:off x="685225" y="963750"/>
            <a:ext cx="7756001" cy="266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235500" y="264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50" b="1"/>
              <a:t>Jagged/Ragged array</a:t>
            </a:r>
            <a:endParaRPr sz="2650"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pic>
        <p:nvPicPr>
          <p:cNvPr id="121" name="Google Shape;121;p19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358850" y="1004775"/>
            <a:ext cx="847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" name="Google Shape;123;p19"/>
          <p:cNvPicPr preferRelativeResize="0"/>
          <p:nvPr/>
        </p:nvPicPr>
        <p:blipFill rotWithShape="1">
          <a:blip r:embed="rId4">
            <a:alphaModFix/>
          </a:blip>
          <a:srcRect l="7976" t="12827" r="32002" b="25887"/>
          <a:stretch/>
        </p:blipFill>
        <p:spPr>
          <a:xfrm>
            <a:off x="811825" y="852375"/>
            <a:ext cx="6906102" cy="3174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235500" y="264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b="1"/>
              <a:t>System.arraycopy()</a:t>
            </a:r>
            <a:endParaRPr sz="2200"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pic>
        <p:nvPicPr>
          <p:cNvPr id="129" name="Google Shape;129;p20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647825" y="928575"/>
            <a:ext cx="780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arraycopy(Object src,  int  srcPos, Object dest, int destPos, int length);</a:t>
            </a:r>
            <a:endParaRPr sz="1200">
              <a:solidFill>
                <a:srgbClr val="3C78D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1" name="Google Shape;131;p20"/>
          <p:cNvPicPr preferRelativeResize="0"/>
          <p:nvPr/>
        </p:nvPicPr>
        <p:blipFill rotWithShape="1">
          <a:blip r:embed="rId4">
            <a:alphaModFix/>
          </a:blip>
          <a:srcRect l="18928" t="6201" r="28985" b="37371"/>
          <a:stretch/>
        </p:blipFill>
        <p:spPr>
          <a:xfrm>
            <a:off x="1596025" y="1541650"/>
            <a:ext cx="6272548" cy="305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0" y="3011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 b="1"/>
              <a:t>Random Class</a:t>
            </a:r>
            <a:endParaRPr sz="2400"/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668575" y="1004775"/>
            <a:ext cx="775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generate random numbers</a:t>
            </a:r>
            <a:endParaRPr/>
          </a:p>
        </p:txBody>
      </p:sp>
      <p:sp>
        <p:nvSpPr>
          <p:cNvPr id="139" name="Google Shape;139;p21"/>
          <p:cNvSpPr txBox="1"/>
          <p:nvPr/>
        </p:nvSpPr>
        <p:spPr>
          <a:xfrm>
            <a:off x="6918100" y="4459725"/>
            <a:ext cx="219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Oracle Documentation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19050" y="228540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 b="1" u="sng" dirty="0">
                <a:solidFill>
                  <a:schemeClr val="hlink"/>
                </a:solidFill>
              </a:rPr>
              <a:t>Interview Questions</a:t>
            </a:r>
            <a:endParaRPr sz="2200" dirty="0"/>
          </a:p>
        </p:txBody>
      </p:sp>
      <p:pic>
        <p:nvPicPr>
          <p:cNvPr id="145" name="Google Shape;145;p22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0" y="1941125"/>
            <a:ext cx="9144000" cy="9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 b="1"/>
              <a:t>“Whatever we believe about ourselves and our ability comes true for us”</a:t>
            </a:r>
            <a:endParaRPr sz="2400"/>
          </a:p>
        </p:txBody>
      </p:sp>
      <p:pic>
        <p:nvPicPr>
          <p:cNvPr id="151" name="Google Shape;151;p2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 txBox="1"/>
          <p:nvPr/>
        </p:nvSpPr>
        <p:spPr>
          <a:xfrm>
            <a:off x="358850" y="1004775"/>
            <a:ext cx="847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Office PowerPoint</Application>
  <PresentationFormat>On-screen Show (16:9)</PresentationFormat>
  <Paragraphs>63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Courier New</vt:lpstr>
      <vt:lpstr>Book Antiqua</vt:lpstr>
      <vt:lpstr>Source Code Pro SemiBold</vt:lpstr>
      <vt:lpstr>Simple Light</vt:lpstr>
      <vt:lpstr>PowerPoint Presentation</vt:lpstr>
      <vt:lpstr>PowerPoint Presentation</vt:lpstr>
      <vt:lpstr>Array</vt:lpstr>
      <vt:lpstr>Array in java</vt:lpstr>
      <vt:lpstr>Random Access</vt:lpstr>
      <vt:lpstr>Multi dimensional array </vt:lpstr>
      <vt:lpstr>Jagged/Ragged array </vt:lpstr>
      <vt:lpstr>System.arraycopy() </vt:lpstr>
      <vt:lpstr>Random Class</vt:lpstr>
      <vt:lpstr>Interview Questions</vt:lpstr>
      <vt:lpstr>“Whatever we believe about ourselves and our ability comes true for us”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Пользователь</cp:lastModifiedBy>
  <cp:revision>1</cp:revision>
  <dcterms:modified xsi:type="dcterms:W3CDTF">2023-02-23T14:10:32Z</dcterms:modified>
</cp:coreProperties>
</file>