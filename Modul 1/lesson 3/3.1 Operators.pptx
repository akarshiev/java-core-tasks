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21"/>
      <p:bold r:id="rId22"/>
      <p:italic r:id="rId23"/>
      <p:boldItalic r:id="rId24"/>
    </p:embeddedFont>
    <p:embeddedFont>
      <p:font typeface="Source Code Pro SemiBold" panose="020B0609030403020204" pitchFamily="49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8288F0-6C82-45F3-9BC4-2A6F4FE34CBD}">
  <a:tblStyle styleId="{3E8288F0-6C82-45F3-9BC4-2A6F4FE34C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91bba5938_0_2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91bba5938_0_2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91bba5938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91bba5938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491bba5938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491bba5938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620f152a8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620f152a8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620f152a8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620f152a8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620f152a8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620f152a8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12f997f1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412f997f1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12f997f1b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412f997f1b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12f997f1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412f997f1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8bff8c6e4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38bff8c6e4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4135b85c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4135b85cf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8bff8c6e4_0_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8bff8c6e4_0_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6ce60a4f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6ce60a4f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135b85cf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4135b85cf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38bff8c6e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38bff8c6e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38bff8c6e4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38bff8c6e4_0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4135b85cf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4135b85cf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38bff8c6e4_0_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38bff8c6e4_0_8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cs.bilkent.edu.tr/~guvenir/courses/CS101/op_precedence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18675" y="1905000"/>
            <a:ext cx="6381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Operators</a:t>
            </a:r>
            <a:endParaRPr sz="26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36717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Outline </a:t>
            </a:r>
            <a:endParaRPr sz="2000"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783500" y="935975"/>
            <a:ext cx="47454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Operators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Arithmetic Operators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Conversions between Numeric Types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Casts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The Assignment Operators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Increment and Decrement Operators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Relational Operators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Conditional Operator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Bitwise operators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Operator Precedence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Interview Questions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0" y="4171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Operators</a:t>
            </a:r>
            <a:endParaRPr sz="2000" b="1"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882550" y="943625"/>
            <a:ext cx="756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Operators are used to combine values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451400" y="2622175"/>
            <a:ext cx="2238900" cy="4302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Operators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451400" y="3460375"/>
            <a:ext cx="2238900" cy="4302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Increment and Decrement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089200" y="3460375"/>
            <a:ext cx="2238900" cy="4302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Arithmetic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813600" y="3460375"/>
            <a:ext cx="2238900" cy="4302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Assignment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1089200" y="1707775"/>
            <a:ext cx="2238900" cy="4302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Ralational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451400" y="1707775"/>
            <a:ext cx="2238900" cy="4302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Conditional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813600" y="1707775"/>
            <a:ext cx="2238900" cy="4302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Bitwise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7" name="Google Shape;77;p15"/>
          <p:cNvCxnSpPr>
            <a:stCxn id="70" idx="2"/>
            <a:endCxn id="73" idx="0"/>
          </p:cNvCxnSpPr>
          <p:nvPr/>
        </p:nvCxnSpPr>
        <p:spPr>
          <a:xfrm rot="-5400000" flipH="1">
            <a:off x="5547950" y="2075275"/>
            <a:ext cx="408000" cy="2362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diamond" w="med" len="med"/>
            <a:tailEnd type="triangle" w="med" len="med"/>
          </a:ln>
        </p:spPr>
      </p:cxnSp>
      <p:cxnSp>
        <p:nvCxnSpPr>
          <p:cNvPr id="78" name="Google Shape;78;p15"/>
          <p:cNvCxnSpPr>
            <a:stCxn id="70" idx="2"/>
            <a:endCxn id="72" idx="0"/>
          </p:cNvCxnSpPr>
          <p:nvPr/>
        </p:nvCxnSpPr>
        <p:spPr>
          <a:xfrm rot="5400000">
            <a:off x="3185750" y="2075275"/>
            <a:ext cx="408000" cy="2362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diamond" w="med" len="med"/>
            <a:tailEnd type="triangle" w="med" len="med"/>
          </a:ln>
        </p:spPr>
      </p:cxnSp>
      <p:cxnSp>
        <p:nvCxnSpPr>
          <p:cNvPr id="79" name="Google Shape;79;p15"/>
          <p:cNvCxnSpPr>
            <a:stCxn id="70" idx="2"/>
            <a:endCxn id="71" idx="0"/>
          </p:cNvCxnSpPr>
          <p:nvPr/>
        </p:nvCxnSpPr>
        <p:spPr>
          <a:xfrm rot="-5400000" flipH="1">
            <a:off x="4367150" y="3256075"/>
            <a:ext cx="4080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diamond" w="med" len="med"/>
            <a:tailEnd type="triangle" w="med" len="med"/>
          </a:ln>
        </p:spPr>
      </p:cxnSp>
      <p:cxnSp>
        <p:nvCxnSpPr>
          <p:cNvPr id="80" name="Google Shape;80;p15"/>
          <p:cNvCxnSpPr>
            <a:stCxn id="70" idx="0"/>
            <a:endCxn id="75" idx="2"/>
          </p:cNvCxnSpPr>
          <p:nvPr/>
        </p:nvCxnSpPr>
        <p:spPr>
          <a:xfrm rot="-5400000">
            <a:off x="4329050" y="2379775"/>
            <a:ext cx="4842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diamond" w="med" len="med"/>
            <a:tailEnd type="triangle" w="med" len="med"/>
          </a:ln>
        </p:spPr>
      </p:cxnSp>
      <p:cxnSp>
        <p:nvCxnSpPr>
          <p:cNvPr id="81" name="Google Shape;81;p15"/>
          <p:cNvCxnSpPr>
            <a:stCxn id="70" idx="0"/>
            <a:endCxn id="76" idx="2"/>
          </p:cNvCxnSpPr>
          <p:nvPr/>
        </p:nvCxnSpPr>
        <p:spPr>
          <a:xfrm rot="-5400000">
            <a:off x="5509850" y="1198975"/>
            <a:ext cx="484200" cy="2362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diamond" w="med" len="med"/>
            <a:tailEnd type="triangle" w="med" len="med"/>
          </a:ln>
        </p:spPr>
      </p:cxnSp>
      <p:cxnSp>
        <p:nvCxnSpPr>
          <p:cNvPr id="82" name="Google Shape;82;p15"/>
          <p:cNvCxnSpPr>
            <a:stCxn id="70" idx="0"/>
            <a:endCxn id="74" idx="2"/>
          </p:cNvCxnSpPr>
          <p:nvPr/>
        </p:nvCxnSpPr>
        <p:spPr>
          <a:xfrm rot="5400000" flipH="1">
            <a:off x="3147650" y="1198975"/>
            <a:ext cx="484200" cy="2362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diamond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0" y="4171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Arithmetic Operators</a:t>
            </a:r>
            <a:endParaRPr sz="2000" b="1"/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6"/>
          <p:cNvGraphicFramePr/>
          <p:nvPr/>
        </p:nvGraphicFramePr>
        <p:xfrm>
          <a:off x="2762250" y="117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{3E8288F0-6C82-45F3-9BC4-2A6F4FE34CBD}</a:tableStyleId>
              </a:tblPr>
              <a:tblGrid>
                <a:gridCol w="318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addition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+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subtraction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-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multiplication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*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division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/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Integer remainder(modulus)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%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0" y="3150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Conversions between Numeric Types</a:t>
            </a:r>
            <a:endParaRPr sz="2000" b="1"/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7"/>
          <p:cNvGrpSpPr/>
          <p:nvPr/>
        </p:nvGrpSpPr>
        <p:grpSpPr>
          <a:xfrm>
            <a:off x="2056001" y="970988"/>
            <a:ext cx="4879598" cy="2819752"/>
            <a:chOff x="3639498" y="1280752"/>
            <a:chExt cx="4289002" cy="2446640"/>
          </a:xfrm>
        </p:grpSpPr>
        <p:sp>
          <p:nvSpPr>
            <p:cNvPr id="97" name="Google Shape;97;p17"/>
            <p:cNvSpPr/>
            <p:nvPr/>
          </p:nvSpPr>
          <p:spPr>
            <a:xfrm>
              <a:off x="3639504" y="2135383"/>
              <a:ext cx="1003500" cy="466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short</a:t>
              </a: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3639498" y="1280752"/>
              <a:ext cx="1003500" cy="466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byte</a:t>
              </a: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6908053" y="2135375"/>
              <a:ext cx="1003500" cy="466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long</a:t>
              </a:r>
              <a:endParaRPr/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5273772" y="2135392"/>
              <a:ext cx="1003500" cy="466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int</a:t>
              </a:r>
              <a:endParaRPr/>
            </a:p>
          </p:txBody>
        </p:sp>
        <p:cxnSp>
          <p:nvCxnSpPr>
            <p:cNvPr id="101" name="Google Shape;101;p17"/>
            <p:cNvCxnSpPr>
              <a:stCxn id="98" idx="2"/>
              <a:endCxn id="97" idx="0"/>
            </p:cNvCxnSpPr>
            <p:nvPr/>
          </p:nvCxnSpPr>
          <p:spPr>
            <a:xfrm rot="-5400000" flipH="1">
              <a:off x="3947148" y="1941052"/>
              <a:ext cx="388500" cy="300"/>
            </a:xfrm>
            <a:prstGeom prst="bentConnector3">
              <a:avLst>
                <a:gd name="adj1" fmla="val 49991"/>
              </a:avLst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diamond" w="med" len="med"/>
              <a:tailEnd type="triangle" w="med" len="med"/>
            </a:ln>
          </p:spPr>
        </p:cxnSp>
        <p:cxnSp>
          <p:nvCxnSpPr>
            <p:cNvPr id="102" name="Google Shape;102;p17"/>
            <p:cNvCxnSpPr>
              <a:stCxn id="97" idx="3"/>
              <a:endCxn id="100" idx="1"/>
            </p:cNvCxnSpPr>
            <p:nvPr/>
          </p:nvCxnSpPr>
          <p:spPr>
            <a:xfrm>
              <a:off x="4643004" y="2368483"/>
              <a:ext cx="630900" cy="300"/>
            </a:xfrm>
            <a:prstGeom prst="bentConnector3">
              <a:avLst>
                <a:gd name="adj1" fmla="val 49990"/>
              </a:avLst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diamond" w="med" len="med"/>
              <a:tailEnd type="triangle" w="med" len="med"/>
            </a:ln>
          </p:spPr>
        </p:cxnSp>
        <p:cxnSp>
          <p:nvCxnSpPr>
            <p:cNvPr id="103" name="Google Shape;103;p17"/>
            <p:cNvCxnSpPr>
              <a:stCxn id="100" idx="3"/>
              <a:endCxn id="99" idx="1"/>
            </p:cNvCxnSpPr>
            <p:nvPr/>
          </p:nvCxnSpPr>
          <p:spPr>
            <a:xfrm>
              <a:off x="6277272" y="2368492"/>
              <a:ext cx="630900" cy="300"/>
            </a:xfrm>
            <a:prstGeom prst="bentConnector3">
              <a:avLst>
                <a:gd name="adj1" fmla="val 49991"/>
              </a:avLst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diamond" w="med" len="med"/>
              <a:tailEnd type="triangle" w="med" len="med"/>
            </a:ln>
          </p:spPr>
        </p:cxnSp>
        <p:sp>
          <p:nvSpPr>
            <p:cNvPr id="104" name="Google Shape;104;p17"/>
            <p:cNvSpPr/>
            <p:nvPr/>
          </p:nvSpPr>
          <p:spPr>
            <a:xfrm>
              <a:off x="5256825" y="1290017"/>
              <a:ext cx="1037400" cy="466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char</a:t>
              </a:r>
              <a:endParaRPr/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5256825" y="3261192"/>
              <a:ext cx="1037400" cy="466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float</a:t>
              </a: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6891100" y="3261192"/>
              <a:ext cx="1037400" cy="466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double</a:t>
              </a:r>
              <a:endParaRPr/>
            </a:p>
          </p:txBody>
        </p:sp>
        <p:cxnSp>
          <p:nvCxnSpPr>
            <p:cNvPr id="107" name="Google Shape;107;p17"/>
            <p:cNvCxnSpPr/>
            <p:nvPr/>
          </p:nvCxnSpPr>
          <p:spPr>
            <a:xfrm>
              <a:off x="6237425" y="2588900"/>
              <a:ext cx="679800" cy="67980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diamond" w="med" len="med"/>
              <a:tailEnd type="triangle" w="med" len="med"/>
            </a:ln>
          </p:spPr>
        </p:cxnSp>
        <p:cxnSp>
          <p:nvCxnSpPr>
            <p:cNvPr id="108" name="Google Shape;108;p17"/>
            <p:cNvCxnSpPr>
              <a:stCxn id="104" idx="2"/>
              <a:endCxn id="100" idx="0"/>
            </p:cNvCxnSpPr>
            <p:nvPr/>
          </p:nvCxnSpPr>
          <p:spPr>
            <a:xfrm rot="-5400000" flipH="1">
              <a:off x="5586075" y="1945667"/>
              <a:ext cx="379200" cy="3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diamond" w="med" len="med"/>
              <a:tailEnd type="triangle" w="med" len="med"/>
            </a:ln>
          </p:spPr>
        </p:cxnSp>
        <p:cxnSp>
          <p:nvCxnSpPr>
            <p:cNvPr id="109" name="Google Shape;109;p17"/>
            <p:cNvCxnSpPr>
              <a:stCxn id="105" idx="3"/>
              <a:endCxn id="106" idx="1"/>
            </p:cNvCxnSpPr>
            <p:nvPr/>
          </p:nvCxnSpPr>
          <p:spPr>
            <a:xfrm>
              <a:off x="6294225" y="3494292"/>
              <a:ext cx="597000" cy="300"/>
            </a:xfrm>
            <a:prstGeom prst="bentConnector3">
              <a:avLst>
                <a:gd name="adj1" fmla="val 49990"/>
              </a:avLst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diamond" w="med" len="med"/>
              <a:tailEnd type="triangle" w="med" len="med"/>
            </a:ln>
          </p:spPr>
        </p:cxnSp>
        <p:cxnSp>
          <p:nvCxnSpPr>
            <p:cNvPr id="110" name="Google Shape;110;p17"/>
            <p:cNvCxnSpPr>
              <a:stCxn id="100" idx="2"/>
              <a:endCxn id="105" idx="0"/>
            </p:cNvCxnSpPr>
            <p:nvPr/>
          </p:nvCxnSpPr>
          <p:spPr>
            <a:xfrm rot="-5400000" flipH="1">
              <a:off x="5445822" y="2931292"/>
              <a:ext cx="659700" cy="300"/>
            </a:xfrm>
            <a:prstGeom prst="bentConnector3">
              <a:avLst>
                <a:gd name="adj1" fmla="val 49992"/>
              </a:avLst>
            </a:prstGeom>
            <a:noFill/>
            <a:ln w="19050" cap="flat" cmpd="sng">
              <a:solidFill>
                <a:srgbClr val="990000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111" name="Google Shape;111;p17"/>
            <p:cNvCxnSpPr>
              <a:stCxn id="99" idx="2"/>
              <a:endCxn id="106" idx="0"/>
            </p:cNvCxnSpPr>
            <p:nvPr/>
          </p:nvCxnSpPr>
          <p:spPr>
            <a:xfrm rot="-5400000" flipH="1">
              <a:off x="7080103" y="2931275"/>
              <a:ext cx="659700" cy="300"/>
            </a:xfrm>
            <a:prstGeom prst="bentConnector3">
              <a:avLst>
                <a:gd name="adj1" fmla="val 49994"/>
              </a:avLst>
            </a:prstGeom>
            <a:noFill/>
            <a:ln w="19050" cap="flat" cmpd="sng">
              <a:solidFill>
                <a:srgbClr val="990000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112" name="Google Shape;112;p17"/>
            <p:cNvCxnSpPr/>
            <p:nvPr/>
          </p:nvCxnSpPr>
          <p:spPr>
            <a:xfrm flipH="1">
              <a:off x="6280400" y="2596075"/>
              <a:ext cx="658200" cy="687000"/>
            </a:xfrm>
            <a:prstGeom prst="straightConnector1">
              <a:avLst/>
            </a:prstGeom>
            <a:noFill/>
            <a:ln w="19050" cap="flat" cmpd="sng">
              <a:solidFill>
                <a:srgbClr val="990000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</p:grpSp>
      <p:sp>
        <p:nvSpPr>
          <p:cNvPr id="113" name="Google Shape;113;p17"/>
          <p:cNvSpPr txBox="1"/>
          <p:nvPr/>
        </p:nvSpPr>
        <p:spPr>
          <a:xfrm>
            <a:off x="601500" y="3840775"/>
            <a:ext cx="8010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six solid arrows denote conversions without information loss.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three dashed arrows denote conversions that may lose precision.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int n = 123456789;</a:t>
            </a:r>
            <a:endParaRPr sz="1200"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float f = n; // f is 1.23456792E8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0" y="4125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Conversions between Numeric Types</a:t>
            </a:r>
            <a:endParaRPr sz="2000" b="1"/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588600" y="921700"/>
            <a:ext cx="79668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When two values are combined with a binary operator (such as n + f where n is an integer and f is a ﬂoating-point value), both operands are converted to a common type before the operation is carried out.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If either of the operands is of type double, the other one will be converted to a double.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Otherwise, if either of the operands is of type float, the other one will be converted to a float.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Otherwise, if either of the operands is of type long, the other one will be converted to a long.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Otherwise, both operands will be converted to an int.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0" y="4125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Casts</a:t>
            </a:r>
            <a:endParaRPr sz="2000" b="1"/>
          </a:p>
        </p:txBody>
      </p:sp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588600" y="921700"/>
            <a:ext cx="7966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Widening Casting (automatically) - converting a smaller type to a larger type size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byte -&gt; short -&gt; char -&gt; int -&gt; long -&gt; float -&gt; double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1275225" y="3213850"/>
            <a:ext cx="416875" cy="645450"/>
          </a:xfrm>
          <a:prstGeom prst="flowChartMagneticDisk">
            <a:avLst/>
          </a:prstGeom>
          <a:solidFill>
            <a:srgbClr val="38761D"/>
          </a:solidFill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</a:rPr>
              <a:t>byte</a:t>
            </a:r>
            <a:endParaRPr sz="800">
              <a:solidFill>
                <a:schemeClr val="lt1"/>
              </a:solidFill>
            </a:endParaRPr>
          </a:p>
        </p:txBody>
      </p:sp>
      <p:grpSp>
        <p:nvGrpSpPr>
          <p:cNvPr id="129" name="Google Shape;129;p19"/>
          <p:cNvGrpSpPr/>
          <p:nvPr/>
        </p:nvGrpSpPr>
        <p:grpSpPr>
          <a:xfrm>
            <a:off x="1694325" y="2844050"/>
            <a:ext cx="1723475" cy="1015250"/>
            <a:chOff x="1694325" y="2844050"/>
            <a:chExt cx="1723475" cy="1015250"/>
          </a:xfrm>
        </p:grpSpPr>
        <p:sp>
          <p:nvSpPr>
            <p:cNvPr id="130" name="Google Shape;130;p19"/>
            <p:cNvSpPr/>
            <p:nvPr/>
          </p:nvSpPr>
          <p:spPr>
            <a:xfrm>
              <a:off x="2839575" y="2844050"/>
              <a:ext cx="578225" cy="1015250"/>
            </a:xfrm>
            <a:prstGeom prst="flowChartMagneticDisk">
              <a:avLst/>
            </a:prstGeom>
            <a:solidFill>
              <a:srgbClr val="674EA7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short</a:t>
              </a:r>
              <a:endParaRPr sz="1000">
                <a:solidFill>
                  <a:schemeClr val="lt1"/>
                </a:solidFill>
              </a:endParaRPr>
            </a:p>
          </p:txBody>
        </p:sp>
        <p:cxnSp>
          <p:nvCxnSpPr>
            <p:cNvPr id="131" name="Google Shape;131;p19"/>
            <p:cNvCxnSpPr/>
            <p:nvPr/>
          </p:nvCxnSpPr>
          <p:spPr>
            <a:xfrm>
              <a:off x="1694325" y="35702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32" name="Google Shape;132;p19"/>
          <p:cNvGrpSpPr/>
          <p:nvPr/>
        </p:nvGrpSpPr>
        <p:grpSpPr>
          <a:xfrm>
            <a:off x="3417800" y="2420475"/>
            <a:ext cx="1891550" cy="1438825"/>
            <a:chOff x="3417800" y="2420475"/>
            <a:chExt cx="1891550" cy="1438825"/>
          </a:xfrm>
        </p:grpSpPr>
        <p:sp>
          <p:nvSpPr>
            <p:cNvPr id="133" name="Google Shape;133;p19"/>
            <p:cNvSpPr/>
            <p:nvPr/>
          </p:nvSpPr>
          <p:spPr>
            <a:xfrm>
              <a:off x="4565275" y="2420475"/>
              <a:ext cx="744075" cy="1438825"/>
            </a:xfrm>
            <a:prstGeom prst="flowChartMagneticDisk">
              <a:avLst/>
            </a:prstGeom>
            <a:solidFill>
              <a:srgbClr val="3C78D8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</a:rPr>
                <a:t>int</a:t>
              </a:r>
              <a:endParaRPr sz="1200">
                <a:solidFill>
                  <a:schemeClr val="lt1"/>
                </a:solidFill>
              </a:endParaRPr>
            </a:p>
          </p:txBody>
        </p:sp>
        <p:cxnSp>
          <p:nvCxnSpPr>
            <p:cNvPr id="134" name="Google Shape;134;p19"/>
            <p:cNvCxnSpPr/>
            <p:nvPr/>
          </p:nvCxnSpPr>
          <p:spPr>
            <a:xfrm>
              <a:off x="3417800" y="35702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1155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35" name="Google Shape;135;p19"/>
          <p:cNvGrpSpPr/>
          <p:nvPr/>
        </p:nvGrpSpPr>
        <p:grpSpPr>
          <a:xfrm>
            <a:off x="5322800" y="2043950"/>
            <a:ext cx="2142550" cy="1815350"/>
            <a:chOff x="5322800" y="2043950"/>
            <a:chExt cx="2142550" cy="1815350"/>
          </a:xfrm>
        </p:grpSpPr>
        <p:sp>
          <p:nvSpPr>
            <p:cNvPr id="136" name="Google Shape;136;p19"/>
            <p:cNvSpPr/>
            <p:nvPr/>
          </p:nvSpPr>
          <p:spPr>
            <a:xfrm>
              <a:off x="6456825" y="2043950"/>
              <a:ext cx="1008525" cy="1815350"/>
            </a:xfrm>
            <a:prstGeom prst="flowChartMagneticDisk">
              <a:avLst/>
            </a:prstGeom>
            <a:solidFill>
              <a:srgbClr val="CC4125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</a:rPr>
                <a:t>long</a:t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137" name="Google Shape;137;p19"/>
            <p:cNvCxnSpPr/>
            <p:nvPr/>
          </p:nvCxnSpPr>
          <p:spPr>
            <a:xfrm>
              <a:off x="5322800" y="35702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0" y="4125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Casts</a:t>
            </a:r>
            <a:endParaRPr sz="2000" b="1"/>
          </a:p>
        </p:txBody>
      </p:sp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588600" y="921700"/>
            <a:ext cx="7966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Narrowing Casting (manually) - converting a larger type to a smaller size type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double -&gt; float -&gt; long -&gt; int -&gt; char -&gt; short -&gt; byte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" name="Google Shape;145;p20"/>
          <p:cNvSpPr/>
          <p:nvPr/>
        </p:nvSpPr>
        <p:spPr>
          <a:xfrm flipH="1">
            <a:off x="1351425" y="2501150"/>
            <a:ext cx="1008525" cy="1815350"/>
          </a:xfrm>
          <a:prstGeom prst="flowChartMagneticDisk">
            <a:avLst/>
          </a:prstGeom>
          <a:solidFill>
            <a:srgbClr val="CC4125"/>
          </a:solidFill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long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46" name="Google Shape;146;p20"/>
          <p:cNvGrpSpPr/>
          <p:nvPr/>
        </p:nvGrpSpPr>
        <p:grpSpPr>
          <a:xfrm>
            <a:off x="5977050" y="3671050"/>
            <a:ext cx="1564500" cy="645450"/>
            <a:chOff x="5977050" y="3671050"/>
            <a:chExt cx="1564500" cy="645450"/>
          </a:xfrm>
        </p:grpSpPr>
        <p:sp>
          <p:nvSpPr>
            <p:cNvPr id="147" name="Google Shape;147;p20"/>
            <p:cNvSpPr/>
            <p:nvPr/>
          </p:nvSpPr>
          <p:spPr>
            <a:xfrm flipH="1">
              <a:off x="7124675" y="3671050"/>
              <a:ext cx="416875" cy="645450"/>
            </a:xfrm>
            <a:prstGeom prst="flowChartMagneticDisk">
              <a:avLst/>
            </a:prstGeom>
            <a:solidFill>
              <a:srgbClr val="38761D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byte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148" name="Google Shape;148;p20"/>
            <p:cNvCxnSpPr/>
            <p:nvPr/>
          </p:nvCxnSpPr>
          <p:spPr>
            <a:xfrm>
              <a:off x="5977050" y="40274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49" name="Google Shape;149;p20"/>
          <p:cNvGrpSpPr/>
          <p:nvPr/>
        </p:nvGrpSpPr>
        <p:grpSpPr>
          <a:xfrm>
            <a:off x="4253575" y="3301250"/>
            <a:ext cx="1723625" cy="1015250"/>
            <a:chOff x="4253575" y="3301250"/>
            <a:chExt cx="1723625" cy="1015250"/>
          </a:xfrm>
        </p:grpSpPr>
        <p:sp>
          <p:nvSpPr>
            <p:cNvPr id="150" name="Google Shape;150;p20"/>
            <p:cNvSpPr/>
            <p:nvPr/>
          </p:nvSpPr>
          <p:spPr>
            <a:xfrm flipH="1">
              <a:off x="5398975" y="3301250"/>
              <a:ext cx="578225" cy="1015250"/>
            </a:xfrm>
            <a:prstGeom prst="flowChartMagneticDisk">
              <a:avLst/>
            </a:prstGeom>
            <a:solidFill>
              <a:srgbClr val="674EA7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short</a:t>
              </a:r>
              <a:endParaRPr sz="1000">
                <a:solidFill>
                  <a:schemeClr val="lt1"/>
                </a:solidFill>
              </a:endParaRPr>
            </a:p>
          </p:txBody>
        </p:sp>
        <p:cxnSp>
          <p:nvCxnSpPr>
            <p:cNvPr id="151" name="Google Shape;151;p20"/>
            <p:cNvCxnSpPr/>
            <p:nvPr/>
          </p:nvCxnSpPr>
          <p:spPr>
            <a:xfrm>
              <a:off x="4253575" y="40274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52" name="Google Shape;152;p20"/>
          <p:cNvGrpSpPr/>
          <p:nvPr/>
        </p:nvGrpSpPr>
        <p:grpSpPr>
          <a:xfrm>
            <a:off x="2348575" y="2877675"/>
            <a:ext cx="1902925" cy="1438825"/>
            <a:chOff x="2348575" y="2877675"/>
            <a:chExt cx="1902925" cy="1438825"/>
          </a:xfrm>
        </p:grpSpPr>
        <p:sp>
          <p:nvSpPr>
            <p:cNvPr id="153" name="Google Shape;153;p20"/>
            <p:cNvSpPr/>
            <p:nvPr/>
          </p:nvSpPr>
          <p:spPr>
            <a:xfrm flipH="1">
              <a:off x="3507425" y="2877675"/>
              <a:ext cx="744075" cy="1438825"/>
            </a:xfrm>
            <a:prstGeom prst="flowChartMagneticDisk">
              <a:avLst/>
            </a:prstGeom>
            <a:solidFill>
              <a:srgbClr val="3C78D8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</a:rPr>
                <a:t>int</a:t>
              </a:r>
              <a:endParaRPr sz="1200">
                <a:solidFill>
                  <a:schemeClr val="lt1"/>
                </a:solidFill>
              </a:endParaRPr>
            </a:p>
          </p:txBody>
        </p:sp>
        <p:cxnSp>
          <p:nvCxnSpPr>
            <p:cNvPr id="154" name="Google Shape;154;p20"/>
            <p:cNvCxnSpPr/>
            <p:nvPr/>
          </p:nvCxnSpPr>
          <p:spPr>
            <a:xfrm>
              <a:off x="2348575" y="40274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1155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>
            <a:spLocks noGrp="1"/>
          </p:cNvSpPr>
          <p:nvPr>
            <p:ph type="title"/>
          </p:nvPr>
        </p:nvSpPr>
        <p:spPr>
          <a:xfrm>
            <a:off x="0" y="4125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The Assignment Operators</a:t>
            </a:r>
            <a:endParaRPr sz="2000" b="1"/>
          </a:p>
        </p:txBody>
      </p:sp>
      <p:pic>
        <p:nvPicPr>
          <p:cNvPr id="160" name="Google Shape;160;p21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588600" y="921700"/>
            <a:ext cx="79668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 is a convenient shortcut for using binary operators in an assignment.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x += 4; //is equivalent to x = x + 4;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x += 3.5; //is valid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int y = x += 4; //is valid 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302800" y="412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The Assignment Operators</a:t>
            </a:r>
            <a:endParaRPr sz="2000" b="1"/>
          </a:p>
        </p:txBody>
      </p:sp>
      <p:pic>
        <p:nvPicPr>
          <p:cNvPr id="167" name="Google Shape;167;p22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22"/>
          <p:cNvGraphicFramePr/>
          <p:nvPr/>
        </p:nvGraphicFramePr>
        <p:xfrm>
          <a:off x="952500" y="10014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{3E8288F0-6C82-45F3-9BC4-2A6F4FE34CBD}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c = 12;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c+=2 is roughly the same as c = c + 2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c-=2 is roughly the same as c = c - 2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c*=2 is roughly the same as c = c * 2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c/=2 is roughly the same as c = c / 2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c%=2 is roughly the same as c = c % 2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&lt;&lt;=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c&lt;&lt;=2 is roughly the same as c = c &lt;&lt; 2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&gt;&gt;=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c&gt;&gt;=2 is roughly the same as c = c &gt;&gt; 2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c&amp;=2 is roughly the same as c = c &amp; 2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|=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c|=2 is roughly the same as c = c | 2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^=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c^=2 is roughly the same as c = c ^ 2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>
            <a:spLocks noGrp="1"/>
          </p:cNvSpPr>
          <p:nvPr>
            <p:ph type="title"/>
          </p:nvPr>
        </p:nvSpPr>
        <p:spPr>
          <a:xfrm>
            <a:off x="0" y="4125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Increment and Decrement Operators</a:t>
            </a:r>
            <a:endParaRPr sz="2000" b="1"/>
          </a:p>
        </p:txBody>
      </p:sp>
      <p:pic>
        <p:nvPicPr>
          <p:cNvPr id="174" name="Google Shape;174;p2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 txBox="1"/>
          <p:nvPr/>
        </p:nvSpPr>
        <p:spPr>
          <a:xfrm>
            <a:off x="588600" y="921700"/>
            <a:ext cx="79668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of the most common operations with a numeric variable is to add or subtract 1. Java, following in the footsteps of C and C++, has both increment and decrement operators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</a:t>
            </a: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int n = 12;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n++;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Since these operators change the value of a variable, they cannot be applied to numbers themselves.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4++; // is not a legal statement.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 are two forms of these operators </a:t>
            </a:r>
            <a:r>
              <a:rPr lang="en" b="1" i="1">
                <a:solidFill>
                  <a:schemeClr val="dk1"/>
                </a:solidFill>
              </a:rPr>
              <a:t>postﬁx form(n++) </a:t>
            </a:r>
            <a:r>
              <a:rPr lang="en">
                <a:solidFill>
                  <a:schemeClr val="dk1"/>
                </a:solidFill>
              </a:rPr>
              <a:t>and</a:t>
            </a:r>
            <a:r>
              <a:rPr lang="en" b="1" i="1">
                <a:solidFill>
                  <a:schemeClr val="dk1"/>
                </a:solidFill>
              </a:rPr>
              <a:t> preﬁx form(++n)</a:t>
            </a:r>
            <a:r>
              <a:rPr lang="en">
                <a:solidFill>
                  <a:schemeClr val="dk1"/>
                </a:solidFill>
              </a:rPr>
              <a:t>. The difference between the two appears only when they are used inside expressions.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int m = 7;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int n = 7;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int a = 2 * ++m; // now a is 16, m is 8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int b = 2 * n++; // now b is 14, n is 8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>
            <a:spLocks noGrp="1"/>
          </p:cNvSpPr>
          <p:nvPr>
            <p:ph type="title"/>
          </p:nvPr>
        </p:nvSpPr>
        <p:spPr>
          <a:xfrm>
            <a:off x="150" y="3285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Relational Operators</a:t>
            </a:r>
            <a:endParaRPr sz="2000" b="1"/>
          </a:p>
        </p:txBody>
      </p:sp>
      <p:graphicFrame>
        <p:nvGraphicFramePr>
          <p:cNvPr id="181" name="Google Shape;181;p24"/>
          <p:cNvGraphicFramePr/>
          <p:nvPr/>
        </p:nvGraphicFramePr>
        <p:xfrm>
          <a:off x="952500" y="97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{3E8288F0-6C82-45F3-9BC4-2A6F4FE34CBD}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equality sign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greater than sign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less than sign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greater than or equal sign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&lt;=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less than or equal sign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2" name="Google Shape;182;p2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25"/>
          <p:cNvGraphicFramePr/>
          <p:nvPr/>
        </p:nvGraphicFramePr>
        <p:xfrm>
          <a:off x="952500" y="227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{3E8288F0-6C82-45F3-9BC4-2A6F4FE34CBD}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|| b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&amp;&amp; b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!a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false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false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true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true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false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true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false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true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8" name="Google Shape;188;p25"/>
          <p:cNvSpPr txBox="1">
            <a:spLocks noGrp="1"/>
          </p:cNvSpPr>
          <p:nvPr>
            <p:ph type="title"/>
          </p:nvPr>
        </p:nvSpPr>
        <p:spPr>
          <a:xfrm>
            <a:off x="150" y="3285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Relational Operators</a:t>
            </a:r>
            <a:endParaRPr sz="2000" b="1"/>
          </a:p>
        </p:txBody>
      </p:sp>
      <p:graphicFrame>
        <p:nvGraphicFramePr>
          <p:cNvPr id="189" name="Google Shape;189;p25"/>
          <p:cNvGraphicFramePr/>
          <p:nvPr/>
        </p:nvGraphicFramePr>
        <p:xfrm>
          <a:off x="952500" y="97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{3E8288F0-6C82-45F3-9BC4-2A6F4FE34CBD}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&amp;&amp;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expression1 &amp;&amp; expression2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|| 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expression1 || expression2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!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!expression1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90" name="Google Shape;190;p2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>
            <a:spLocks noGrp="1"/>
          </p:cNvSpPr>
          <p:nvPr>
            <p:ph type="title"/>
          </p:nvPr>
        </p:nvSpPr>
        <p:spPr>
          <a:xfrm>
            <a:off x="0" y="4125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Conditional Operator</a:t>
            </a:r>
            <a:endParaRPr sz="2000" b="1"/>
          </a:p>
        </p:txBody>
      </p:sp>
      <p:pic>
        <p:nvPicPr>
          <p:cNvPr id="196" name="Google Shape;196;p2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/>
        </p:nvSpPr>
        <p:spPr>
          <a:xfrm>
            <a:off x="588600" y="921700"/>
            <a:ext cx="79668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Java provides the </a:t>
            </a:r>
            <a:r>
              <a:rPr lang="en" b="1" i="1">
                <a:solidFill>
                  <a:schemeClr val="dk1"/>
                </a:solidFill>
              </a:rPr>
              <a:t>conditional ?: operator</a:t>
            </a:r>
            <a:r>
              <a:rPr lang="en">
                <a:solidFill>
                  <a:schemeClr val="dk1"/>
                </a:solidFill>
              </a:rPr>
              <a:t> that selects a value, depending on a Boolean expression. The expression </a:t>
            </a:r>
            <a:r>
              <a:rPr lang="en" i="1">
                <a:solidFill>
                  <a:schemeClr val="dk1"/>
                </a:solidFill>
              </a:rPr>
              <a:t>condition ? expression1 : expression2</a:t>
            </a:r>
            <a:r>
              <a:rPr lang="en">
                <a:solidFill>
                  <a:schemeClr val="dk1"/>
                </a:solidFill>
              </a:rPr>
              <a:t> evaluates to the ﬁrst expression if the condition is true, to the second expression otherwise. Sometimes a </a:t>
            </a:r>
            <a:r>
              <a:rPr lang="en" b="1">
                <a:solidFill>
                  <a:schemeClr val="dk1"/>
                </a:solidFill>
              </a:rPr>
              <a:t>conditional operator</a:t>
            </a:r>
            <a:r>
              <a:rPr lang="en">
                <a:solidFill>
                  <a:schemeClr val="dk1"/>
                </a:solidFill>
              </a:rPr>
              <a:t> is called a </a:t>
            </a:r>
            <a:r>
              <a:rPr lang="en" b="1">
                <a:solidFill>
                  <a:schemeClr val="dk1"/>
                </a:solidFill>
              </a:rPr>
              <a:t>ternary operator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int min = x &lt; y ? x : y;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>
            <a:spLocks noGrp="1"/>
          </p:cNvSpPr>
          <p:nvPr>
            <p:ph type="title"/>
          </p:nvPr>
        </p:nvSpPr>
        <p:spPr>
          <a:xfrm>
            <a:off x="302800" y="412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The Bitwise operators</a:t>
            </a:r>
            <a:endParaRPr sz="2000" b="1"/>
          </a:p>
        </p:txBody>
      </p:sp>
      <p:pic>
        <p:nvPicPr>
          <p:cNvPr id="203" name="Google Shape;203;p2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" name="Google Shape;204;p27"/>
          <p:cNvGraphicFramePr/>
          <p:nvPr/>
        </p:nvGraphicFramePr>
        <p:xfrm>
          <a:off x="1721438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{3E8288F0-6C82-45F3-9BC4-2A6F4FE34CBD}</a:tableStyleId>
              </a:tblPr>
              <a:tblGrid>
                <a:gridCol w="51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|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5" name="Google Shape;205;p27"/>
          <p:cNvGraphicFramePr/>
          <p:nvPr/>
        </p:nvGraphicFramePr>
        <p:xfrm>
          <a:off x="3795038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{3E8288F0-6C82-45F3-9BC4-2A6F4FE34CBD}</a:tableStyleId>
              </a:tblPr>
              <a:tblGrid>
                <a:gridCol w="51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6" name="Google Shape;206;p27"/>
          <p:cNvGraphicFramePr/>
          <p:nvPr/>
        </p:nvGraphicFramePr>
        <p:xfrm>
          <a:off x="5868638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{3E8288F0-6C82-45F3-9BC4-2A6F4FE34CBD}</a:tableStyleId>
              </a:tblPr>
              <a:tblGrid>
                <a:gridCol w="51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^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7" name="Google Shape;207;p27"/>
          <p:cNvSpPr txBox="1"/>
          <p:nvPr/>
        </p:nvSpPr>
        <p:spPr>
          <a:xfrm>
            <a:off x="631375" y="1074000"/>
            <a:ext cx="2900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Bitwise OR (|)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Bitwise AND (&amp;)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Bitwise XOR (^)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Bitwise Complement (~)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>
            <a:spLocks noGrp="1"/>
          </p:cNvSpPr>
          <p:nvPr>
            <p:ph type="title"/>
          </p:nvPr>
        </p:nvSpPr>
        <p:spPr>
          <a:xfrm>
            <a:off x="392300" y="37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The Shifting Operators</a:t>
            </a:r>
            <a:endParaRPr sz="2000" b="1"/>
          </a:p>
        </p:txBody>
      </p:sp>
      <p:pic>
        <p:nvPicPr>
          <p:cNvPr id="213" name="Google Shape;213;p2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8"/>
          <p:cNvSpPr txBox="1"/>
          <p:nvPr/>
        </p:nvSpPr>
        <p:spPr>
          <a:xfrm>
            <a:off x="2672400" y="1270350"/>
            <a:ext cx="1418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int x = 11;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 = 1;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baseline="-25000">
                <a:latin typeface="Courier New"/>
                <a:ea typeface="Courier New"/>
                <a:cs typeface="Courier New"/>
                <a:sym typeface="Courier New"/>
              </a:rPr>
              <a:t>binary  </a:t>
            </a:r>
            <a:endParaRPr baseline="-25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2672400" y="2718150"/>
            <a:ext cx="96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 &lt;&lt; n;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2672400" y="2352025"/>
            <a:ext cx="219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Left shift &lt;&lt; n</a:t>
            </a:r>
            <a:endParaRPr b="1"/>
          </a:p>
        </p:txBody>
      </p:sp>
      <p:sp>
        <p:nvSpPr>
          <p:cNvPr id="217" name="Google Shape;217;p28"/>
          <p:cNvSpPr txBox="1"/>
          <p:nvPr/>
        </p:nvSpPr>
        <p:spPr>
          <a:xfrm>
            <a:off x="2672400" y="3708750"/>
            <a:ext cx="96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 &gt;&gt; n;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2602100" y="3381625"/>
            <a:ext cx="226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 Right shift &gt;&gt; n</a:t>
            </a:r>
            <a:endParaRPr b="1"/>
          </a:p>
        </p:txBody>
      </p:sp>
      <p:graphicFrame>
        <p:nvGraphicFramePr>
          <p:cNvPr id="219" name="Google Shape;219;p28"/>
          <p:cNvGraphicFramePr/>
          <p:nvPr/>
        </p:nvGraphicFramePr>
        <p:xfrm>
          <a:off x="3467100" y="173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{3E8288F0-6C82-45F3-9BC4-2A6F4FE34CBD}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0" name="Google Shape;220;p28"/>
          <p:cNvGraphicFramePr/>
          <p:nvPr/>
        </p:nvGraphicFramePr>
        <p:xfrm>
          <a:off x="3543300" y="272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{3E8288F0-6C82-45F3-9BC4-2A6F4FE34CBD}</a:tableStyleId>
              </a:tblPr>
              <a:tblGrid>
                <a:gridCol w="34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1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1" name="Google Shape;221;p28"/>
          <p:cNvGraphicFramePr/>
          <p:nvPr/>
        </p:nvGraphicFramePr>
        <p:xfrm>
          <a:off x="3619500" y="371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{3E8288F0-6C82-45F3-9BC4-2A6F4FE34CBD}</a:tableStyleId>
              </a:tblPr>
              <a:tblGrid>
                <a:gridCol w="34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1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>
            <a:spLocks noGrp="1"/>
          </p:cNvSpPr>
          <p:nvPr>
            <p:ph type="title"/>
          </p:nvPr>
        </p:nvSpPr>
        <p:spPr>
          <a:xfrm>
            <a:off x="0" y="4125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Operator Precedence</a:t>
            </a:r>
            <a:endParaRPr sz="2000" b="1"/>
          </a:p>
        </p:txBody>
      </p:sp>
      <p:pic>
        <p:nvPicPr>
          <p:cNvPr id="227" name="Google Shape;227;p29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9"/>
          <p:cNvSpPr txBox="1"/>
          <p:nvPr/>
        </p:nvSpPr>
        <p:spPr>
          <a:xfrm>
            <a:off x="738300" y="921700"/>
            <a:ext cx="7670100" cy="30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no parentheses are used, Operators on the same level are processed from left to right, except for those that are right-associative, as indicated in the table. For example, &amp;&amp; has a higher precedence than ||, so the expression</a:t>
            </a:r>
            <a:endParaRPr>
              <a:solidFill>
                <a:schemeClr val="dk1"/>
              </a:solidFill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a &amp;&amp; b || c means (a &amp;&amp; b) || c 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Since += associates right to left, the expression</a:t>
            </a:r>
            <a:endParaRPr>
              <a:solidFill>
                <a:schemeClr val="dk1"/>
              </a:solidFill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a += b += c means a += (b += c)</a:t>
            </a: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u="sng">
                <a:solidFill>
                  <a:schemeClr val="hlink"/>
                </a:solidFill>
                <a:hlinkClick r:id="rId4"/>
              </a:rPr>
              <a:t>Java Operator Precedence Table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234" name="Google Shape;234;p30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</Words>
  <Application>Microsoft Office PowerPoint</Application>
  <PresentationFormat>On-screen Show (16:9)</PresentationFormat>
  <Paragraphs>257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Courier New</vt:lpstr>
      <vt:lpstr>Source Code Pro SemiBold</vt:lpstr>
      <vt:lpstr>Book Antiqua</vt:lpstr>
      <vt:lpstr>Simple Light</vt:lpstr>
      <vt:lpstr>PowerPoint Presentation</vt:lpstr>
      <vt:lpstr>PowerPoint Presentation</vt:lpstr>
      <vt:lpstr>Operators</vt:lpstr>
      <vt:lpstr>Arithmetic Operators</vt:lpstr>
      <vt:lpstr>Conversions between Numeric Types</vt:lpstr>
      <vt:lpstr>Conversions between Numeric Types</vt:lpstr>
      <vt:lpstr>Casts</vt:lpstr>
      <vt:lpstr>Casts</vt:lpstr>
      <vt:lpstr>The Assignment Operators</vt:lpstr>
      <vt:lpstr>The Assignment Operators</vt:lpstr>
      <vt:lpstr>Increment and Decrement Operators</vt:lpstr>
      <vt:lpstr>Relational Operators</vt:lpstr>
      <vt:lpstr>Relational Operators</vt:lpstr>
      <vt:lpstr>Conditional Operator</vt:lpstr>
      <vt:lpstr>The Bitwise operators</vt:lpstr>
      <vt:lpstr>The Shifting Operators</vt:lpstr>
      <vt:lpstr>Operator Precedence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2023-02-23T14:08:11Z</dcterms:modified>
</cp:coreProperties>
</file>