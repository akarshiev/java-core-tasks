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embeddedFontLst>
    <p:embeddedFont>
      <p:font typeface="Source Code Pro" panose="020B0509030403020204" pitchFamily="49" charset="0"/>
      <p:regular r:id="rId12"/>
      <p:bold r:id="rId13"/>
      <p:italic r:id="rId14"/>
      <p:boldItalic r:id="rId15"/>
    </p:embeddedFont>
    <p:embeddedFont>
      <p:font typeface="Source Code Pro SemiBold" panose="020B0609030403020204" pitchFamily="49"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491bba5938_0_29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491bba5938_0_29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524a9e6f48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524a9e6f48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168442c8e9e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168442c8e9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68277a371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68277a371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502184060b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502184060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5246ff3da7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5246ff3da7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524a9e6f48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1524a9e6f48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58b327020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158b327020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502184060b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1502184060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hyperlink" Target="https://docs.oracle.com/en/java/javase/17/docs/api/java.base/java/util/Formatter.html#syntax" TargetMode="External"/><Relationship Id="rId5" Type="http://schemas.openxmlformats.org/officeDocument/2006/relationships/image" Target="../media/image3.png"/><Relationship Id="rId4" Type="http://schemas.openxmlformats.org/officeDocument/2006/relationships/hyperlink" Target="https://github.com/jlkesh/javadocs/blob/main/Date%2C%20Time%20and%20DateTime%20Formatting.md"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hyperlink" Target="https://docs.oracle.com/en/java/javase/17/docs/api/java.base/java/util/Formatter.html#syntax"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hyperlink" Target="https://docs.oracle.com/en/java/javase/17/docs/api/java.base/java/text/MessageFormat.html" TargetMode="External"/><Relationship Id="rId4" Type="http://schemas.openxmlformats.org/officeDocument/2006/relationships/hyperlink" Target="https://developer.android.com/reference/java/text/MessageFormat"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hyperlink" Target="https://docs.oracle.com/en/java/javase/17/docs/api/java.base/java/text/NumberFormat.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sp>
        <p:nvSpPr>
          <p:cNvPr id="54" name="Google Shape;54;p13"/>
          <p:cNvSpPr txBox="1"/>
          <p:nvPr/>
        </p:nvSpPr>
        <p:spPr>
          <a:xfrm>
            <a:off x="10575" y="2279250"/>
            <a:ext cx="91440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Clr>
                <a:schemeClr val="dk1"/>
              </a:buClr>
              <a:buSzPts val="1100"/>
              <a:buFont typeface="Arial"/>
              <a:buNone/>
            </a:pPr>
            <a:r>
              <a:rPr lang="en" sz="2600" b="1">
                <a:solidFill>
                  <a:schemeClr val="dk1"/>
                </a:solidFill>
              </a:rPr>
              <a:t>Formatting</a:t>
            </a:r>
            <a:endParaRPr sz="2600" b="1">
              <a:solidFill>
                <a:schemeClr val="dk1"/>
              </a:solidFill>
            </a:endParaRPr>
          </a:p>
        </p:txBody>
      </p:sp>
      <p:pic>
        <p:nvPicPr>
          <p:cNvPr id="55" name="Google Shape;55;p13"/>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0" y="330350"/>
            <a:ext cx="9144000" cy="5727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2000" b="1"/>
              <a:t>Format output</a:t>
            </a:r>
            <a:endParaRPr sz="2000"/>
          </a:p>
        </p:txBody>
      </p:sp>
      <p:pic>
        <p:nvPicPr>
          <p:cNvPr id="61" name="Google Shape;61;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2" name="Google Shape;62;p14"/>
          <p:cNvSpPr txBox="1"/>
          <p:nvPr/>
        </p:nvSpPr>
        <p:spPr>
          <a:xfrm>
            <a:off x="693325" y="837425"/>
            <a:ext cx="7846500" cy="1262100"/>
          </a:xfrm>
          <a:prstGeom prst="rect">
            <a:avLst/>
          </a:prstGeom>
          <a:noFill/>
          <a:ln>
            <a:noFill/>
          </a:ln>
        </p:spPr>
        <p:txBody>
          <a:bodyPr spcFirstLastPara="1" wrap="square" lIns="91425" tIns="91425" rIns="91425" bIns="91425" anchor="t" anchorCtr="0">
            <a:spAutoFit/>
          </a:bodyPr>
          <a:lstStyle/>
          <a:p>
            <a:pPr marL="0" lvl="0" indent="457200" algn="just" rtl="0">
              <a:spcBef>
                <a:spcPts val="0"/>
              </a:spcBef>
              <a:spcAft>
                <a:spcPts val="0"/>
              </a:spcAft>
              <a:buNone/>
            </a:pPr>
            <a:r>
              <a:rPr lang="en"/>
              <a:t>Formatted printing for the Java language is heavily inspired by C's printf. Although the format strings are similar to C, some customizations have been made to accommodate the Java language and exploit some of its features.</a:t>
            </a:r>
            <a:endParaRPr/>
          </a:p>
          <a:p>
            <a:pPr marL="0" lvl="0" indent="457200" algn="just" rtl="0">
              <a:spcBef>
                <a:spcPts val="0"/>
              </a:spcBef>
              <a:spcAft>
                <a:spcPts val="0"/>
              </a:spcAft>
              <a:buNone/>
            </a:pPr>
            <a:r>
              <a:rPr lang="en"/>
              <a:t>You can print a number x to the console with the statement </a:t>
            </a:r>
            <a:r>
              <a:rPr lang="en">
                <a:solidFill>
                  <a:srgbClr val="3D85C6"/>
                </a:solidFill>
                <a:latin typeface="Source Code Pro SemiBold"/>
                <a:ea typeface="Source Code Pro SemiBold"/>
                <a:cs typeface="Source Code Pro SemiBold"/>
                <a:sym typeface="Source Code Pro SemiBold"/>
              </a:rPr>
              <a:t>System.out.print(x)</a:t>
            </a:r>
            <a:r>
              <a:rPr lang="en"/>
              <a:t>. That command will print x with the maximum number of nonzero digits for that type.</a:t>
            </a:r>
            <a:endParaRPr/>
          </a:p>
        </p:txBody>
      </p:sp>
      <p:pic>
        <p:nvPicPr>
          <p:cNvPr id="63" name="Google Shape;63;p14"/>
          <p:cNvPicPr preferRelativeResize="0"/>
          <p:nvPr/>
        </p:nvPicPr>
        <p:blipFill rotWithShape="1">
          <a:blip r:embed="rId4">
            <a:alphaModFix/>
          </a:blip>
          <a:srcRect l="7695" t="23879" r="13290" b="44165"/>
          <a:stretch/>
        </p:blipFill>
        <p:spPr>
          <a:xfrm>
            <a:off x="-36350" y="3166559"/>
            <a:ext cx="9180350" cy="1886865"/>
          </a:xfrm>
          <a:prstGeom prst="rect">
            <a:avLst/>
          </a:prstGeom>
          <a:noFill/>
          <a:ln>
            <a:noFill/>
          </a:ln>
        </p:spPr>
      </p:pic>
      <p:sp>
        <p:nvSpPr>
          <p:cNvPr id="64" name="Google Shape;64;p14"/>
          <p:cNvSpPr txBox="1"/>
          <p:nvPr/>
        </p:nvSpPr>
        <p:spPr>
          <a:xfrm>
            <a:off x="693325" y="2285225"/>
            <a:ext cx="7846500" cy="680100"/>
          </a:xfrm>
          <a:prstGeom prst="rect">
            <a:avLst/>
          </a:prstGeom>
          <a:noFill/>
          <a:ln>
            <a:noFill/>
          </a:ln>
        </p:spPr>
        <p:txBody>
          <a:bodyPr spcFirstLastPara="1" wrap="square" lIns="91425" tIns="91425" rIns="91425" bIns="91425" anchor="t" anchorCtr="0">
            <a:normAutofit/>
          </a:bodyPr>
          <a:lstStyle/>
          <a:p>
            <a:pPr marL="457200" lvl="0" indent="-317500" algn="just" rtl="0">
              <a:spcBef>
                <a:spcPts val="0"/>
              </a:spcBef>
              <a:spcAft>
                <a:spcPts val="0"/>
              </a:spcAft>
              <a:buSzPts val="1400"/>
              <a:buChar char="●"/>
            </a:pPr>
            <a:r>
              <a:rPr lang="en"/>
              <a:t>format speciﬁers %</a:t>
            </a:r>
            <a:endParaRPr/>
          </a:p>
          <a:p>
            <a:pPr marL="457200" lvl="0" indent="-317500" algn="just" rtl="0">
              <a:spcBef>
                <a:spcPts val="0"/>
              </a:spcBef>
              <a:spcAft>
                <a:spcPts val="0"/>
              </a:spcAft>
              <a:buSzPts val="1400"/>
              <a:buChar char="●"/>
            </a:pPr>
            <a:r>
              <a:rPr lang="en"/>
              <a:t>conversion character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0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0" y="330350"/>
            <a:ext cx="9144000" cy="5727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2000" b="1"/>
              <a:t>Format output</a:t>
            </a:r>
            <a:endParaRPr sz="2000"/>
          </a:p>
        </p:txBody>
      </p:sp>
      <p:pic>
        <p:nvPicPr>
          <p:cNvPr id="70" name="Google Shape;70;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71" name="Google Shape;71;p15"/>
          <p:cNvSpPr txBox="1"/>
          <p:nvPr/>
        </p:nvSpPr>
        <p:spPr>
          <a:xfrm>
            <a:off x="693325" y="761225"/>
            <a:ext cx="7846500" cy="2770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rgbClr val="38761D"/>
                </a:solidFill>
              </a:rPr>
              <a:t> %[argument_index$][flags][width][.precision]conversion</a:t>
            </a:r>
            <a:endParaRPr b="1">
              <a:solidFill>
                <a:srgbClr val="38761D"/>
              </a:solidFill>
            </a:endParaRPr>
          </a:p>
          <a:p>
            <a:pPr marL="0" lvl="0" indent="0" algn="ctr" rtl="0">
              <a:spcBef>
                <a:spcPts val="0"/>
              </a:spcBef>
              <a:spcAft>
                <a:spcPts val="0"/>
              </a:spcAft>
              <a:buNone/>
            </a:pPr>
            <a:endParaRPr b="1">
              <a:solidFill>
                <a:srgbClr val="38761D"/>
              </a:solidFill>
            </a:endParaRPr>
          </a:p>
          <a:p>
            <a:pPr marL="457200" lvl="0" indent="-317500" algn="just" rtl="0">
              <a:spcBef>
                <a:spcPts val="0"/>
              </a:spcBef>
              <a:spcAft>
                <a:spcPts val="0"/>
              </a:spcAft>
              <a:buSzPts val="1400"/>
              <a:buChar char="●"/>
            </a:pPr>
            <a:r>
              <a:rPr lang="en"/>
              <a:t>The optional </a:t>
            </a:r>
            <a:r>
              <a:rPr lang="en" b="1" i="1"/>
              <a:t>argument_index</a:t>
            </a:r>
            <a:r>
              <a:rPr lang="en"/>
              <a:t> is a decimal integer indicating the position of the argument in the argument list. The first argument is referenced by "1$", the second by "2$", etc.</a:t>
            </a:r>
            <a:endParaRPr/>
          </a:p>
          <a:p>
            <a:pPr marL="457200" lvl="0" indent="-317500" algn="just" rtl="0">
              <a:spcBef>
                <a:spcPts val="0"/>
              </a:spcBef>
              <a:spcAft>
                <a:spcPts val="0"/>
              </a:spcAft>
              <a:buSzPts val="1400"/>
              <a:buChar char="●"/>
            </a:pPr>
            <a:r>
              <a:rPr lang="en"/>
              <a:t>The optional </a:t>
            </a:r>
            <a:r>
              <a:rPr lang="en" i="1"/>
              <a:t>flags</a:t>
            </a:r>
            <a:r>
              <a:rPr lang="en"/>
              <a:t> is a set of characters that modify the output format. The set of valid flags depends on the conversion.</a:t>
            </a:r>
            <a:endParaRPr/>
          </a:p>
          <a:p>
            <a:pPr marL="457200" lvl="0" indent="-317500" algn="just" rtl="0">
              <a:spcBef>
                <a:spcPts val="0"/>
              </a:spcBef>
              <a:spcAft>
                <a:spcPts val="0"/>
              </a:spcAft>
              <a:buSzPts val="1400"/>
              <a:buChar char="●"/>
            </a:pPr>
            <a:r>
              <a:rPr lang="en"/>
              <a:t>The optional </a:t>
            </a:r>
            <a:r>
              <a:rPr lang="en" b="1" i="1"/>
              <a:t>width</a:t>
            </a:r>
            <a:r>
              <a:rPr lang="en"/>
              <a:t> is a positive decimal integer indicating the minimum number of characters to be written to the output.</a:t>
            </a:r>
            <a:endParaRPr/>
          </a:p>
          <a:p>
            <a:pPr marL="457200" lvl="0" indent="-317500" algn="just" rtl="0">
              <a:spcBef>
                <a:spcPts val="0"/>
              </a:spcBef>
              <a:spcAft>
                <a:spcPts val="0"/>
              </a:spcAft>
              <a:buSzPts val="1400"/>
              <a:buChar char="●"/>
            </a:pPr>
            <a:r>
              <a:rPr lang="en"/>
              <a:t>The optional </a:t>
            </a:r>
            <a:r>
              <a:rPr lang="en" b="1" i="1"/>
              <a:t>precision</a:t>
            </a:r>
            <a:r>
              <a:rPr lang="en"/>
              <a:t> is a non-negative decimal integer usually used to restrict the number of characters. The specific behavior depends on the conversion.</a:t>
            </a:r>
            <a:endParaRPr/>
          </a:p>
          <a:p>
            <a:pPr marL="457200" lvl="0" indent="-317500" algn="just" rtl="0">
              <a:spcBef>
                <a:spcPts val="0"/>
              </a:spcBef>
              <a:spcAft>
                <a:spcPts val="0"/>
              </a:spcAft>
              <a:buSzPts val="1400"/>
              <a:buChar char="●"/>
            </a:pPr>
            <a:r>
              <a:rPr lang="en"/>
              <a:t>The required </a:t>
            </a:r>
            <a:r>
              <a:rPr lang="en" b="1" i="1"/>
              <a:t>conversion</a:t>
            </a:r>
            <a:r>
              <a:rPr lang="en"/>
              <a:t> is a character indicating how the argument should be formatted. The set of valid conversions for a given argument depends on the argument's data type.</a:t>
            </a:r>
            <a:endParaRPr/>
          </a:p>
        </p:txBody>
      </p:sp>
      <p:pic>
        <p:nvPicPr>
          <p:cNvPr id="72" name="Google Shape;72;p15"/>
          <p:cNvPicPr preferRelativeResize="0"/>
          <p:nvPr/>
        </p:nvPicPr>
        <p:blipFill rotWithShape="1">
          <a:blip r:embed="rId4">
            <a:alphaModFix/>
          </a:blip>
          <a:srcRect l="7695" t="23879" r="13290" b="48292"/>
          <a:stretch/>
        </p:blipFill>
        <p:spPr>
          <a:xfrm>
            <a:off x="-36350" y="3395151"/>
            <a:ext cx="9180350" cy="16431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19050" y="342775"/>
            <a:ext cx="9144000" cy="5727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2000" b="1"/>
              <a:t>Formatting output</a:t>
            </a:r>
            <a:endParaRPr sz="2000"/>
          </a:p>
        </p:txBody>
      </p:sp>
      <p:pic>
        <p:nvPicPr>
          <p:cNvPr id="78" name="Google Shape;78;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grpSp>
        <p:nvGrpSpPr>
          <p:cNvPr id="79" name="Google Shape;79;p16"/>
          <p:cNvGrpSpPr/>
          <p:nvPr/>
        </p:nvGrpSpPr>
        <p:grpSpPr>
          <a:xfrm>
            <a:off x="2242271" y="986925"/>
            <a:ext cx="4659463" cy="2263025"/>
            <a:chOff x="2242271" y="1596525"/>
            <a:chExt cx="4659463" cy="2263025"/>
          </a:xfrm>
        </p:grpSpPr>
        <p:grpSp>
          <p:nvGrpSpPr>
            <p:cNvPr id="80" name="Google Shape;80;p16"/>
            <p:cNvGrpSpPr/>
            <p:nvPr/>
          </p:nvGrpSpPr>
          <p:grpSpPr>
            <a:xfrm>
              <a:off x="2242271" y="1596525"/>
              <a:ext cx="4659463" cy="400200"/>
              <a:chOff x="678000" y="1022250"/>
              <a:chExt cx="7849500" cy="400200"/>
            </a:xfrm>
          </p:grpSpPr>
          <p:sp>
            <p:nvSpPr>
              <p:cNvPr id="81" name="Google Shape;81;p16"/>
              <p:cNvSpPr txBox="1"/>
              <p:nvPr/>
            </p:nvSpPr>
            <p:spPr>
              <a:xfrm>
                <a:off x="678000" y="1022250"/>
                <a:ext cx="7849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Format specifiers</a:t>
                </a:r>
                <a:endParaRPr/>
              </a:p>
            </p:txBody>
          </p:sp>
          <p:pic>
            <p:nvPicPr>
              <p:cNvPr id="82" name="Google Shape;82;p16">
                <a:hlinkClick r:id="rId4"/>
              </p:cNvPr>
              <p:cNvPicPr preferRelativeResize="0"/>
              <p:nvPr/>
            </p:nvPicPr>
            <p:blipFill>
              <a:blip r:embed="rId5">
                <a:alphaModFix/>
              </a:blip>
              <a:stretch>
                <a:fillRect/>
              </a:stretch>
            </p:blipFill>
            <p:spPr>
              <a:xfrm>
                <a:off x="6529190" y="1028117"/>
                <a:ext cx="660991" cy="365000"/>
              </a:xfrm>
              <a:prstGeom prst="rect">
                <a:avLst/>
              </a:prstGeom>
              <a:noFill/>
              <a:ln>
                <a:noFill/>
              </a:ln>
            </p:spPr>
          </p:pic>
        </p:grpSp>
        <p:grpSp>
          <p:nvGrpSpPr>
            <p:cNvPr id="83" name="Google Shape;83;p16"/>
            <p:cNvGrpSpPr/>
            <p:nvPr/>
          </p:nvGrpSpPr>
          <p:grpSpPr>
            <a:xfrm>
              <a:off x="2242271" y="2494150"/>
              <a:ext cx="4659463" cy="400200"/>
              <a:chOff x="678000" y="1022250"/>
              <a:chExt cx="7849500" cy="400200"/>
            </a:xfrm>
          </p:grpSpPr>
          <p:sp>
            <p:nvSpPr>
              <p:cNvPr id="84" name="Google Shape;84;p16"/>
              <p:cNvSpPr txBox="1"/>
              <p:nvPr/>
            </p:nvSpPr>
            <p:spPr>
              <a:xfrm>
                <a:off x="678000" y="1022250"/>
                <a:ext cx="7849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Time Formatting characters</a:t>
                </a:r>
                <a:endParaRPr/>
              </a:p>
            </p:txBody>
          </p:sp>
          <p:pic>
            <p:nvPicPr>
              <p:cNvPr id="85" name="Google Shape;85;p16">
                <a:hlinkClick r:id="rId4"/>
              </p:cNvPr>
              <p:cNvPicPr preferRelativeResize="0"/>
              <p:nvPr/>
            </p:nvPicPr>
            <p:blipFill>
              <a:blip r:embed="rId5">
                <a:alphaModFix/>
              </a:blip>
              <a:stretch>
                <a:fillRect/>
              </a:stretch>
            </p:blipFill>
            <p:spPr>
              <a:xfrm>
                <a:off x="6549350" y="1033984"/>
                <a:ext cx="660991" cy="365000"/>
              </a:xfrm>
              <a:prstGeom prst="rect">
                <a:avLst/>
              </a:prstGeom>
              <a:noFill/>
              <a:ln>
                <a:noFill/>
              </a:ln>
            </p:spPr>
          </p:pic>
        </p:grpSp>
        <p:grpSp>
          <p:nvGrpSpPr>
            <p:cNvPr id="86" name="Google Shape;86;p16"/>
            <p:cNvGrpSpPr/>
            <p:nvPr/>
          </p:nvGrpSpPr>
          <p:grpSpPr>
            <a:xfrm>
              <a:off x="2242271" y="2976750"/>
              <a:ext cx="4659463" cy="400200"/>
              <a:chOff x="678000" y="1022250"/>
              <a:chExt cx="7849500" cy="400200"/>
            </a:xfrm>
          </p:grpSpPr>
          <p:sp>
            <p:nvSpPr>
              <p:cNvPr id="87" name="Google Shape;87;p16"/>
              <p:cNvSpPr txBox="1"/>
              <p:nvPr/>
            </p:nvSpPr>
            <p:spPr>
              <a:xfrm>
                <a:off x="678000" y="1022250"/>
                <a:ext cx="7849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Date Formatting characters</a:t>
                </a:r>
                <a:endParaRPr/>
              </a:p>
            </p:txBody>
          </p:sp>
          <p:pic>
            <p:nvPicPr>
              <p:cNvPr id="88" name="Google Shape;88;p16">
                <a:hlinkClick r:id="rId4"/>
              </p:cNvPr>
              <p:cNvPicPr preferRelativeResize="0"/>
              <p:nvPr/>
            </p:nvPicPr>
            <p:blipFill>
              <a:blip r:embed="rId5">
                <a:alphaModFix/>
              </a:blip>
              <a:stretch>
                <a:fillRect/>
              </a:stretch>
            </p:blipFill>
            <p:spPr>
              <a:xfrm>
                <a:off x="6544931" y="1039850"/>
                <a:ext cx="660991" cy="365000"/>
              </a:xfrm>
              <a:prstGeom prst="rect">
                <a:avLst/>
              </a:prstGeom>
              <a:noFill/>
              <a:ln>
                <a:noFill/>
              </a:ln>
            </p:spPr>
          </p:pic>
        </p:grpSp>
        <p:grpSp>
          <p:nvGrpSpPr>
            <p:cNvPr id="89" name="Google Shape;89;p16"/>
            <p:cNvGrpSpPr/>
            <p:nvPr/>
          </p:nvGrpSpPr>
          <p:grpSpPr>
            <a:xfrm>
              <a:off x="2242271" y="3459350"/>
              <a:ext cx="4659463" cy="400200"/>
              <a:chOff x="678000" y="1022250"/>
              <a:chExt cx="7849500" cy="400200"/>
            </a:xfrm>
          </p:grpSpPr>
          <p:sp>
            <p:nvSpPr>
              <p:cNvPr id="90" name="Google Shape;90;p16"/>
              <p:cNvSpPr txBox="1"/>
              <p:nvPr/>
            </p:nvSpPr>
            <p:spPr>
              <a:xfrm>
                <a:off x="678000" y="1022250"/>
                <a:ext cx="7849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rPr>
                  <a:t>Date/Time Formatting characters</a:t>
                </a:r>
                <a:endParaRPr/>
              </a:p>
            </p:txBody>
          </p:sp>
          <p:pic>
            <p:nvPicPr>
              <p:cNvPr id="91" name="Google Shape;91;p16">
                <a:hlinkClick r:id="rId4"/>
              </p:cNvPr>
              <p:cNvPicPr preferRelativeResize="0"/>
              <p:nvPr/>
            </p:nvPicPr>
            <p:blipFill>
              <a:blip r:embed="rId5">
                <a:alphaModFix/>
              </a:blip>
              <a:stretch>
                <a:fillRect/>
              </a:stretch>
            </p:blipFill>
            <p:spPr>
              <a:xfrm>
                <a:off x="6565091" y="1022250"/>
                <a:ext cx="660991" cy="365000"/>
              </a:xfrm>
              <a:prstGeom prst="rect">
                <a:avLst/>
              </a:prstGeom>
              <a:noFill/>
              <a:ln>
                <a:noFill/>
              </a:ln>
            </p:spPr>
          </p:pic>
        </p:grpSp>
        <p:grpSp>
          <p:nvGrpSpPr>
            <p:cNvPr id="92" name="Google Shape;92;p16"/>
            <p:cNvGrpSpPr/>
            <p:nvPr/>
          </p:nvGrpSpPr>
          <p:grpSpPr>
            <a:xfrm>
              <a:off x="2242271" y="2036950"/>
              <a:ext cx="4659463" cy="400200"/>
              <a:chOff x="678000" y="1022250"/>
              <a:chExt cx="7849500" cy="400200"/>
            </a:xfrm>
          </p:grpSpPr>
          <p:sp>
            <p:nvSpPr>
              <p:cNvPr id="93" name="Google Shape;93;p16"/>
              <p:cNvSpPr txBox="1"/>
              <p:nvPr/>
            </p:nvSpPr>
            <p:spPr>
              <a:xfrm>
                <a:off x="678000" y="1022250"/>
                <a:ext cx="7849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Flags for printf</a:t>
                </a:r>
                <a:endParaRPr/>
              </a:p>
            </p:txBody>
          </p:sp>
          <p:pic>
            <p:nvPicPr>
              <p:cNvPr id="94" name="Google Shape;94;p16">
                <a:hlinkClick r:id="rId4"/>
              </p:cNvPr>
              <p:cNvPicPr preferRelativeResize="0"/>
              <p:nvPr/>
            </p:nvPicPr>
            <p:blipFill>
              <a:blip r:embed="rId5">
                <a:alphaModFix/>
              </a:blip>
              <a:stretch>
                <a:fillRect/>
              </a:stretch>
            </p:blipFill>
            <p:spPr>
              <a:xfrm>
                <a:off x="6549350" y="1033984"/>
                <a:ext cx="660991" cy="365000"/>
              </a:xfrm>
              <a:prstGeom prst="rect">
                <a:avLst/>
              </a:prstGeom>
              <a:noFill/>
              <a:ln>
                <a:noFill/>
              </a:ln>
            </p:spPr>
          </p:pic>
        </p:grpSp>
      </p:grpSp>
      <p:sp>
        <p:nvSpPr>
          <p:cNvPr id="95" name="Google Shape;95;p16"/>
          <p:cNvSpPr txBox="1"/>
          <p:nvPr/>
        </p:nvSpPr>
        <p:spPr>
          <a:xfrm>
            <a:off x="6809550" y="4686150"/>
            <a:ext cx="17745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200" u="sng">
                <a:solidFill>
                  <a:schemeClr val="accent5"/>
                </a:solidFill>
                <a:hlinkClick r:id="rId6">
                  <a:extLst>
                    <a:ext uri="{A12FA001-AC4F-418D-AE19-62706E023703}">
                      <ahyp:hlinkClr xmlns:ahyp="http://schemas.microsoft.com/office/drawing/2018/hyperlinkcolor" val="tx"/>
                    </a:ext>
                  </a:extLst>
                </a:hlinkClick>
              </a:rPr>
              <a:t>Oracle documentation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9"/>
        <p:cNvGrpSpPr/>
        <p:nvPr/>
      </p:nvGrpSpPr>
      <p:grpSpPr>
        <a:xfrm>
          <a:off x="0" y="0"/>
          <a:ext cx="0" cy="0"/>
          <a:chOff x="0" y="0"/>
          <a:chExt cx="0" cy="0"/>
        </a:xfrm>
      </p:grpSpPr>
      <p:sp>
        <p:nvSpPr>
          <p:cNvPr id="100" name="Google Shape;100;p17"/>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2000" b="1"/>
              <a:t>String Formatting</a:t>
            </a:r>
            <a:endParaRPr sz="2000"/>
          </a:p>
        </p:txBody>
      </p:sp>
      <p:pic>
        <p:nvPicPr>
          <p:cNvPr id="101" name="Google Shape;101;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02" name="Google Shape;102;p17"/>
          <p:cNvSpPr txBox="1"/>
          <p:nvPr/>
        </p:nvSpPr>
        <p:spPr>
          <a:xfrm>
            <a:off x="358850" y="1004775"/>
            <a:ext cx="8473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03" name="Google Shape;103;p17"/>
          <p:cNvSpPr txBox="1"/>
          <p:nvPr/>
        </p:nvSpPr>
        <p:spPr>
          <a:xfrm>
            <a:off x="622225" y="734750"/>
            <a:ext cx="7947000" cy="2644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0"/>
              </a:spcAft>
              <a:buNone/>
            </a:pPr>
            <a:r>
              <a:rPr lang="en" sz="1200">
                <a:solidFill>
                  <a:srgbClr val="1155CC"/>
                </a:solidFill>
                <a:latin typeface="Source Code Pro"/>
                <a:ea typeface="Source Code Pro"/>
                <a:cs typeface="Source Code Pro"/>
                <a:sym typeface="Source Code Pro"/>
              </a:rPr>
              <a:t>public static String format(Locale l, String format, Object... args)</a:t>
            </a:r>
            <a:endParaRPr sz="1200">
              <a:solidFill>
                <a:srgbClr val="1155CC"/>
              </a:solidFill>
              <a:latin typeface="Source Code Pro"/>
              <a:ea typeface="Source Code Pro"/>
              <a:cs typeface="Source Code Pro"/>
              <a:sym typeface="Source Code Pro"/>
            </a:endParaRPr>
          </a:p>
          <a:p>
            <a:pPr marL="457200" lvl="0" indent="-317500" algn="just" rtl="0">
              <a:lnSpc>
                <a:spcPct val="115000"/>
              </a:lnSpc>
              <a:spcBef>
                <a:spcPts val="1200"/>
              </a:spcBef>
              <a:spcAft>
                <a:spcPts val="0"/>
              </a:spcAft>
              <a:buClr>
                <a:schemeClr val="dk1"/>
              </a:buClr>
              <a:buSzPts val="1400"/>
              <a:buFont typeface="Source Code Pro"/>
              <a:buChar char="●"/>
            </a:pPr>
            <a:r>
              <a:rPr lang="en">
                <a:solidFill>
                  <a:schemeClr val="dk1"/>
                </a:solidFill>
                <a:latin typeface="Source Code Pro"/>
                <a:ea typeface="Source Code Pro"/>
                <a:cs typeface="Source Code Pro"/>
                <a:sym typeface="Source Code Pro"/>
              </a:rPr>
              <a:t>Since java 1.4</a:t>
            </a:r>
            <a:endParaRPr>
              <a:solidFill>
                <a:schemeClr val="dk1"/>
              </a:solidFill>
              <a:latin typeface="Source Code Pro"/>
              <a:ea typeface="Source Code Pro"/>
              <a:cs typeface="Source Code Pro"/>
              <a:sym typeface="Source Code Pro"/>
            </a:endParaRPr>
          </a:p>
          <a:p>
            <a:pPr marL="457200" lvl="0" indent="-317500" algn="just" rtl="0">
              <a:lnSpc>
                <a:spcPct val="115000"/>
              </a:lnSpc>
              <a:spcBef>
                <a:spcPts val="0"/>
              </a:spcBef>
              <a:spcAft>
                <a:spcPts val="0"/>
              </a:spcAft>
              <a:buClr>
                <a:schemeClr val="dk1"/>
              </a:buClr>
              <a:buSzPts val="1400"/>
              <a:buChar char="●"/>
            </a:pPr>
            <a:r>
              <a:rPr lang="en">
                <a:solidFill>
                  <a:schemeClr val="dk1"/>
                </a:solidFill>
                <a:latin typeface="Source Code Pro"/>
                <a:ea typeface="Source Code Pro"/>
                <a:cs typeface="Source Code Pro"/>
                <a:sym typeface="Source Code Pro"/>
              </a:rPr>
              <a:t>l</a:t>
            </a:r>
            <a:r>
              <a:rPr lang="en">
                <a:solidFill>
                  <a:schemeClr val="dk1"/>
                </a:solidFill>
              </a:rPr>
              <a:t> - The locale to apply during formatting. If </a:t>
            </a:r>
            <a:r>
              <a:rPr lang="en">
                <a:solidFill>
                  <a:schemeClr val="dk1"/>
                </a:solidFill>
                <a:latin typeface="Source Code Pro"/>
                <a:ea typeface="Source Code Pro"/>
                <a:cs typeface="Source Code Pro"/>
                <a:sym typeface="Source Code Pro"/>
              </a:rPr>
              <a:t>l</a:t>
            </a:r>
            <a:r>
              <a:rPr lang="en">
                <a:solidFill>
                  <a:schemeClr val="dk1"/>
                </a:solidFill>
              </a:rPr>
              <a:t> is null then no localization is applied. </a:t>
            </a:r>
            <a:endParaRPr>
              <a:solidFill>
                <a:schemeClr val="dk1"/>
              </a:solidFill>
            </a:endParaRPr>
          </a:p>
          <a:p>
            <a:pPr marL="457200" lvl="0" indent="-317500" algn="just" rtl="0">
              <a:lnSpc>
                <a:spcPct val="115000"/>
              </a:lnSpc>
              <a:spcBef>
                <a:spcPts val="0"/>
              </a:spcBef>
              <a:spcAft>
                <a:spcPts val="0"/>
              </a:spcAft>
              <a:buClr>
                <a:schemeClr val="dk1"/>
              </a:buClr>
              <a:buSzPts val="1400"/>
              <a:buChar char="●"/>
            </a:pPr>
            <a:r>
              <a:rPr lang="en">
                <a:solidFill>
                  <a:schemeClr val="dk1"/>
                </a:solidFill>
                <a:latin typeface="Source Code Pro"/>
                <a:ea typeface="Source Code Pro"/>
                <a:cs typeface="Source Code Pro"/>
                <a:sym typeface="Source Code Pro"/>
              </a:rPr>
              <a:t>format</a:t>
            </a:r>
            <a:r>
              <a:rPr lang="en">
                <a:solidFill>
                  <a:schemeClr val="dk1"/>
                </a:solidFill>
              </a:rPr>
              <a:t> - A format string.</a:t>
            </a:r>
            <a:endParaRPr>
              <a:solidFill>
                <a:schemeClr val="dk1"/>
              </a:solidFill>
            </a:endParaRPr>
          </a:p>
          <a:p>
            <a:pPr marL="457200" lvl="0" indent="-317500" algn="just" rtl="0">
              <a:lnSpc>
                <a:spcPct val="115000"/>
              </a:lnSpc>
              <a:spcBef>
                <a:spcPts val="0"/>
              </a:spcBef>
              <a:spcAft>
                <a:spcPts val="0"/>
              </a:spcAft>
              <a:buClr>
                <a:schemeClr val="dk1"/>
              </a:buClr>
              <a:buSzPts val="1400"/>
              <a:buChar char="●"/>
            </a:pPr>
            <a:r>
              <a:rPr lang="en">
                <a:solidFill>
                  <a:schemeClr val="dk1"/>
                </a:solidFill>
                <a:latin typeface="Source Code Pro"/>
                <a:ea typeface="Source Code Pro"/>
                <a:cs typeface="Source Code Pro"/>
                <a:sym typeface="Source Code Pro"/>
              </a:rPr>
              <a:t>args</a:t>
            </a:r>
            <a:r>
              <a:rPr lang="en">
                <a:solidFill>
                  <a:schemeClr val="dk1"/>
                </a:solidFill>
              </a:rPr>
              <a:t> - Arguments referenced by the format specifiers in the format string.</a:t>
            </a:r>
            <a:endParaRPr>
              <a:solidFill>
                <a:schemeClr val="dk1"/>
              </a:solidFill>
            </a:endParaRPr>
          </a:p>
          <a:p>
            <a:pPr marL="0" lvl="0" indent="0" algn="ctr" rtl="0">
              <a:lnSpc>
                <a:spcPct val="115000"/>
              </a:lnSpc>
              <a:spcBef>
                <a:spcPts val="1200"/>
              </a:spcBef>
              <a:spcAft>
                <a:spcPts val="0"/>
              </a:spcAft>
              <a:buNone/>
            </a:pPr>
            <a:endParaRPr sz="1200">
              <a:solidFill>
                <a:srgbClr val="1155CC"/>
              </a:solidFill>
              <a:latin typeface="Source Code Pro"/>
              <a:ea typeface="Source Code Pro"/>
              <a:cs typeface="Source Code Pro"/>
              <a:sym typeface="Source Code Pro"/>
            </a:endParaRPr>
          </a:p>
          <a:p>
            <a:pPr marL="0" lvl="0" indent="0" algn="ctr" rtl="0">
              <a:lnSpc>
                <a:spcPct val="115000"/>
              </a:lnSpc>
              <a:spcBef>
                <a:spcPts val="1200"/>
              </a:spcBef>
              <a:spcAft>
                <a:spcPts val="0"/>
              </a:spcAft>
              <a:buNone/>
            </a:pPr>
            <a:r>
              <a:rPr lang="en" sz="1200">
                <a:solidFill>
                  <a:srgbClr val="1155CC"/>
                </a:solidFill>
                <a:latin typeface="Source Code Pro"/>
                <a:ea typeface="Source Code Pro"/>
                <a:cs typeface="Source Code Pro"/>
                <a:sym typeface="Source Code Pro"/>
              </a:rPr>
              <a:t>public String formatted(Object... args)</a:t>
            </a:r>
            <a:endParaRPr sz="1200">
              <a:solidFill>
                <a:srgbClr val="1155CC"/>
              </a:solidFill>
              <a:latin typeface="Source Code Pro"/>
              <a:ea typeface="Source Code Pro"/>
              <a:cs typeface="Source Code Pro"/>
              <a:sym typeface="Source Code Pro"/>
            </a:endParaRPr>
          </a:p>
          <a:p>
            <a:pPr marL="457200" lvl="0" indent="-317500" algn="l" rtl="0">
              <a:lnSpc>
                <a:spcPct val="115000"/>
              </a:lnSpc>
              <a:spcBef>
                <a:spcPts val="1200"/>
              </a:spcBef>
              <a:spcAft>
                <a:spcPts val="0"/>
              </a:spcAft>
              <a:buClr>
                <a:schemeClr val="dk1"/>
              </a:buClr>
              <a:buSzPts val="1400"/>
              <a:buFont typeface="Source Code Pro"/>
              <a:buChar char="●"/>
            </a:pPr>
            <a:r>
              <a:rPr lang="en">
                <a:solidFill>
                  <a:schemeClr val="dk1"/>
                </a:solidFill>
                <a:latin typeface="Source Code Pro"/>
                <a:ea typeface="Source Code Pro"/>
                <a:cs typeface="Source Code Pro"/>
                <a:sym typeface="Source Code Pro"/>
              </a:rPr>
              <a:t>Since java 15</a:t>
            </a:r>
            <a:endParaRPr>
              <a:solidFill>
                <a:schemeClr val="dk1"/>
              </a:solidFill>
              <a:latin typeface="Source Code Pro"/>
              <a:ea typeface="Source Code Pro"/>
              <a:cs typeface="Source Code Pro"/>
              <a:sym typeface="Source Code Pro"/>
            </a:endParaRPr>
          </a:p>
        </p:txBody>
      </p:sp>
      <p:sp>
        <p:nvSpPr>
          <p:cNvPr id="104" name="Google Shape;104;p17"/>
          <p:cNvSpPr txBox="1"/>
          <p:nvPr/>
        </p:nvSpPr>
        <p:spPr>
          <a:xfrm>
            <a:off x="6809550" y="4686150"/>
            <a:ext cx="17745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200" u="sng">
                <a:solidFill>
                  <a:schemeClr val="accent5"/>
                </a:solidFill>
                <a:hlinkClick r:id="rId4">
                  <a:extLst>
                    <a:ext uri="{A12FA001-AC4F-418D-AE19-62706E023703}">
                      <ahyp:hlinkClr xmlns:ahyp="http://schemas.microsoft.com/office/drawing/2018/hyperlinkcolor" val="tx"/>
                    </a:ext>
                  </a:extLst>
                </a:hlinkClick>
              </a:rPr>
              <a:t>Oracle documentation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a:off x="0" y="340925"/>
            <a:ext cx="9144000" cy="572700"/>
          </a:xfrm>
          <a:prstGeom prst="rect">
            <a:avLst/>
          </a:prstGeom>
        </p:spPr>
        <p:txBody>
          <a:bodyPr spcFirstLastPara="1" wrap="square" lIns="91425" tIns="91425" rIns="91425" bIns="91425" anchor="t" anchorCtr="0">
            <a:normAutofit/>
          </a:bodyPr>
          <a:lstStyle/>
          <a:p>
            <a:pPr marL="0" lvl="0" indent="0" algn="ctr" rtl="0">
              <a:lnSpc>
                <a:spcPct val="115000"/>
              </a:lnSpc>
              <a:spcBef>
                <a:spcPts val="1200"/>
              </a:spcBef>
              <a:spcAft>
                <a:spcPts val="1200"/>
              </a:spcAft>
              <a:buNone/>
            </a:pPr>
            <a:r>
              <a:rPr lang="en" sz="2000" b="1"/>
              <a:t>MessageFormat</a:t>
            </a:r>
            <a:endParaRPr sz="2000"/>
          </a:p>
        </p:txBody>
      </p:sp>
      <p:pic>
        <p:nvPicPr>
          <p:cNvPr id="110" name="Google Shape;110;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11" name="Google Shape;111;p18"/>
          <p:cNvSpPr txBox="1"/>
          <p:nvPr/>
        </p:nvSpPr>
        <p:spPr>
          <a:xfrm>
            <a:off x="627150" y="843375"/>
            <a:ext cx="7956900" cy="1074600"/>
          </a:xfrm>
          <a:prstGeom prst="rect">
            <a:avLst/>
          </a:prstGeom>
          <a:noFill/>
          <a:ln>
            <a:noFill/>
          </a:ln>
        </p:spPr>
        <p:txBody>
          <a:bodyPr spcFirstLastPara="1" wrap="square" lIns="91425" tIns="91425" rIns="91425" bIns="91425" anchor="t" anchorCtr="0">
            <a:noAutofit/>
          </a:bodyPr>
          <a:lstStyle/>
          <a:p>
            <a:pPr marL="0" lvl="0" indent="457200" algn="just" rtl="0">
              <a:lnSpc>
                <a:spcPct val="100000"/>
              </a:lnSpc>
              <a:spcBef>
                <a:spcPts val="0"/>
              </a:spcBef>
              <a:spcAft>
                <a:spcPts val="0"/>
              </a:spcAft>
              <a:buNone/>
            </a:pPr>
            <a:r>
              <a:rPr lang="en"/>
              <a:t>MessageFormat provides a means to produce concatenated messages in a language-neutral way. Use this to construct messages displayed for end users. MessageFormat takes a set of objects, formats them, then inserts the formatted strings into the pattern at the appropriate places.</a:t>
            </a:r>
            <a:endParaRPr/>
          </a:p>
          <a:p>
            <a:pPr marL="0" lvl="0" indent="0" algn="just" rtl="0">
              <a:lnSpc>
                <a:spcPct val="100000"/>
              </a:lnSpc>
              <a:spcBef>
                <a:spcPts val="0"/>
              </a:spcBef>
              <a:spcAft>
                <a:spcPts val="0"/>
              </a:spcAft>
              <a:buNone/>
            </a:pPr>
            <a:endParaRPr/>
          </a:p>
        </p:txBody>
      </p:sp>
      <p:sp>
        <p:nvSpPr>
          <p:cNvPr id="112" name="Google Shape;112;p18"/>
          <p:cNvSpPr txBox="1"/>
          <p:nvPr/>
        </p:nvSpPr>
        <p:spPr>
          <a:xfrm>
            <a:off x="7038150" y="4733600"/>
            <a:ext cx="17745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u="sng">
                <a:solidFill>
                  <a:schemeClr val="hlink"/>
                </a:solidFill>
                <a:hlinkClick r:id="rId4"/>
              </a:rPr>
              <a:t>Useful Article</a:t>
            </a:r>
            <a:endParaRPr/>
          </a:p>
        </p:txBody>
      </p:sp>
      <p:sp>
        <p:nvSpPr>
          <p:cNvPr id="113" name="Google Shape;113;p18"/>
          <p:cNvSpPr txBox="1"/>
          <p:nvPr/>
        </p:nvSpPr>
        <p:spPr>
          <a:xfrm>
            <a:off x="6961950" y="4428800"/>
            <a:ext cx="17745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200" u="sng">
                <a:solidFill>
                  <a:schemeClr val="hlink"/>
                </a:solidFill>
                <a:hlinkClick r:id="rId5"/>
              </a:rPr>
              <a:t>Oracle documentation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17"/>
        <p:cNvGrpSpPr/>
        <p:nvPr/>
      </p:nvGrpSpPr>
      <p:grpSpPr>
        <a:xfrm>
          <a:off x="0" y="0"/>
          <a:ext cx="0" cy="0"/>
          <a:chOff x="0" y="0"/>
          <a:chExt cx="0" cy="0"/>
        </a:xfrm>
      </p:grpSpPr>
      <p:sp>
        <p:nvSpPr>
          <p:cNvPr id="118" name="Google Shape;118;p19"/>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0"/>
              </a:spcAft>
              <a:buNone/>
            </a:pPr>
            <a:r>
              <a:rPr lang="en" sz="2200" b="1"/>
              <a:t>NumberFormat</a:t>
            </a:r>
            <a:endParaRPr sz="2200" b="1"/>
          </a:p>
          <a:p>
            <a:pPr marL="457200" lvl="0" indent="0" algn="l" rtl="0">
              <a:lnSpc>
                <a:spcPct val="115000"/>
              </a:lnSpc>
              <a:spcBef>
                <a:spcPts val="1200"/>
              </a:spcBef>
              <a:spcAft>
                <a:spcPts val="1200"/>
              </a:spcAft>
              <a:buNone/>
            </a:pPr>
            <a:endParaRPr sz="2000"/>
          </a:p>
        </p:txBody>
      </p:sp>
      <p:pic>
        <p:nvPicPr>
          <p:cNvPr id="119" name="Google Shape;119;p19"/>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20" name="Google Shape;120;p19"/>
          <p:cNvSpPr txBox="1"/>
          <p:nvPr/>
        </p:nvSpPr>
        <p:spPr>
          <a:xfrm>
            <a:off x="693325" y="837425"/>
            <a:ext cx="7956900" cy="4087800"/>
          </a:xfrm>
          <a:prstGeom prst="rect">
            <a:avLst/>
          </a:prstGeom>
          <a:noFill/>
          <a:ln>
            <a:noFill/>
          </a:ln>
        </p:spPr>
        <p:txBody>
          <a:bodyPr spcFirstLastPara="1" wrap="square" lIns="91425" tIns="91425" rIns="91425" bIns="91425" anchor="t" anchorCtr="0">
            <a:normAutofit/>
          </a:bodyPr>
          <a:lstStyle/>
          <a:p>
            <a:pPr marL="0" lvl="0" indent="457200" algn="just" rtl="0">
              <a:spcBef>
                <a:spcPts val="0"/>
              </a:spcBef>
              <a:spcAft>
                <a:spcPts val="0"/>
              </a:spcAft>
              <a:buNone/>
            </a:pPr>
            <a:r>
              <a:rPr lang="en"/>
              <a:t>NumberFormat is the abstract base class for all number formats. This class provides the interface for formatting and parsing numbers. NumberFormat also provides methods for determining which locales have number formats, and what their names are. (Since java 1.1)</a:t>
            </a:r>
            <a:endParaRPr/>
          </a:p>
          <a:p>
            <a:pPr marL="0" lvl="0" indent="457200" algn="just" rtl="0">
              <a:spcBef>
                <a:spcPts val="0"/>
              </a:spcBef>
              <a:spcAft>
                <a:spcPts val="0"/>
              </a:spcAft>
              <a:buNone/>
            </a:pPr>
            <a:endParaRPr/>
          </a:p>
          <a:p>
            <a:pPr marL="914400" lvl="0" indent="-317500" algn="just" rtl="0">
              <a:spcBef>
                <a:spcPts val="0"/>
              </a:spcBef>
              <a:spcAft>
                <a:spcPts val="0"/>
              </a:spcAft>
              <a:buSzPts val="1400"/>
              <a:buChar char="●"/>
            </a:pPr>
            <a:r>
              <a:rPr lang="en"/>
              <a:t>formatting numbers</a:t>
            </a:r>
            <a:endParaRPr/>
          </a:p>
          <a:p>
            <a:pPr marL="914400" lvl="0" indent="-317500" algn="just" rtl="0">
              <a:spcBef>
                <a:spcPts val="0"/>
              </a:spcBef>
              <a:spcAft>
                <a:spcPts val="0"/>
              </a:spcAft>
              <a:buSzPts val="1400"/>
              <a:buChar char="●"/>
            </a:pPr>
            <a:r>
              <a:rPr lang="en"/>
              <a:t>grouping digits</a:t>
            </a:r>
            <a:endParaRPr/>
          </a:p>
          <a:p>
            <a:pPr marL="914400" lvl="0" indent="-317500" algn="just" rtl="0">
              <a:spcBef>
                <a:spcPts val="0"/>
              </a:spcBef>
              <a:spcAft>
                <a:spcPts val="0"/>
              </a:spcAft>
              <a:buSzPts val="1400"/>
              <a:buChar char="●"/>
            </a:pPr>
            <a:r>
              <a:rPr lang="en"/>
              <a:t>fractiondigits</a:t>
            </a:r>
            <a:endParaRPr/>
          </a:p>
          <a:p>
            <a:pPr marL="914400" lvl="0" indent="-317500" algn="just" rtl="0">
              <a:spcBef>
                <a:spcPts val="0"/>
              </a:spcBef>
              <a:spcAft>
                <a:spcPts val="0"/>
              </a:spcAft>
              <a:buSzPts val="1400"/>
              <a:buChar char="●"/>
            </a:pPr>
            <a:r>
              <a:rPr lang="en"/>
              <a:t>rounding numbers</a:t>
            </a:r>
            <a:endParaRPr/>
          </a:p>
          <a:p>
            <a:pPr marL="914400" lvl="0" indent="-317500" algn="just" rtl="0">
              <a:spcBef>
                <a:spcPts val="0"/>
              </a:spcBef>
              <a:spcAft>
                <a:spcPts val="0"/>
              </a:spcAft>
              <a:buSzPts val="1400"/>
              <a:buChar char="●"/>
            </a:pPr>
            <a:r>
              <a:rPr lang="en"/>
              <a:t>formatting percentages</a:t>
            </a:r>
            <a:endParaRPr/>
          </a:p>
          <a:p>
            <a:pPr marL="914400" lvl="0" indent="-317500" algn="just" rtl="0">
              <a:spcBef>
                <a:spcPts val="0"/>
              </a:spcBef>
              <a:spcAft>
                <a:spcPts val="0"/>
              </a:spcAft>
              <a:buSzPts val="1400"/>
              <a:buChar char="●"/>
            </a:pPr>
            <a:r>
              <a:rPr lang="en"/>
              <a:t>formatting currencies</a:t>
            </a:r>
            <a:endParaRPr/>
          </a:p>
          <a:p>
            <a:pPr marL="914400" lvl="0" indent="-317500" algn="just" rtl="0">
              <a:spcBef>
                <a:spcPts val="0"/>
              </a:spcBef>
              <a:spcAft>
                <a:spcPts val="0"/>
              </a:spcAft>
              <a:buSzPts val="1400"/>
              <a:buChar char="●"/>
            </a:pPr>
            <a:r>
              <a:rPr lang="en"/>
              <a:t>parsing numbers</a:t>
            </a:r>
            <a:endParaRPr/>
          </a:p>
        </p:txBody>
      </p:sp>
      <p:sp>
        <p:nvSpPr>
          <p:cNvPr id="121" name="Google Shape;121;p19"/>
          <p:cNvSpPr txBox="1"/>
          <p:nvPr/>
        </p:nvSpPr>
        <p:spPr>
          <a:xfrm>
            <a:off x="6809550" y="4686150"/>
            <a:ext cx="17745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200" u="sng">
                <a:solidFill>
                  <a:schemeClr val="hlink"/>
                </a:solidFill>
                <a:hlinkClick r:id="rId4"/>
              </a:rPr>
              <a:t>Oracle documentation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25"/>
        <p:cNvGrpSpPr/>
        <p:nvPr/>
      </p:nvGrpSpPr>
      <p:grpSpPr>
        <a:xfrm>
          <a:off x="0" y="0"/>
          <a:ext cx="0" cy="0"/>
          <a:chOff x="0" y="0"/>
          <a:chExt cx="0" cy="0"/>
        </a:xfrm>
      </p:grpSpPr>
      <p:sp>
        <p:nvSpPr>
          <p:cNvPr id="126" name="Google Shape;126;p20"/>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200" b="1" u="sng" dirty="0">
                <a:solidFill>
                  <a:schemeClr val="hlink"/>
                </a:solidFill>
              </a:rPr>
              <a:t>Interview Questions</a:t>
            </a:r>
            <a:endParaRPr sz="2000" dirty="0"/>
          </a:p>
        </p:txBody>
      </p:sp>
      <p:pic>
        <p:nvPicPr>
          <p:cNvPr id="127" name="Google Shape;127;p20"/>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0" y="1929000"/>
            <a:ext cx="9144000" cy="12855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2200" b="1"/>
              <a:t>Success is to be measured not so much by the position that one has reached in life as by the obstacles which he has overcome while trying to succeed.</a:t>
            </a:r>
            <a:endParaRPr sz="2200"/>
          </a:p>
        </p:txBody>
      </p:sp>
      <p:pic>
        <p:nvPicPr>
          <p:cNvPr id="133" name="Google Shape;133;p21"/>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34" name="Google Shape;134;p21"/>
          <p:cNvSpPr txBox="1"/>
          <p:nvPr/>
        </p:nvSpPr>
        <p:spPr>
          <a:xfrm>
            <a:off x="358850" y="1004775"/>
            <a:ext cx="8473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470</Words>
  <Application>Microsoft Office PowerPoint</Application>
  <PresentationFormat>On-screen Show (16:9)</PresentationFormat>
  <Paragraphs>48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Source Code Pro</vt:lpstr>
      <vt:lpstr>Source Code Pro SemiBold</vt:lpstr>
      <vt:lpstr>Simple Light</vt:lpstr>
      <vt:lpstr>PowerPoint Presentation</vt:lpstr>
      <vt:lpstr>Format output</vt:lpstr>
      <vt:lpstr>Format output</vt:lpstr>
      <vt:lpstr>Formatting output</vt:lpstr>
      <vt:lpstr>String Formatting</vt:lpstr>
      <vt:lpstr>MessageFormat</vt:lpstr>
      <vt:lpstr>NumberFormat </vt:lpstr>
      <vt:lpstr>Interview Questions</vt:lpstr>
      <vt:lpstr>Success is to be measured not so much by the position that one has reached in life as by the obstacles which he has overcome while trying to succeed.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2023-02-23T14:13:27Z</dcterms:modified>
</cp:coreProperties>
</file>