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Book Antiqu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ookAntiqua-bold.fntdata"/><Relationship Id="rId14" Type="http://schemas.openxmlformats.org/officeDocument/2006/relationships/font" Target="fonts/BookAntiqua-regular.fntdata"/><Relationship Id="rId17" Type="http://schemas.openxmlformats.org/officeDocument/2006/relationships/font" Target="fonts/BookAntiqua-boldItalic.fntdata"/><Relationship Id="rId16" Type="http://schemas.openxmlformats.org/officeDocument/2006/relationships/font" Target="fonts/BookAntiqu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ffd328c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ffd328c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02184060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02184060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64909bf8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64909bf8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64909bf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64909bf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66a32b56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66a32b56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64909bf8d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64909bf8d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0218406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0218406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docs.oracle.com/en/java/javase/17/docs/api/java.base/java/lang/String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cs.oracle.com/en/java/javase/17/docs/api/java.base/java/lang/StringBuilder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docs.oracle.com/en/java/javase/17/text-block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40375" y="2115450"/>
            <a:ext cx="773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String</a:t>
            </a:r>
            <a:endParaRPr b="1" sz="2600">
              <a:solidFill>
                <a:schemeClr val="dk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3671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1767400" y="1008400"/>
            <a:ext cx="52437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String literal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Substring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String concatenation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Strings are immutable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Testing strings for equality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Code unit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String API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Building String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Text block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Project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753000" y="957925"/>
            <a:ext cx="7683600" cy="2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Java, a string is an object that represents a number of character values. Each letter in the string is a separate character value that makes up the Java string object.</a:t>
            </a:r>
            <a:endParaRPr/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String literal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Substring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String concatenation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Strings are immutable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Testing strings for equality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Empty or Null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Code unit and Code Points</a:t>
            </a:r>
            <a:endParaRPr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9450" y="309025"/>
            <a:ext cx="912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/>
              <a:t>String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35500" y="264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2000"/>
              <a:t>String API</a:t>
            </a:r>
            <a:endParaRPr sz="2000"/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676800" y="881725"/>
            <a:ext cx="768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String class in Java contains close to 100 methods.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025825" y="4140875"/>
            <a:ext cx="24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9050" y="340925"/>
            <a:ext cx="912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50"/>
              <a:t>Building String</a:t>
            </a:r>
            <a:endParaRPr sz="2000"/>
          </a:p>
        </p:txBody>
      </p:sp>
      <p:sp>
        <p:nvSpPr>
          <p:cNvPr id="83" name="Google Shape;83;p17"/>
          <p:cNvSpPr txBox="1"/>
          <p:nvPr/>
        </p:nvSpPr>
        <p:spPr>
          <a:xfrm>
            <a:off x="676800" y="881725"/>
            <a:ext cx="7683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</a:t>
            </a:r>
            <a:r>
              <a:rPr lang="en"/>
              <a:t>nefﬁcient using string for concatenation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Every time created new string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Consuming and wastes memory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avoids this with </a:t>
            </a:r>
            <a:r>
              <a:rPr lang="en"/>
              <a:t>StringBuilder class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6025825" y="4140875"/>
            <a:ext cx="24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19050" y="340925"/>
            <a:ext cx="912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50"/>
              <a:t>Text block</a:t>
            </a:r>
            <a:endParaRPr sz="2000"/>
          </a:p>
        </p:txBody>
      </p:sp>
      <p:sp>
        <p:nvSpPr>
          <p:cNvPr id="91" name="Google Shape;91;p18"/>
          <p:cNvSpPr txBox="1"/>
          <p:nvPr/>
        </p:nvSpPr>
        <p:spPr>
          <a:xfrm>
            <a:off x="676800" y="881725"/>
            <a:ext cx="768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Before text block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Text block from java 15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6025825" y="4140875"/>
            <a:ext cx="243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9600" y="2285400"/>
            <a:ext cx="912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50"/>
              <a:t>Happy Birthday</a:t>
            </a:r>
            <a:endParaRPr sz="2000"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26975" y="2133000"/>
            <a:ext cx="91170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/>
              <a:t>The only thing standing between you and outrageous success is continuous progress.</a:t>
            </a:r>
            <a:endParaRPr sz="2400"/>
          </a:p>
        </p:txBody>
      </p:sp>
      <p:pic>
        <p:nvPicPr>
          <p:cNvPr id="105" name="Google Shape;105;p20"/>
          <p:cNvPicPr preferRelativeResize="0"/>
          <p:nvPr/>
        </p:nvPicPr>
        <p:blipFill rotWithShape="1">
          <a:blip r:embed="rId3">
            <a:alphaModFix/>
          </a:blip>
          <a:srcRect b="31095" l="0" r="0" t="33150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